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67" r:id="rId3"/>
    <p:sldId id="260" r:id="rId4"/>
    <p:sldId id="261" r:id="rId5"/>
    <p:sldId id="262" r:id="rId6"/>
    <p:sldId id="263" r:id="rId7"/>
    <p:sldId id="268" r:id="rId8"/>
    <p:sldId id="269" r:id="rId9"/>
    <p:sldId id="264" r:id="rId10"/>
    <p:sldId id="270" r:id="rId11"/>
    <p:sldId id="265" r:id="rId12"/>
    <p:sldId id="271" r:id="rId13"/>
    <p:sldId id="272" r:id="rId14"/>
    <p:sldId id="273" r:id="rId15"/>
    <p:sldId id="274" r:id="rId16"/>
    <p:sldId id="275" r:id="rId17"/>
    <p:sldId id="276" r:id="rId18"/>
    <p:sldId id="277" r:id="rId19"/>
    <p:sldId id="278" r:id="rId20"/>
    <p:sldId id="266" r:id="rId21"/>
  </p:sldIdLst>
  <p:sldSz cx="9144000" cy="5143500" type="screen16x9"/>
  <p:notesSz cx="6858000" cy="9144000"/>
  <p:embeddedFontLst>
    <p:embeddedFont>
      <p:font typeface="Rubik" panose="020B0604020202020204" charset="-79"/>
      <p:regular r:id="rId23"/>
      <p:bold r:id="rId24"/>
      <p:italic r:id="rId25"/>
      <p:boldItalic r:id="rId26"/>
    </p:embeddedFont>
    <p:embeddedFont>
      <p:font typeface="Rubik Light" panose="020B0604020202020204" charset="-79"/>
      <p:regular r:id="rId27"/>
      <p:bold r:id="rId28"/>
      <p:italic r:id="rId29"/>
      <p:boldItalic r:id="rId30"/>
    </p:embeddedFont>
    <p:embeddedFont>
      <p:font typeface="Rubik Medium" panose="020B0604020202020204" charset="-79"/>
      <p:regular r:id="rId31"/>
      <p:bold r:id="rId32"/>
      <p:italic r:id="rId33"/>
      <p:boldItalic r:id="rId34"/>
    </p:embeddedFont>
    <p:embeddedFont>
      <p:font typeface="Rubik SemiBold" panose="020B0604020202020204" charset="-79"/>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9" roundtripDataSignature="AMtx7mi1nl8uAJepcjcA2CnLI/GAkZtj/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2" d="100"/>
          <a:sy n="112" d="100"/>
        </p:scale>
        <p:origin x="538" y="8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customschemas.google.com/relationships/presentationmetadata" Target="metadata"/><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6bdf37047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g26bdf37047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65ee868302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g265ee868302_0_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3ec2985a68_1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23ec2985a68_1_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3ec2985a68_1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g23ec2985a68_1_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3ec2985a68_1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g23ec2985a68_1_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381808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3ec2985a68_1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g23ec2985a68_1_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314050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3ec2985a68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23ec2985a68_1_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3ec2985a68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23ec2985a68_1_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46298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3ec2985a68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23ec2985a68_1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3ec2985a68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23ec2985a68_1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758159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3ec2985a68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23ec2985a68_1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53350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3ec2985a68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23ec2985a68_1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461210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3ec2985a68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23ec2985a68_1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746538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3ec2985a68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23ec2985a68_1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681956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3ec2985a68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23ec2985a68_1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181353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3ec2985a68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23ec2985a68_1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057783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3ec2985a68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23ec2985a68_1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043584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7" name="Google Shape;17;p1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8" name="Google Shape;18;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1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1" name="Google Shape;21;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14"/>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5" name="Google Shape;25;p14"/>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6" name="Google Shape;26;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16"/>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2" name="Google Shape;32;p16"/>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3" name="Google Shape;33;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17"/>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1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18"/>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0" name="Google Shape;40;p18"/>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18"/>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2" name="Google Shape;4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9"/>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5" name="Google Shape;45;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20"/>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20"/>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9" name="Google Shape;4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9FAB"/>
        </a:solidFill>
        <a:effectLst/>
      </p:bgPr>
    </p:bg>
    <p:spTree>
      <p:nvGrpSpPr>
        <p:cNvPr id="1" name="Shape 53"/>
        <p:cNvGrpSpPr/>
        <p:nvPr/>
      </p:nvGrpSpPr>
      <p:grpSpPr>
        <a:xfrm>
          <a:off x="0" y="0"/>
          <a:ext cx="0" cy="0"/>
          <a:chOff x="0" y="0"/>
          <a:chExt cx="0" cy="0"/>
        </a:xfrm>
      </p:grpSpPr>
      <p:pic>
        <p:nvPicPr>
          <p:cNvPr id="54" name="Google Shape;54;p1"/>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55" name="Google Shape;55;p1"/>
          <p:cNvPicPr preferRelativeResize="0"/>
          <p:nvPr/>
        </p:nvPicPr>
        <p:blipFill rotWithShape="1">
          <a:blip r:embed="rId4">
            <a:alphaModFix/>
          </a:blip>
          <a:srcRect/>
          <a:stretch/>
        </p:blipFill>
        <p:spPr>
          <a:xfrm>
            <a:off x="349800" y="186500"/>
            <a:ext cx="1399901" cy="541300"/>
          </a:xfrm>
          <a:prstGeom prst="rect">
            <a:avLst/>
          </a:prstGeom>
          <a:noFill/>
          <a:ln>
            <a:noFill/>
          </a:ln>
        </p:spPr>
      </p:pic>
      <p:sp>
        <p:nvSpPr>
          <p:cNvPr id="56" name="Google Shape;56;p1"/>
          <p:cNvSpPr txBox="1"/>
          <p:nvPr/>
        </p:nvSpPr>
        <p:spPr>
          <a:xfrm>
            <a:off x="517900" y="1604800"/>
            <a:ext cx="6940991" cy="1107965"/>
          </a:xfrm>
          <a:prstGeom prst="rect">
            <a:avLst/>
          </a:prstGeom>
          <a:noFill/>
          <a:ln>
            <a:noFill/>
          </a:ln>
          <a:effectLst>
            <a:outerShdw blurRad="57150" dist="19050" dir="5400000" algn="bl" rotWithShape="0">
              <a:srgbClr val="000000">
                <a:alpha val="49411"/>
              </a:srgbClr>
            </a:outerShdw>
          </a:effectLst>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en-US" sz="3000" b="1" i="0" u="none" strike="noStrike" cap="none" dirty="0">
                <a:solidFill>
                  <a:schemeClr val="lt1"/>
                </a:solidFill>
                <a:latin typeface="Rubik"/>
                <a:ea typeface="Rubik"/>
                <a:cs typeface="Rubik"/>
                <a:sym typeface="Rubik"/>
              </a:rPr>
              <a:t>Kimia </a:t>
            </a:r>
            <a:r>
              <a:rPr lang="en-US" sz="3000" b="1" i="0" u="none" strike="noStrike" cap="none" dirty="0" err="1">
                <a:solidFill>
                  <a:schemeClr val="lt1"/>
                </a:solidFill>
                <a:latin typeface="Rubik"/>
                <a:ea typeface="Rubik"/>
                <a:cs typeface="Rubik"/>
                <a:sym typeface="Rubik"/>
              </a:rPr>
              <a:t>Farma</a:t>
            </a:r>
            <a:r>
              <a:rPr lang="en-US" sz="3000" b="1" i="0" u="none" strike="noStrike" cap="none" dirty="0">
                <a:solidFill>
                  <a:schemeClr val="lt1"/>
                </a:solidFill>
                <a:latin typeface="Rubik"/>
                <a:ea typeface="Rubik"/>
                <a:cs typeface="Rubik"/>
                <a:sym typeface="Rubik"/>
              </a:rPr>
              <a:t> Business Performance Analytics 2020-2023</a:t>
            </a:r>
            <a:endParaRPr lang="en-US" sz="3000" b="0" i="0" u="none" strike="noStrike" cap="none" dirty="0">
              <a:solidFill>
                <a:schemeClr val="lt1"/>
              </a:solidFill>
              <a:latin typeface="Rubik"/>
              <a:ea typeface="Rubik"/>
              <a:cs typeface="Rubik"/>
              <a:sym typeface="Rubik"/>
            </a:endParaRPr>
          </a:p>
        </p:txBody>
      </p:sp>
      <p:sp>
        <p:nvSpPr>
          <p:cNvPr id="57" name="Google Shape;57;p1"/>
          <p:cNvSpPr txBox="1"/>
          <p:nvPr/>
        </p:nvSpPr>
        <p:spPr>
          <a:xfrm>
            <a:off x="517900" y="3130300"/>
            <a:ext cx="7289100" cy="569400"/>
          </a:xfrm>
          <a:prstGeom prst="rect">
            <a:avLst/>
          </a:prstGeom>
          <a:noFill/>
          <a:ln>
            <a:noFill/>
          </a:ln>
          <a:effectLst>
            <a:outerShdw blurRad="57150" dist="19050" dir="5400000" algn="bl" rotWithShape="0">
              <a:srgbClr val="000000">
                <a:alpha val="49411"/>
              </a:srgbClr>
            </a:outerShdw>
          </a:effectLst>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a:solidFill>
                  <a:schemeClr val="lt1"/>
                </a:solidFill>
                <a:latin typeface="Rubik SemiBold"/>
                <a:ea typeface="Rubik SemiBold"/>
                <a:cs typeface="Rubik SemiBold"/>
                <a:sym typeface="Rubik SemiBold"/>
              </a:rPr>
              <a:t>Kimia Farma </a:t>
            </a:r>
            <a:r>
              <a:rPr lang="en" sz="2500" b="0" i="0" u="none" strike="noStrike" cap="none">
                <a:solidFill>
                  <a:schemeClr val="lt1"/>
                </a:solidFill>
                <a:latin typeface="Rubik SemiBold"/>
                <a:ea typeface="Rubik SemiBold"/>
                <a:cs typeface="Rubik SemiBold"/>
                <a:sym typeface="Rubik SemiBold"/>
              </a:rPr>
              <a:t>- </a:t>
            </a:r>
            <a:r>
              <a:rPr lang="en" sz="2500">
                <a:solidFill>
                  <a:schemeClr val="lt1"/>
                </a:solidFill>
                <a:latin typeface="Rubik SemiBold"/>
                <a:ea typeface="Rubik SemiBold"/>
                <a:cs typeface="Rubik SemiBold"/>
                <a:sym typeface="Rubik SemiBold"/>
              </a:rPr>
              <a:t>Big Data Analytics</a:t>
            </a:r>
            <a:endParaRPr sz="2500" b="0" i="0" u="none" strike="noStrike" cap="none">
              <a:solidFill>
                <a:schemeClr val="lt1"/>
              </a:solidFill>
              <a:latin typeface="Rubik SemiBold"/>
              <a:ea typeface="Rubik SemiBold"/>
              <a:cs typeface="Rubik SemiBold"/>
              <a:sym typeface="Rubik SemiBold"/>
            </a:endParaRPr>
          </a:p>
        </p:txBody>
      </p:sp>
      <p:sp>
        <p:nvSpPr>
          <p:cNvPr id="58" name="Google Shape;58;p1"/>
          <p:cNvSpPr/>
          <p:nvPr/>
        </p:nvSpPr>
        <p:spPr>
          <a:xfrm>
            <a:off x="7214925" y="-706550"/>
            <a:ext cx="3135000" cy="3051000"/>
          </a:xfrm>
          <a:prstGeom prst="ellipse">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59" name="Google Shape;59;p1"/>
          <p:cNvSpPr txBox="1"/>
          <p:nvPr/>
        </p:nvSpPr>
        <p:spPr>
          <a:xfrm>
            <a:off x="1769125" y="172450"/>
            <a:ext cx="4578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 sz="3000" b="0" i="0" u="none" strike="noStrike" cap="none">
                <a:solidFill>
                  <a:schemeClr val="lt1"/>
                </a:solidFill>
                <a:latin typeface="Rubik SemiBold"/>
                <a:ea typeface="Rubik SemiBold"/>
                <a:cs typeface="Rubik SemiBold"/>
                <a:sym typeface="Rubik SemiBold"/>
              </a:rPr>
              <a:t>X</a:t>
            </a:r>
            <a:endParaRPr sz="3000" b="0" i="0" u="none" strike="noStrike" cap="none">
              <a:solidFill>
                <a:schemeClr val="lt1"/>
              </a:solidFill>
              <a:latin typeface="Rubik SemiBold"/>
              <a:ea typeface="Rubik SemiBold"/>
              <a:cs typeface="Rubik SemiBold"/>
              <a:sym typeface="Rubik SemiBold"/>
            </a:endParaRPr>
          </a:p>
        </p:txBody>
      </p:sp>
      <p:sp>
        <p:nvSpPr>
          <p:cNvPr id="60" name="Google Shape;60;p1"/>
          <p:cNvSpPr txBox="1"/>
          <p:nvPr/>
        </p:nvSpPr>
        <p:spPr>
          <a:xfrm>
            <a:off x="517900" y="3699700"/>
            <a:ext cx="4392000" cy="877133"/>
          </a:xfrm>
          <a:prstGeom prst="rect">
            <a:avLst/>
          </a:prstGeom>
          <a:noFill/>
          <a:ln>
            <a:noFill/>
          </a:ln>
          <a:effectLst>
            <a:outerShdw blurRad="57150" dist="19050" dir="5400000" algn="bl" rotWithShape="0">
              <a:srgbClr val="000000">
                <a:alpha val="49411"/>
              </a:srgbClr>
            </a:outerShdw>
          </a:effectLst>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dirty="0">
                <a:solidFill>
                  <a:schemeClr val="lt1"/>
                </a:solidFill>
                <a:latin typeface="Rubik Light"/>
                <a:ea typeface="Rubik Light"/>
                <a:cs typeface="Rubik Light"/>
                <a:sym typeface="Rubik Light"/>
              </a:rPr>
              <a:t>Presented by</a:t>
            </a:r>
            <a:endParaRPr sz="2000" b="0" i="0" u="none" strike="noStrike" cap="none" dirty="0">
              <a:solidFill>
                <a:schemeClr val="lt1"/>
              </a:solidFill>
              <a:latin typeface="Rubik Light"/>
              <a:ea typeface="Rubik Light"/>
              <a:cs typeface="Rubik Light"/>
              <a:sym typeface="Rubik Light"/>
            </a:endParaRPr>
          </a:p>
          <a:p>
            <a:pPr marL="0" marR="0" lvl="0" indent="0" algn="l" rtl="0">
              <a:lnSpc>
                <a:spcPct val="100000"/>
              </a:lnSpc>
              <a:spcBef>
                <a:spcPts val="0"/>
              </a:spcBef>
              <a:spcAft>
                <a:spcPts val="0"/>
              </a:spcAft>
              <a:buClr>
                <a:srgbClr val="000000"/>
              </a:buClr>
              <a:buSzPts val="2000"/>
              <a:buFont typeface="Arial"/>
              <a:buNone/>
            </a:pPr>
            <a:r>
              <a:rPr lang="en" sz="2500" b="0" i="0" u="none" strike="noStrike" cap="none" dirty="0">
                <a:solidFill>
                  <a:schemeClr val="lt1"/>
                </a:solidFill>
                <a:latin typeface="Rubik Light"/>
                <a:ea typeface="Rubik Light"/>
                <a:cs typeface="Rubik Light"/>
                <a:sym typeface="Rubik Light"/>
              </a:rPr>
              <a:t>Grace Yosephine</a:t>
            </a:r>
            <a:endParaRPr sz="2500" b="0" i="0" u="none" strike="noStrike" cap="none" dirty="0">
              <a:solidFill>
                <a:schemeClr val="lt1"/>
              </a:solidFill>
              <a:latin typeface="Rubik Light"/>
              <a:ea typeface="Rubik Light"/>
              <a:cs typeface="Rubik Light"/>
              <a:sym typeface="Rubik Light"/>
            </a:endParaRPr>
          </a:p>
        </p:txBody>
      </p:sp>
      <p:pic>
        <p:nvPicPr>
          <p:cNvPr id="61" name="Google Shape;61;p1"/>
          <p:cNvPicPr preferRelativeResize="0"/>
          <p:nvPr/>
        </p:nvPicPr>
        <p:blipFill>
          <a:blip r:embed="rId5">
            <a:alphaModFix/>
          </a:blip>
          <a:stretch>
            <a:fillRect/>
          </a:stretch>
        </p:blipFill>
        <p:spPr>
          <a:xfrm>
            <a:off x="2350825" y="133900"/>
            <a:ext cx="1581660" cy="569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pic>
        <p:nvPicPr>
          <p:cNvPr id="72" name="Google Shape;72;p15"/>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73" name="Google Shape;73;p15"/>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74" name="Google Shape;74;p15"/>
          <p:cNvSpPr/>
          <p:nvPr/>
        </p:nvSpPr>
        <p:spPr>
          <a:xfrm>
            <a:off x="0" y="0"/>
            <a:ext cx="4572000" cy="5143500"/>
          </a:xfrm>
          <a:prstGeom prst="rect">
            <a:avLst/>
          </a:prstGeom>
          <a:solidFill>
            <a:srgbClr val="019FAB">
              <a:alpha val="4745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5"/>
          <p:cNvSpPr/>
          <p:nvPr/>
        </p:nvSpPr>
        <p:spPr>
          <a:xfrm>
            <a:off x="1033575" y="470775"/>
            <a:ext cx="2431800" cy="32988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Rubik Medium"/>
                <a:ea typeface="Rubik Medium"/>
                <a:cs typeface="Rubik Medium"/>
                <a:sym typeface="Rubik Medium"/>
              </a:rPr>
              <a:t>Insert your photo here</a:t>
            </a:r>
            <a:endParaRPr sz="1400" b="0" i="0" u="none" strike="noStrike" cap="none">
              <a:solidFill>
                <a:srgbClr val="000000"/>
              </a:solidFill>
              <a:latin typeface="Rubik Medium"/>
              <a:ea typeface="Rubik Medium"/>
              <a:cs typeface="Rubik Medium"/>
              <a:sym typeface="Rubik Medium"/>
            </a:endParaRPr>
          </a:p>
        </p:txBody>
      </p:sp>
      <p:sp>
        <p:nvSpPr>
          <p:cNvPr id="76" name="Google Shape;76;p15"/>
          <p:cNvSpPr txBox="1"/>
          <p:nvPr/>
        </p:nvSpPr>
        <p:spPr>
          <a:xfrm>
            <a:off x="5030536" y="949455"/>
            <a:ext cx="35046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dirty="0">
                <a:solidFill>
                  <a:srgbClr val="000000"/>
                </a:solidFill>
                <a:latin typeface="Rubik SemiBold"/>
                <a:ea typeface="Rubik SemiBold"/>
                <a:cs typeface="Rubik SemiBold"/>
                <a:sym typeface="Rubik SemiBold"/>
              </a:rPr>
              <a:t>Grace Yosephine</a:t>
            </a:r>
            <a:endParaRPr sz="2000" b="0" i="0" u="none" strike="noStrike" cap="none" dirty="0">
              <a:solidFill>
                <a:srgbClr val="000000"/>
              </a:solidFill>
              <a:latin typeface="Rubik SemiBold"/>
              <a:ea typeface="Rubik SemiBold"/>
              <a:cs typeface="Rubik SemiBold"/>
              <a:sym typeface="Rubik SemiBold"/>
            </a:endParaRPr>
          </a:p>
        </p:txBody>
      </p:sp>
      <p:sp>
        <p:nvSpPr>
          <p:cNvPr id="78" name="Google Shape;78;p15"/>
          <p:cNvSpPr txBox="1"/>
          <p:nvPr/>
        </p:nvSpPr>
        <p:spPr>
          <a:xfrm>
            <a:off x="5105700" y="1541438"/>
            <a:ext cx="35046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dirty="0">
                <a:solidFill>
                  <a:srgbClr val="019FAB"/>
                </a:solidFill>
                <a:latin typeface="Rubik SemiBold"/>
                <a:ea typeface="Rubik SemiBold"/>
                <a:cs typeface="Rubik SemiBold"/>
                <a:sym typeface="Rubik SemiBold"/>
              </a:rPr>
              <a:t>About Me</a:t>
            </a:r>
            <a:endParaRPr sz="2000" b="0" i="0" u="none" strike="noStrike" cap="none" dirty="0">
              <a:solidFill>
                <a:srgbClr val="019FAB"/>
              </a:solidFill>
              <a:latin typeface="Rubik SemiBold"/>
              <a:ea typeface="Rubik SemiBold"/>
              <a:cs typeface="Rubik SemiBold"/>
              <a:sym typeface="Rubik SemiBold"/>
            </a:endParaRPr>
          </a:p>
        </p:txBody>
      </p:sp>
      <p:sp>
        <p:nvSpPr>
          <p:cNvPr id="79" name="Google Shape;79;p15"/>
          <p:cNvSpPr txBox="1"/>
          <p:nvPr/>
        </p:nvSpPr>
        <p:spPr>
          <a:xfrm>
            <a:off x="4720887" y="2034218"/>
            <a:ext cx="4246016" cy="2954625"/>
          </a:xfrm>
          <a:prstGeom prst="rect">
            <a:avLst/>
          </a:prstGeom>
          <a:noFill/>
          <a:ln>
            <a:noFill/>
          </a:ln>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rgbClr val="000000"/>
              </a:buClr>
              <a:buSzPts val="2000"/>
              <a:buFont typeface="Arial"/>
              <a:buNone/>
            </a:pPr>
            <a:r>
              <a:rPr lang="en-US" sz="1000" b="0" i="0" u="none" strike="noStrike" cap="none" dirty="0">
                <a:solidFill>
                  <a:srgbClr val="000000"/>
                </a:solidFill>
                <a:latin typeface="Rubik Medium"/>
                <a:ea typeface="Rubik Medium"/>
                <a:cs typeface="Rubik Medium"/>
                <a:sym typeface="Rubik Medium"/>
              </a:rPr>
              <a:t>I am a Software Engineering Technology student at </a:t>
            </a:r>
            <a:r>
              <a:rPr lang="en-US" sz="1000" b="0" i="0" u="none" strike="noStrike" cap="none" dirty="0" err="1">
                <a:solidFill>
                  <a:srgbClr val="000000"/>
                </a:solidFill>
                <a:latin typeface="Rubik Medium"/>
                <a:ea typeface="Rubik Medium"/>
                <a:cs typeface="Rubik Medium"/>
                <a:sym typeface="Rubik Medium"/>
              </a:rPr>
              <a:t>Institut</a:t>
            </a:r>
            <a:r>
              <a:rPr lang="en-US" sz="1000" b="0" i="0" u="none" strike="noStrike" cap="none" dirty="0">
                <a:solidFill>
                  <a:srgbClr val="000000"/>
                </a:solidFill>
                <a:latin typeface="Rubik Medium"/>
                <a:ea typeface="Rubik Medium"/>
                <a:cs typeface="Rubik Medium"/>
                <a:sym typeface="Rubik Medium"/>
              </a:rPr>
              <a:t> </a:t>
            </a:r>
            <a:r>
              <a:rPr lang="en-US" sz="1000" b="0" i="0" u="none" strike="noStrike" cap="none" dirty="0" err="1">
                <a:solidFill>
                  <a:srgbClr val="000000"/>
                </a:solidFill>
                <a:latin typeface="Rubik Medium"/>
                <a:ea typeface="Rubik Medium"/>
                <a:cs typeface="Rubik Medium"/>
                <a:sym typeface="Rubik Medium"/>
              </a:rPr>
              <a:t>Teknologi</a:t>
            </a:r>
            <a:r>
              <a:rPr lang="en-US" sz="1000" b="0" i="0" u="none" strike="noStrike" cap="none" dirty="0">
                <a:solidFill>
                  <a:srgbClr val="000000"/>
                </a:solidFill>
                <a:latin typeface="Rubik Medium"/>
                <a:ea typeface="Rubik Medium"/>
                <a:cs typeface="Rubik Medium"/>
                <a:sym typeface="Rubik Medium"/>
              </a:rPr>
              <a:t> Del with a growing passion for UX Research and Big Data Analytics. My academic background has equipped me with a strong foundation in software development, including proficiency in Java, Python, and JavaScript, as well as experience in database management and object-oriented programming.</a:t>
            </a:r>
          </a:p>
          <a:p>
            <a:pPr marL="0" marR="0" lvl="0" indent="0" algn="just" rtl="0">
              <a:lnSpc>
                <a:spcPct val="150000"/>
              </a:lnSpc>
              <a:spcBef>
                <a:spcPts val="0"/>
              </a:spcBef>
              <a:spcAft>
                <a:spcPts val="0"/>
              </a:spcAft>
              <a:buClr>
                <a:srgbClr val="000000"/>
              </a:buClr>
              <a:buSzPts val="2000"/>
              <a:buFont typeface="Arial"/>
              <a:buNone/>
            </a:pPr>
            <a:r>
              <a:rPr lang="en-US" sz="1000" b="0" i="0" u="none" strike="noStrike" cap="none" dirty="0">
                <a:solidFill>
                  <a:srgbClr val="000000"/>
                </a:solidFill>
                <a:latin typeface="Rubik Medium"/>
                <a:ea typeface="Rubik Medium"/>
                <a:cs typeface="Rubik Medium"/>
                <a:sym typeface="Rubik Medium"/>
              </a:rPr>
              <a:t>My interest lies in understanding user behavior through UX research and leveraging data-driven insights from Big Data Analytics to design and improve digital products that are both user-friendly and impactful. By combining technical skills with analytical thinking and user-centered design, I aim to contribute to the development of innovative and meaningful digital solutions.</a:t>
            </a:r>
          </a:p>
        </p:txBody>
      </p:sp>
      <p:sp>
        <p:nvSpPr>
          <p:cNvPr id="80" name="Google Shape;80;p15"/>
          <p:cNvSpPr txBox="1"/>
          <p:nvPr/>
        </p:nvSpPr>
        <p:spPr>
          <a:xfrm>
            <a:off x="1004800" y="3915263"/>
            <a:ext cx="3504600" cy="461635"/>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2000"/>
              <a:buFont typeface="Arial"/>
              <a:buNone/>
            </a:pPr>
            <a:r>
              <a:rPr lang="en" sz="1200" b="0" i="0" u="none" strike="noStrike" cap="none" dirty="0">
                <a:solidFill>
                  <a:srgbClr val="000000"/>
                </a:solidFill>
                <a:latin typeface="Rubik Medium"/>
                <a:ea typeface="Rubik Medium"/>
                <a:cs typeface="Rubik Medium"/>
                <a:sym typeface="Rubik Medium"/>
              </a:rPr>
              <a:t>Medan, Sumatera Utara</a:t>
            </a:r>
            <a:endParaRPr sz="1200" b="0" i="0" u="none" strike="noStrike" cap="none" dirty="0">
              <a:solidFill>
                <a:srgbClr val="000000"/>
              </a:solidFill>
              <a:latin typeface="Rubik Medium"/>
              <a:ea typeface="Rubik Medium"/>
              <a:cs typeface="Rubik Medium"/>
              <a:sym typeface="Rubik Medium"/>
            </a:endParaRPr>
          </a:p>
        </p:txBody>
      </p:sp>
      <p:pic>
        <p:nvPicPr>
          <p:cNvPr id="81" name="Google Shape;81;p15"/>
          <p:cNvPicPr preferRelativeResize="0"/>
          <p:nvPr/>
        </p:nvPicPr>
        <p:blipFill rotWithShape="1">
          <a:blip r:embed="rId5">
            <a:alphaModFix/>
          </a:blip>
          <a:srcRect/>
          <a:stretch/>
        </p:blipFill>
        <p:spPr>
          <a:xfrm>
            <a:off x="572376" y="4834188"/>
            <a:ext cx="307673" cy="309311"/>
          </a:xfrm>
          <a:prstGeom prst="rect">
            <a:avLst/>
          </a:prstGeom>
          <a:noFill/>
          <a:ln>
            <a:noFill/>
          </a:ln>
        </p:spPr>
      </p:pic>
      <p:pic>
        <p:nvPicPr>
          <p:cNvPr id="82" name="Google Shape;82;p15"/>
          <p:cNvPicPr preferRelativeResize="0"/>
          <p:nvPr/>
        </p:nvPicPr>
        <p:blipFill rotWithShape="1">
          <a:blip r:embed="rId6">
            <a:alphaModFix/>
          </a:blip>
          <a:srcRect/>
          <a:stretch/>
        </p:blipFill>
        <p:spPr>
          <a:xfrm>
            <a:off x="587829" y="4003766"/>
            <a:ext cx="307672" cy="309310"/>
          </a:xfrm>
          <a:prstGeom prst="rect">
            <a:avLst/>
          </a:prstGeom>
          <a:noFill/>
          <a:ln>
            <a:noFill/>
          </a:ln>
        </p:spPr>
      </p:pic>
      <p:pic>
        <p:nvPicPr>
          <p:cNvPr id="83" name="Google Shape;83;p15"/>
          <p:cNvPicPr preferRelativeResize="0"/>
          <p:nvPr/>
        </p:nvPicPr>
        <p:blipFill rotWithShape="1">
          <a:blip r:embed="rId7">
            <a:alphaModFix/>
          </a:blip>
          <a:srcRect/>
          <a:stretch/>
        </p:blipFill>
        <p:spPr>
          <a:xfrm>
            <a:off x="600890" y="4474029"/>
            <a:ext cx="285567" cy="201359"/>
          </a:xfrm>
          <a:prstGeom prst="rect">
            <a:avLst/>
          </a:prstGeom>
          <a:noFill/>
          <a:ln>
            <a:noFill/>
          </a:ln>
        </p:spPr>
      </p:pic>
      <p:sp>
        <p:nvSpPr>
          <p:cNvPr id="84" name="Google Shape;84;p15"/>
          <p:cNvSpPr txBox="1"/>
          <p:nvPr/>
        </p:nvSpPr>
        <p:spPr>
          <a:xfrm>
            <a:off x="1004799" y="4783205"/>
            <a:ext cx="4834297" cy="392385"/>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2000"/>
              <a:buFont typeface="Arial"/>
              <a:buNone/>
            </a:pPr>
            <a:r>
              <a:rPr lang="en-US" sz="900" b="0" i="0" u="none" strike="noStrike" cap="none" dirty="0">
                <a:solidFill>
                  <a:srgbClr val="000000"/>
                </a:solidFill>
                <a:latin typeface="Rubik Medium"/>
                <a:ea typeface="Rubik Medium"/>
                <a:cs typeface="Rubik Medium"/>
                <a:sym typeface="Rubik Medium"/>
              </a:rPr>
              <a:t>https://www.linkedin.com/in/grace-yosephine-479233294/</a:t>
            </a:r>
            <a:endParaRPr sz="900" b="0" i="0" u="none" strike="noStrike" cap="none" dirty="0">
              <a:solidFill>
                <a:srgbClr val="000000"/>
              </a:solidFill>
              <a:latin typeface="Rubik Medium"/>
              <a:ea typeface="Rubik Medium"/>
              <a:cs typeface="Rubik Medium"/>
              <a:sym typeface="Rubik Medium"/>
            </a:endParaRPr>
          </a:p>
        </p:txBody>
      </p:sp>
      <p:sp>
        <p:nvSpPr>
          <p:cNvPr id="85" name="Google Shape;85;p15"/>
          <p:cNvSpPr txBox="1"/>
          <p:nvPr/>
        </p:nvSpPr>
        <p:spPr>
          <a:xfrm>
            <a:off x="1004800" y="4326333"/>
            <a:ext cx="3504600" cy="461635"/>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2000"/>
              <a:buFont typeface="Arial"/>
              <a:buNone/>
            </a:pPr>
            <a:r>
              <a:rPr lang="en" sz="1200" b="0" i="0" u="none" strike="noStrike" cap="none" dirty="0">
                <a:solidFill>
                  <a:srgbClr val="000000"/>
                </a:solidFill>
                <a:latin typeface="Rubik Medium"/>
                <a:ea typeface="Rubik Medium"/>
                <a:cs typeface="Rubik Medium"/>
                <a:sym typeface="Rubik Medium"/>
              </a:rPr>
              <a:t>graceyosephine63@gmail.com</a:t>
            </a:r>
            <a:endParaRPr sz="1200" b="0" i="0" u="none" strike="noStrike" cap="none" dirty="0">
              <a:solidFill>
                <a:srgbClr val="000000"/>
              </a:solidFill>
              <a:latin typeface="Rubik Medium"/>
              <a:ea typeface="Rubik Medium"/>
              <a:cs typeface="Rubik Medium"/>
              <a:sym typeface="Rubik Medium"/>
            </a:endParaRPr>
          </a:p>
        </p:txBody>
      </p:sp>
      <p:pic>
        <p:nvPicPr>
          <p:cNvPr id="3" name="Picture 2">
            <a:extLst>
              <a:ext uri="{FF2B5EF4-FFF2-40B4-BE49-F238E27FC236}">
                <a16:creationId xmlns:a16="http://schemas.microsoft.com/office/drawing/2014/main" id="{2DE35776-0DBB-4BD5-B1B5-927AC0AE39BF}"/>
              </a:ext>
            </a:extLst>
          </p:cNvPr>
          <p:cNvPicPr>
            <a:picLocks noChangeAspect="1"/>
          </p:cNvPicPr>
          <p:nvPr/>
        </p:nvPicPr>
        <p:blipFill rotWithShape="1">
          <a:blip r:embed="rId8"/>
          <a:srcRect r="4646"/>
          <a:stretch/>
        </p:blipFill>
        <p:spPr>
          <a:xfrm rot="16200000">
            <a:off x="553320" y="895469"/>
            <a:ext cx="3392315" cy="24318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99" name="Google Shape;99;p4"/>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00" name="Google Shape;100;p4"/>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01" name="Google Shape;101;p4"/>
          <p:cNvSpPr txBox="1"/>
          <p:nvPr/>
        </p:nvSpPr>
        <p:spPr>
          <a:xfrm>
            <a:off x="340500" y="1406350"/>
            <a:ext cx="5604600" cy="3157757"/>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US" sz="1200" b="1" dirty="0">
                <a:latin typeface="Rubik"/>
                <a:ea typeface="Rubik"/>
                <a:cs typeface="Rubik"/>
                <a:sym typeface="Rubik"/>
              </a:rPr>
              <a:t>Kimia </a:t>
            </a:r>
            <a:r>
              <a:rPr lang="en-US" sz="1200" b="1" dirty="0" err="1">
                <a:latin typeface="Rubik"/>
                <a:ea typeface="Rubik"/>
                <a:cs typeface="Rubik"/>
                <a:sym typeface="Rubik"/>
              </a:rPr>
              <a:t>Farma</a:t>
            </a:r>
            <a:r>
              <a:rPr lang="en-US" sz="1200" b="1" dirty="0">
                <a:latin typeface="Rubik"/>
                <a:ea typeface="Rubik"/>
                <a:cs typeface="Rubik"/>
                <a:sym typeface="Rubik"/>
              </a:rPr>
              <a:t>, established in 1817, is Indonesia’s pioneering pharmaceutical company, evolving from a Dutch colonial apothecary into a leading state-owned enterprise in the healthcare sector. With a wide operational footprint, the company manages over 1,200 pharmacies, 400 health clinics, and several manufacturing facilities across the country, delivering pharmaceutical products, diagnostic services, and comprehensive healthcare solutions. Guided by its mission to improve public health, Kimia </a:t>
            </a:r>
            <a:r>
              <a:rPr lang="en-US" sz="1200" b="1" dirty="0" err="1">
                <a:latin typeface="Rubik"/>
                <a:ea typeface="Rubik"/>
                <a:cs typeface="Rubik"/>
                <a:sym typeface="Rubik"/>
              </a:rPr>
              <a:t>Farma</a:t>
            </a:r>
            <a:r>
              <a:rPr lang="en-US" sz="1200" b="1" dirty="0">
                <a:latin typeface="Rubik"/>
                <a:ea typeface="Rubik"/>
                <a:cs typeface="Rubik"/>
                <a:sym typeface="Rubik"/>
              </a:rPr>
              <a:t> is dedicated to providing high-quality, accessible healthcare products and services. In its pursuit of excellence, the company embraces big data analytics to streamline operations, enhance customer experiences, and support strategic decision-making. With a forward-looking vision, Kimia </a:t>
            </a:r>
            <a:r>
              <a:rPr lang="en-US" sz="1200" b="1" dirty="0" err="1">
                <a:latin typeface="Rubik"/>
                <a:ea typeface="Rubik"/>
                <a:cs typeface="Rubik"/>
                <a:sym typeface="Rubik"/>
              </a:rPr>
              <a:t>Farma</a:t>
            </a:r>
            <a:r>
              <a:rPr lang="en-US" sz="1200" b="1" dirty="0">
                <a:latin typeface="Rubik"/>
                <a:ea typeface="Rubik"/>
                <a:cs typeface="Rubik"/>
                <a:sym typeface="Rubik"/>
              </a:rPr>
              <a:t> aspires to become Indonesia’s most trusted and technologically integrated healthcare provider.</a:t>
            </a:r>
            <a:endParaRPr lang="fi-FI" sz="1200" b="0" i="0" u="none" strike="noStrike" cap="none" dirty="0">
              <a:solidFill>
                <a:srgbClr val="000000"/>
              </a:solidFill>
              <a:latin typeface="Rubik"/>
              <a:ea typeface="Rubik"/>
              <a:cs typeface="Rubik"/>
              <a:sym typeface="Rubik"/>
            </a:endParaRPr>
          </a:p>
        </p:txBody>
      </p:sp>
      <p:sp>
        <p:nvSpPr>
          <p:cNvPr id="102" name="Google Shape;102;p4"/>
          <p:cNvSpPr txBox="1"/>
          <p:nvPr/>
        </p:nvSpPr>
        <p:spPr>
          <a:xfrm>
            <a:off x="340500" y="452038"/>
            <a:ext cx="8463000" cy="646500"/>
          </a:xfrm>
          <a:prstGeom prst="rect">
            <a:avLst/>
          </a:prstGeom>
          <a:noFill/>
          <a:ln>
            <a:noFill/>
          </a:ln>
          <a:effectLst>
            <a:outerShdw blurRad="57150" dist="19050" dir="2820000" algn="bl" rotWithShape="0">
              <a:srgbClr val="B7B7B7">
                <a:alpha val="85490"/>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5000"/>
              <a:buFont typeface="Arial"/>
              <a:buNone/>
            </a:pPr>
            <a:r>
              <a:rPr lang="en" sz="3000" b="1">
                <a:latin typeface="Rubik"/>
                <a:ea typeface="Rubik"/>
                <a:cs typeface="Rubik"/>
                <a:sym typeface="Rubik"/>
              </a:rPr>
              <a:t>About </a:t>
            </a:r>
            <a:r>
              <a:rPr lang="en" sz="3000" b="1">
                <a:solidFill>
                  <a:schemeClr val="accent5"/>
                </a:solidFill>
                <a:latin typeface="Rubik"/>
                <a:ea typeface="Rubik"/>
                <a:cs typeface="Rubik"/>
                <a:sym typeface="Rubik"/>
              </a:rPr>
              <a:t>Company</a:t>
            </a:r>
            <a:endParaRPr sz="3000" b="1" i="0" u="none" strike="noStrike" cap="none">
              <a:solidFill>
                <a:schemeClr val="accent5"/>
              </a:solidFill>
              <a:latin typeface="Rubik"/>
              <a:ea typeface="Rubik"/>
              <a:cs typeface="Rubik"/>
              <a:sym typeface="Rubik"/>
            </a:endParaRPr>
          </a:p>
        </p:txBody>
      </p:sp>
      <p:pic>
        <p:nvPicPr>
          <p:cNvPr id="103" name="Google Shape;103;p4"/>
          <p:cNvPicPr preferRelativeResize="0"/>
          <p:nvPr/>
        </p:nvPicPr>
        <p:blipFill>
          <a:blip r:embed="rId5">
            <a:alphaModFix/>
          </a:blip>
          <a:stretch>
            <a:fillRect/>
          </a:stretch>
        </p:blipFill>
        <p:spPr>
          <a:xfrm>
            <a:off x="6085526" y="1936092"/>
            <a:ext cx="2918049" cy="106056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g265ee868302_0_99"/>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10" name="Google Shape;110;g265ee868302_0_99"/>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11" name="Google Shape;111;g265ee868302_0_99"/>
          <p:cNvSpPr txBox="1"/>
          <p:nvPr/>
        </p:nvSpPr>
        <p:spPr>
          <a:xfrm>
            <a:off x="340500" y="1178963"/>
            <a:ext cx="8340300" cy="3485539"/>
          </a:xfrm>
          <a:prstGeom prst="rect">
            <a:avLst/>
          </a:prstGeom>
          <a:noFill/>
          <a:ln>
            <a:noFill/>
          </a:ln>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chemeClr val="dk1"/>
              </a:buClr>
              <a:buSzPts val="1100"/>
              <a:buFont typeface="Arial"/>
              <a:buNone/>
            </a:pPr>
            <a:r>
              <a:rPr lang="en-US" sz="1100" b="1" dirty="0">
                <a:latin typeface="Rubik"/>
                <a:ea typeface="Rubik"/>
                <a:cs typeface="Rubik"/>
                <a:sym typeface="Rubik"/>
              </a:rPr>
              <a:t>Project Title: Kimia </a:t>
            </a:r>
            <a:r>
              <a:rPr lang="en-US" sz="1100" b="1" dirty="0" err="1">
                <a:latin typeface="Rubik"/>
                <a:ea typeface="Rubik"/>
                <a:cs typeface="Rubik"/>
                <a:sym typeface="Rubik"/>
              </a:rPr>
              <a:t>Farma</a:t>
            </a:r>
            <a:r>
              <a:rPr lang="en-US" sz="1100" b="1" dirty="0">
                <a:latin typeface="Rubik"/>
                <a:ea typeface="Rubik"/>
                <a:cs typeface="Rubik"/>
                <a:sym typeface="Rubik"/>
              </a:rPr>
              <a:t> Business Performance Analytics 2020-2023</a:t>
            </a:r>
          </a:p>
          <a:p>
            <a:pPr marL="0" marR="0" lvl="0" indent="0" algn="just" rtl="0">
              <a:lnSpc>
                <a:spcPct val="150000"/>
              </a:lnSpc>
              <a:spcBef>
                <a:spcPts val="0"/>
              </a:spcBef>
              <a:spcAft>
                <a:spcPts val="0"/>
              </a:spcAft>
              <a:buClr>
                <a:schemeClr val="dk1"/>
              </a:buClr>
              <a:buSzPts val="1100"/>
              <a:buFont typeface="Arial"/>
              <a:buNone/>
            </a:pPr>
            <a:r>
              <a:rPr lang="en-US" sz="1100" b="1" dirty="0">
                <a:latin typeface="Rubik"/>
                <a:ea typeface="Rubik"/>
                <a:cs typeface="Rubik"/>
                <a:sym typeface="Rubik"/>
              </a:rPr>
              <a:t>Background: Kimia </a:t>
            </a:r>
            <a:r>
              <a:rPr lang="en-US" sz="1100" b="1" dirty="0" err="1">
                <a:latin typeface="Rubik"/>
                <a:ea typeface="Rubik"/>
                <a:cs typeface="Rubik"/>
                <a:sym typeface="Rubik"/>
              </a:rPr>
              <a:t>Farma</a:t>
            </a:r>
            <a:r>
              <a:rPr lang="en-US" sz="1100" b="1" dirty="0">
                <a:latin typeface="Rubik"/>
                <a:ea typeface="Rubik"/>
                <a:cs typeface="Rubik"/>
                <a:sym typeface="Rubik"/>
              </a:rPr>
              <a:t> aims to enhance strategic decision-making by leveraging data analytics to uncover insights into sales performance, regional trends, and customer satisfaction. This project supports the company’s goal of optimizing operations and strengthening its market position through data-driven strategies.</a:t>
            </a:r>
          </a:p>
          <a:p>
            <a:pPr marL="0" marR="0" lvl="0" indent="0" algn="just" rtl="0">
              <a:lnSpc>
                <a:spcPct val="150000"/>
              </a:lnSpc>
              <a:spcBef>
                <a:spcPts val="0"/>
              </a:spcBef>
              <a:spcAft>
                <a:spcPts val="0"/>
              </a:spcAft>
              <a:buClr>
                <a:schemeClr val="dk1"/>
              </a:buClr>
              <a:buSzPts val="1100"/>
              <a:buFont typeface="Arial"/>
              <a:buNone/>
            </a:pPr>
            <a:r>
              <a:rPr lang="en-US" sz="1100" b="1" dirty="0">
                <a:latin typeface="Rubik"/>
                <a:ea typeface="Rubik"/>
                <a:cs typeface="Rubik"/>
                <a:sym typeface="Rubik"/>
              </a:rPr>
              <a:t>Available Data:</a:t>
            </a:r>
          </a:p>
          <a:p>
            <a:pPr marL="171450" marR="0" lvl="0" indent="-171450" algn="just" rtl="0">
              <a:lnSpc>
                <a:spcPct val="150000"/>
              </a:lnSpc>
              <a:spcBef>
                <a:spcPts val="0"/>
              </a:spcBef>
              <a:spcAft>
                <a:spcPts val="0"/>
              </a:spcAft>
              <a:buClr>
                <a:schemeClr val="dk1"/>
              </a:buClr>
              <a:buSzPts val="1100"/>
              <a:buFont typeface="Arial" panose="020B0604020202020204" pitchFamily="34" charset="0"/>
              <a:buChar char="•"/>
            </a:pPr>
            <a:r>
              <a:rPr lang="en-US" sz="1100" b="1" dirty="0">
                <a:latin typeface="Rubik"/>
                <a:ea typeface="Rubik"/>
                <a:cs typeface="Rubik"/>
                <a:sym typeface="Rubik"/>
              </a:rPr>
              <a:t>kf_final_transaction.csv: Contains transaction details, including </a:t>
            </a:r>
            <a:r>
              <a:rPr lang="en-US" sz="1100" b="1" dirty="0" err="1">
                <a:latin typeface="Rubik"/>
                <a:ea typeface="Rubik"/>
                <a:cs typeface="Rubik"/>
                <a:sym typeface="Rubik"/>
              </a:rPr>
              <a:t>transaction_id</a:t>
            </a:r>
            <a:r>
              <a:rPr lang="en-US" sz="1100" b="1" dirty="0">
                <a:latin typeface="Rubik"/>
                <a:ea typeface="Rubik"/>
                <a:cs typeface="Rubik"/>
                <a:sym typeface="Rubik"/>
              </a:rPr>
              <a:t>, date, </a:t>
            </a:r>
            <a:r>
              <a:rPr lang="en-US" sz="1100" b="1" dirty="0" err="1">
                <a:latin typeface="Rubik"/>
                <a:ea typeface="Rubik"/>
                <a:cs typeface="Rubik"/>
                <a:sym typeface="Rubik"/>
              </a:rPr>
              <a:t>branch_id</a:t>
            </a:r>
            <a:r>
              <a:rPr lang="en-US" sz="1100" b="1" dirty="0">
                <a:latin typeface="Rubik"/>
                <a:ea typeface="Rubik"/>
                <a:cs typeface="Rubik"/>
                <a:sym typeface="Rubik"/>
              </a:rPr>
              <a:t>, </a:t>
            </a:r>
            <a:r>
              <a:rPr lang="en-US" sz="1100" b="1" dirty="0" err="1">
                <a:latin typeface="Rubik"/>
                <a:ea typeface="Rubik"/>
                <a:cs typeface="Rubik"/>
                <a:sym typeface="Rubik"/>
              </a:rPr>
              <a:t>customer_name</a:t>
            </a:r>
            <a:r>
              <a:rPr lang="en-US" sz="1100" b="1" dirty="0">
                <a:latin typeface="Rubik"/>
                <a:ea typeface="Rubik"/>
                <a:cs typeface="Rubik"/>
                <a:sym typeface="Rubik"/>
              </a:rPr>
              <a:t>, </a:t>
            </a:r>
            <a:r>
              <a:rPr lang="en-US" sz="1100" b="1" dirty="0" err="1">
                <a:latin typeface="Rubik"/>
                <a:ea typeface="Rubik"/>
                <a:cs typeface="Rubik"/>
                <a:sym typeface="Rubik"/>
              </a:rPr>
              <a:t>product_id</a:t>
            </a:r>
            <a:r>
              <a:rPr lang="en-US" sz="1100" b="1" dirty="0">
                <a:latin typeface="Rubik"/>
                <a:ea typeface="Rubik"/>
                <a:cs typeface="Rubik"/>
                <a:sym typeface="Rubik"/>
              </a:rPr>
              <a:t>, price, </a:t>
            </a:r>
            <a:r>
              <a:rPr lang="en-US" sz="1100" b="1" dirty="0" err="1">
                <a:latin typeface="Rubik"/>
                <a:ea typeface="Rubik"/>
                <a:cs typeface="Rubik"/>
                <a:sym typeface="Rubik"/>
              </a:rPr>
              <a:t>discount_percentage</a:t>
            </a:r>
            <a:r>
              <a:rPr lang="en-US" sz="1100" b="1" dirty="0">
                <a:latin typeface="Rubik"/>
                <a:ea typeface="Rubik"/>
                <a:cs typeface="Rubik"/>
                <a:sym typeface="Rubik"/>
              </a:rPr>
              <a:t>, and rating.</a:t>
            </a:r>
          </a:p>
          <a:p>
            <a:pPr marL="171450" marR="0" lvl="0" indent="-171450" algn="just" rtl="0">
              <a:lnSpc>
                <a:spcPct val="150000"/>
              </a:lnSpc>
              <a:spcBef>
                <a:spcPts val="0"/>
              </a:spcBef>
              <a:spcAft>
                <a:spcPts val="0"/>
              </a:spcAft>
              <a:buClr>
                <a:schemeClr val="dk1"/>
              </a:buClr>
              <a:buSzPts val="1100"/>
              <a:buFont typeface="Arial" panose="020B0604020202020204" pitchFamily="34" charset="0"/>
              <a:buChar char="•"/>
            </a:pPr>
            <a:r>
              <a:rPr lang="en-US" sz="1100" b="1" dirty="0">
                <a:latin typeface="Rubik"/>
                <a:ea typeface="Rubik"/>
                <a:cs typeface="Rubik"/>
                <a:sym typeface="Rubik"/>
              </a:rPr>
              <a:t>kf_inventory.csv: Provides inventory data, detailing stock levels and product availability.</a:t>
            </a:r>
          </a:p>
          <a:p>
            <a:pPr marL="171450" marR="0" lvl="0" indent="-171450" algn="just" rtl="0">
              <a:lnSpc>
                <a:spcPct val="150000"/>
              </a:lnSpc>
              <a:spcBef>
                <a:spcPts val="0"/>
              </a:spcBef>
              <a:spcAft>
                <a:spcPts val="0"/>
              </a:spcAft>
              <a:buClr>
                <a:schemeClr val="dk1"/>
              </a:buClr>
              <a:buSzPts val="1100"/>
              <a:buFont typeface="Arial" panose="020B0604020202020204" pitchFamily="34" charset="0"/>
              <a:buChar char="•"/>
            </a:pPr>
            <a:r>
              <a:rPr lang="en-US" sz="1100" b="1" dirty="0">
                <a:latin typeface="Rubik"/>
                <a:ea typeface="Rubik"/>
                <a:cs typeface="Rubik"/>
                <a:sym typeface="Rubik"/>
              </a:rPr>
              <a:t>kf_kantor_cabang.csv: Includes branch information, such as </a:t>
            </a:r>
            <a:r>
              <a:rPr lang="en-US" sz="1100" b="1" dirty="0" err="1">
                <a:latin typeface="Rubik"/>
                <a:ea typeface="Rubik"/>
                <a:cs typeface="Rubik"/>
                <a:sym typeface="Rubik"/>
              </a:rPr>
              <a:t>branch_id</a:t>
            </a:r>
            <a:r>
              <a:rPr lang="en-US" sz="1100" b="1" dirty="0">
                <a:latin typeface="Rubik"/>
                <a:ea typeface="Rubik"/>
                <a:cs typeface="Rubik"/>
                <a:sym typeface="Rubik"/>
              </a:rPr>
              <a:t>, </a:t>
            </a:r>
            <a:r>
              <a:rPr lang="en-US" sz="1100" b="1" dirty="0" err="1">
                <a:latin typeface="Rubik"/>
                <a:ea typeface="Rubik"/>
                <a:cs typeface="Rubik"/>
                <a:sym typeface="Rubik"/>
              </a:rPr>
              <a:t>branch_name</a:t>
            </a:r>
            <a:r>
              <a:rPr lang="en-US" sz="1100" b="1" dirty="0">
                <a:latin typeface="Rubik"/>
                <a:ea typeface="Rubik"/>
                <a:cs typeface="Rubik"/>
                <a:sym typeface="Rubik"/>
              </a:rPr>
              <a:t>, </a:t>
            </a:r>
            <a:r>
              <a:rPr lang="en-US" sz="1100" b="1" dirty="0" err="1">
                <a:latin typeface="Rubik"/>
                <a:ea typeface="Rubik"/>
                <a:cs typeface="Rubik"/>
                <a:sym typeface="Rubik"/>
              </a:rPr>
              <a:t>kota</a:t>
            </a:r>
            <a:r>
              <a:rPr lang="en-US" sz="1100" b="1" dirty="0">
                <a:latin typeface="Rubik"/>
                <a:ea typeface="Rubik"/>
                <a:cs typeface="Rubik"/>
                <a:sym typeface="Rubik"/>
              </a:rPr>
              <a:t>, </a:t>
            </a:r>
            <a:r>
              <a:rPr lang="en-US" sz="1100" b="1" dirty="0" err="1">
                <a:latin typeface="Rubik"/>
                <a:ea typeface="Rubik"/>
                <a:cs typeface="Rubik"/>
                <a:sym typeface="Rubik"/>
              </a:rPr>
              <a:t>provinsi</a:t>
            </a:r>
            <a:r>
              <a:rPr lang="en-US" sz="1100" b="1" dirty="0">
                <a:latin typeface="Rubik"/>
                <a:ea typeface="Rubik"/>
                <a:cs typeface="Rubik"/>
                <a:sym typeface="Rubik"/>
              </a:rPr>
              <a:t>, and rating.</a:t>
            </a:r>
          </a:p>
          <a:p>
            <a:pPr marL="171450" marR="0" lvl="0" indent="-171450" algn="just" rtl="0">
              <a:lnSpc>
                <a:spcPct val="150000"/>
              </a:lnSpc>
              <a:spcBef>
                <a:spcPts val="0"/>
              </a:spcBef>
              <a:spcAft>
                <a:spcPts val="0"/>
              </a:spcAft>
              <a:buClr>
                <a:schemeClr val="dk1"/>
              </a:buClr>
              <a:buSzPts val="1100"/>
              <a:buFont typeface="Arial" panose="020B0604020202020204" pitchFamily="34" charset="0"/>
              <a:buChar char="•"/>
            </a:pPr>
            <a:r>
              <a:rPr lang="en-US" sz="1100" b="1" dirty="0">
                <a:latin typeface="Rubik"/>
                <a:ea typeface="Rubik"/>
                <a:cs typeface="Rubik"/>
                <a:sym typeface="Rubik"/>
              </a:rPr>
              <a:t>kf_product.csv: Details product information, including </a:t>
            </a:r>
            <a:r>
              <a:rPr lang="en-US" sz="1100" b="1" dirty="0" err="1">
                <a:latin typeface="Rubik"/>
                <a:ea typeface="Rubik"/>
                <a:cs typeface="Rubik"/>
                <a:sym typeface="Rubik"/>
              </a:rPr>
              <a:t>product_id</a:t>
            </a:r>
            <a:r>
              <a:rPr lang="en-US" sz="1100" b="1" dirty="0">
                <a:latin typeface="Rubik"/>
                <a:ea typeface="Rubik"/>
                <a:cs typeface="Rubik"/>
                <a:sym typeface="Rubik"/>
              </a:rPr>
              <a:t>, </a:t>
            </a:r>
            <a:r>
              <a:rPr lang="en-US" sz="1100" b="1" dirty="0" err="1">
                <a:latin typeface="Rubik"/>
                <a:ea typeface="Rubik"/>
                <a:cs typeface="Rubik"/>
                <a:sym typeface="Rubik"/>
              </a:rPr>
              <a:t>product_name</a:t>
            </a:r>
            <a:r>
              <a:rPr lang="en-US" sz="1100" b="1" dirty="0">
                <a:latin typeface="Rubik"/>
                <a:ea typeface="Rubik"/>
                <a:cs typeface="Rubik"/>
                <a:sym typeface="Rubik"/>
              </a:rPr>
              <a:t>, and </a:t>
            </a:r>
            <a:r>
              <a:rPr lang="en-US" sz="1100" b="1" dirty="0" err="1">
                <a:latin typeface="Rubik"/>
                <a:ea typeface="Rubik"/>
                <a:cs typeface="Rubik"/>
                <a:sym typeface="Rubik"/>
              </a:rPr>
              <a:t>product_category</a:t>
            </a:r>
            <a:r>
              <a:rPr lang="en-US" sz="1100" b="1" dirty="0">
                <a:latin typeface="Rubik"/>
                <a:ea typeface="Rubik"/>
                <a:cs typeface="Rubik"/>
                <a:sym typeface="Rubik"/>
              </a:rPr>
              <a:t>.</a:t>
            </a:r>
          </a:p>
          <a:p>
            <a:pPr marL="0" marR="0" lvl="0" indent="0" algn="just" rtl="0">
              <a:lnSpc>
                <a:spcPct val="150000"/>
              </a:lnSpc>
              <a:spcBef>
                <a:spcPts val="0"/>
              </a:spcBef>
              <a:spcAft>
                <a:spcPts val="0"/>
              </a:spcAft>
              <a:buClr>
                <a:schemeClr val="dk1"/>
              </a:buClr>
              <a:buSzPts val="1100"/>
              <a:buFont typeface="Arial"/>
              <a:buNone/>
            </a:pPr>
            <a:r>
              <a:rPr lang="en-US" sz="1100" b="1" dirty="0">
                <a:latin typeface="Rubik"/>
                <a:ea typeface="Rubik"/>
                <a:cs typeface="Rubik"/>
                <a:sym typeface="Rubik"/>
              </a:rPr>
              <a:t>Problem Statement: Develop an interactive dashboard using </a:t>
            </a:r>
            <a:r>
              <a:rPr lang="en-US" sz="1100" b="1" dirty="0" err="1">
                <a:latin typeface="Rubik"/>
                <a:ea typeface="Rubik"/>
                <a:cs typeface="Rubik"/>
                <a:sym typeface="Rubik"/>
              </a:rPr>
              <a:t>BigQuery</a:t>
            </a:r>
            <a:r>
              <a:rPr lang="en-US" sz="1100" b="1" dirty="0">
                <a:latin typeface="Rubik"/>
                <a:ea typeface="Rubik"/>
                <a:cs typeface="Rubik"/>
                <a:sym typeface="Rubik"/>
              </a:rPr>
              <a:t> and Google Looker Studio to analyze Kimia </a:t>
            </a:r>
            <a:r>
              <a:rPr lang="en-US" sz="1100" b="1" dirty="0" err="1">
                <a:latin typeface="Rubik"/>
                <a:ea typeface="Rubik"/>
                <a:cs typeface="Rubik"/>
                <a:sym typeface="Rubik"/>
              </a:rPr>
              <a:t>Farma’s</a:t>
            </a:r>
            <a:r>
              <a:rPr lang="en-US" sz="1100" b="1" dirty="0">
                <a:latin typeface="Rubik"/>
                <a:ea typeface="Rubik"/>
                <a:cs typeface="Rubik"/>
                <a:sym typeface="Rubik"/>
              </a:rPr>
              <a:t> business performance from 2020 to 2023, focusing on net sales, net profit, transaction volume, and regional performance to provide actionable insights for strategic decision-making.</a:t>
            </a:r>
            <a:endParaRPr sz="1100" b="0" i="0" u="none" strike="noStrike" cap="none" dirty="0">
              <a:solidFill>
                <a:srgbClr val="000000"/>
              </a:solidFill>
              <a:latin typeface="Rubik"/>
              <a:ea typeface="Rubik"/>
              <a:cs typeface="Rubik"/>
              <a:sym typeface="Rubik"/>
            </a:endParaRPr>
          </a:p>
        </p:txBody>
      </p:sp>
      <p:sp>
        <p:nvSpPr>
          <p:cNvPr id="112" name="Google Shape;112;g265ee868302_0_99"/>
          <p:cNvSpPr txBox="1"/>
          <p:nvPr/>
        </p:nvSpPr>
        <p:spPr>
          <a:xfrm>
            <a:off x="340500" y="451680"/>
            <a:ext cx="8463000" cy="646500"/>
          </a:xfrm>
          <a:prstGeom prst="rect">
            <a:avLst/>
          </a:prstGeom>
          <a:noFill/>
          <a:ln>
            <a:noFill/>
          </a:ln>
          <a:effectLst>
            <a:outerShdw blurRad="57150" dist="19050" dir="2820000" algn="bl" rotWithShape="0">
              <a:srgbClr val="B7B7B7">
                <a:alpha val="85490"/>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5000"/>
              <a:buFont typeface="Arial"/>
              <a:buNone/>
            </a:pPr>
            <a:r>
              <a:rPr lang="en" sz="3000" b="1" dirty="0">
                <a:latin typeface="Rubik"/>
                <a:ea typeface="Rubik"/>
                <a:cs typeface="Rubik"/>
                <a:sym typeface="Rubik"/>
              </a:rPr>
              <a:t>Project </a:t>
            </a:r>
            <a:r>
              <a:rPr lang="en" sz="3000" b="1" dirty="0">
                <a:solidFill>
                  <a:schemeClr val="accent5"/>
                </a:solidFill>
                <a:latin typeface="Rubik"/>
                <a:ea typeface="Rubik"/>
                <a:cs typeface="Rubik"/>
                <a:sym typeface="Rubik"/>
              </a:rPr>
              <a:t>Portfolio</a:t>
            </a:r>
            <a:endParaRPr sz="3000" b="1" i="0" u="none" strike="noStrike" cap="none" dirty="0">
              <a:solidFill>
                <a:schemeClr val="accent5"/>
              </a:solidFill>
              <a:latin typeface="Rubik"/>
              <a:ea typeface="Rubik"/>
              <a:cs typeface="Rubik"/>
              <a:sym typeface="Rubik"/>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g23ec2985a68_1_33"/>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19" name="Google Shape;119;g23ec2985a68_1_33"/>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20" name="Google Shape;120;g23ec2985a68_1_33"/>
          <p:cNvSpPr txBox="1"/>
          <p:nvPr/>
        </p:nvSpPr>
        <p:spPr>
          <a:xfrm>
            <a:off x="340500" y="452038"/>
            <a:ext cx="8463000" cy="600300"/>
          </a:xfrm>
          <a:prstGeom prst="rect">
            <a:avLst/>
          </a:prstGeom>
          <a:noFill/>
          <a:ln>
            <a:noFill/>
          </a:ln>
          <a:effectLst>
            <a:outerShdw blurRad="57150" dist="19050" dir="2820000" algn="bl" rotWithShape="0">
              <a:srgbClr val="B7B7B7">
                <a:alpha val="8549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a:pPr>
            <a:r>
              <a:rPr lang="en" sz="2700" b="1">
                <a:latin typeface="Rubik"/>
                <a:ea typeface="Rubik"/>
                <a:cs typeface="Rubik"/>
                <a:sym typeface="Rubik"/>
              </a:rPr>
              <a:t>Importing Dataset to BigQuery</a:t>
            </a:r>
            <a:endParaRPr sz="2700" b="1" i="0" u="none" strike="noStrike" cap="none">
              <a:solidFill>
                <a:srgbClr val="000000"/>
              </a:solidFill>
              <a:latin typeface="Rubik"/>
              <a:ea typeface="Rubik"/>
              <a:cs typeface="Rubik"/>
              <a:sym typeface="Rubik"/>
            </a:endParaRPr>
          </a:p>
        </p:txBody>
      </p:sp>
      <p:sp>
        <p:nvSpPr>
          <p:cNvPr id="121" name="Google Shape;121;g23ec2985a68_1_33"/>
          <p:cNvSpPr txBox="1"/>
          <p:nvPr/>
        </p:nvSpPr>
        <p:spPr>
          <a:xfrm>
            <a:off x="431940" y="1324685"/>
            <a:ext cx="8463000" cy="1846629"/>
          </a:xfrm>
          <a:prstGeom prst="rect">
            <a:avLst/>
          </a:prstGeom>
          <a:noFill/>
          <a:ln>
            <a:noFill/>
          </a:ln>
          <a:effectLst>
            <a:outerShdw blurRad="57150" dist="19050" dir="2820000" algn="bl" rotWithShape="0">
              <a:srgbClr val="B7B7B7">
                <a:alpha val="85490"/>
              </a:srgbClr>
            </a:outerShdw>
          </a:effectLst>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chemeClr val="dk1"/>
              </a:buClr>
              <a:buSzPts val="1400"/>
              <a:buFont typeface="Arial"/>
              <a:buNone/>
            </a:pPr>
            <a:r>
              <a:rPr lang="en-US" sz="1200" b="1" i="0" u="none" strike="noStrike" cap="none" dirty="0">
                <a:solidFill>
                  <a:schemeClr val="dk1"/>
                </a:solidFill>
                <a:latin typeface="Rubik"/>
                <a:ea typeface="Rubik"/>
                <a:cs typeface="Rubik"/>
                <a:sym typeface="Rubik"/>
              </a:rPr>
              <a:t>Datasets Imported</a:t>
            </a:r>
            <a:r>
              <a:rPr lang="en-US" sz="1200" b="0" i="0" u="none" strike="noStrike" cap="none" dirty="0">
                <a:solidFill>
                  <a:schemeClr val="dk1"/>
                </a:solidFill>
                <a:latin typeface="Rubik"/>
                <a:ea typeface="Rubik"/>
                <a:cs typeface="Rubik"/>
                <a:sym typeface="Rubik"/>
              </a:rPr>
              <a:t>:</a:t>
            </a:r>
          </a:p>
          <a:p>
            <a:pPr marL="171450" marR="0" lvl="0" indent="-171450" algn="l" rtl="0">
              <a:lnSpc>
                <a:spcPct val="150000"/>
              </a:lnSpc>
              <a:spcBef>
                <a:spcPts val="0"/>
              </a:spcBef>
              <a:spcAft>
                <a:spcPts val="0"/>
              </a:spcAft>
              <a:buClr>
                <a:schemeClr val="dk1"/>
              </a:buClr>
              <a:buSzPts val="1400"/>
              <a:buFont typeface="Arial" panose="020B0604020202020204" pitchFamily="34" charset="0"/>
              <a:buChar char="•"/>
            </a:pPr>
            <a:r>
              <a:rPr lang="en-US" sz="1200" b="0" i="0" u="none" strike="noStrike" cap="none" dirty="0">
                <a:solidFill>
                  <a:schemeClr val="dk1"/>
                </a:solidFill>
                <a:latin typeface="Rubik"/>
                <a:ea typeface="Rubik"/>
                <a:cs typeface="Rubik"/>
                <a:sym typeface="Rubik"/>
              </a:rPr>
              <a:t>kf_final_transaction.csv → Table: </a:t>
            </a:r>
            <a:r>
              <a:rPr lang="en-US" sz="1200" b="0" i="0" u="none" strike="noStrike" cap="none" dirty="0" err="1">
                <a:solidFill>
                  <a:schemeClr val="dk1"/>
                </a:solidFill>
                <a:latin typeface="Rubik"/>
                <a:ea typeface="Rubik"/>
                <a:cs typeface="Rubik"/>
                <a:sym typeface="Rubik"/>
              </a:rPr>
              <a:t>kf_final_transaction</a:t>
            </a:r>
            <a:endParaRPr lang="en-US" sz="1200" b="0" i="0" u="none" strike="noStrike" cap="none" dirty="0">
              <a:solidFill>
                <a:schemeClr val="dk1"/>
              </a:solidFill>
              <a:latin typeface="Rubik"/>
              <a:ea typeface="Rubik"/>
              <a:cs typeface="Rubik"/>
              <a:sym typeface="Rubik"/>
            </a:endParaRPr>
          </a:p>
          <a:p>
            <a:pPr marL="171450" marR="0" lvl="0" indent="-171450" algn="l" rtl="0">
              <a:lnSpc>
                <a:spcPct val="150000"/>
              </a:lnSpc>
              <a:spcBef>
                <a:spcPts val="0"/>
              </a:spcBef>
              <a:spcAft>
                <a:spcPts val="0"/>
              </a:spcAft>
              <a:buClr>
                <a:schemeClr val="dk1"/>
              </a:buClr>
              <a:buSzPts val="1400"/>
              <a:buFont typeface="Arial" panose="020B0604020202020204" pitchFamily="34" charset="0"/>
              <a:buChar char="•"/>
            </a:pPr>
            <a:r>
              <a:rPr lang="en-US" sz="1200" b="0" i="0" u="none" strike="noStrike" cap="none" dirty="0">
                <a:solidFill>
                  <a:schemeClr val="dk1"/>
                </a:solidFill>
                <a:latin typeface="Rubik"/>
                <a:ea typeface="Rubik"/>
                <a:cs typeface="Rubik"/>
                <a:sym typeface="Rubik"/>
              </a:rPr>
              <a:t>kf_inventory.csv → Table: </a:t>
            </a:r>
            <a:r>
              <a:rPr lang="en-US" sz="1200" b="0" i="0" u="none" strike="noStrike" cap="none" dirty="0" err="1">
                <a:solidFill>
                  <a:schemeClr val="dk1"/>
                </a:solidFill>
                <a:latin typeface="Rubik"/>
                <a:ea typeface="Rubik"/>
                <a:cs typeface="Rubik"/>
                <a:sym typeface="Rubik"/>
              </a:rPr>
              <a:t>kf_inventory</a:t>
            </a:r>
            <a:endParaRPr lang="en-US" sz="1200" b="0" i="0" u="none" strike="noStrike" cap="none" dirty="0">
              <a:solidFill>
                <a:schemeClr val="dk1"/>
              </a:solidFill>
              <a:latin typeface="Rubik"/>
              <a:ea typeface="Rubik"/>
              <a:cs typeface="Rubik"/>
              <a:sym typeface="Rubik"/>
            </a:endParaRPr>
          </a:p>
          <a:p>
            <a:pPr marL="171450" marR="0" lvl="0" indent="-171450" algn="l" rtl="0">
              <a:lnSpc>
                <a:spcPct val="150000"/>
              </a:lnSpc>
              <a:spcBef>
                <a:spcPts val="0"/>
              </a:spcBef>
              <a:spcAft>
                <a:spcPts val="0"/>
              </a:spcAft>
              <a:buClr>
                <a:schemeClr val="dk1"/>
              </a:buClr>
              <a:buSzPts val="1400"/>
              <a:buFont typeface="Arial" panose="020B0604020202020204" pitchFamily="34" charset="0"/>
              <a:buChar char="•"/>
            </a:pPr>
            <a:r>
              <a:rPr lang="en-US" sz="1200" b="0" i="0" u="none" strike="noStrike" cap="none" dirty="0">
                <a:solidFill>
                  <a:schemeClr val="dk1"/>
                </a:solidFill>
                <a:latin typeface="Rubik"/>
                <a:ea typeface="Rubik"/>
                <a:cs typeface="Rubik"/>
                <a:sym typeface="Rubik"/>
              </a:rPr>
              <a:t>kf_kantor_cabang.csv → Table: </a:t>
            </a:r>
            <a:r>
              <a:rPr lang="en-US" sz="1200" b="0" i="0" u="none" strike="noStrike" cap="none" dirty="0" err="1">
                <a:solidFill>
                  <a:schemeClr val="dk1"/>
                </a:solidFill>
                <a:latin typeface="Rubik"/>
                <a:ea typeface="Rubik"/>
                <a:cs typeface="Rubik"/>
                <a:sym typeface="Rubik"/>
              </a:rPr>
              <a:t>kf_kantor_cabang</a:t>
            </a:r>
            <a:endParaRPr lang="en-US" sz="1200" b="0" i="0" u="none" strike="noStrike" cap="none" dirty="0">
              <a:solidFill>
                <a:schemeClr val="dk1"/>
              </a:solidFill>
              <a:latin typeface="Rubik"/>
              <a:ea typeface="Rubik"/>
              <a:cs typeface="Rubik"/>
              <a:sym typeface="Rubik"/>
            </a:endParaRPr>
          </a:p>
          <a:p>
            <a:pPr marL="171450" marR="0" lvl="0" indent="-171450" algn="l" rtl="0">
              <a:lnSpc>
                <a:spcPct val="150000"/>
              </a:lnSpc>
              <a:spcBef>
                <a:spcPts val="0"/>
              </a:spcBef>
              <a:spcAft>
                <a:spcPts val="0"/>
              </a:spcAft>
              <a:buClr>
                <a:schemeClr val="dk1"/>
              </a:buClr>
              <a:buSzPts val="1400"/>
              <a:buFont typeface="Arial" panose="020B0604020202020204" pitchFamily="34" charset="0"/>
              <a:buChar char="•"/>
            </a:pPr>
            <a:r>
              <a:rPr lang="en-US" sz="1200" b="0" i="0" u="none" strike="noStrike" cap="none" dirty="0">
                <a:solidFill>
                  <a:schemeClr val="dk1"/>
                </a:solidFill>
                <a:latin typeface="Rubik"/>
                <a:ea typeface="Rubik"/>
                <a:cs typeface="Rubik"/>
                <a:sym typeface="Rubik"/>
              </a:rPr>
              <a:t>kf_product.csv → Table: </a:t>
            </a:r>
            <a:r>
              <a:rPr lang="en-US" sz="1200" b="0" i="0" u="none" strike="noStrike" cap="none" dirty="0" err="1">
                <a:solidFill>
                  <a:schemeClr val="dk1"/>
                </a:solidFill>
                <a:latin typeface="Rubik"/>
                <a:ea typeface="Rubik"/>
                <a:cs typeface="Rubik"/>
                <a:sym typeface="Rubik"/>
              </a:rPr>
              <a:t>kf_product</a:t>
            </a:r>
            <a:endParaRPr lang="en-US" sz="1200" b="0" i="0" u="none" strike="noStrike" cap="none" dirty="0">
              <a:solidFill>
                <a:schemeClr val="dk1"/>
              </a:solidFill>
              <a:latin typeface="Rubik"/>
              <a:ea typeface="Rubik"/>
              <a:cs typeface="Rubik"/>
              <a:sym typeface="Rubik"/>
            </a:endParaRPr>
          </a:p>
          <a:p>
            <a:pPr marR="0" lvl="0" algn="l" rtl="0">
              <a:lnSpc>
                <a:spcPct val="150000"/>
              </a:lnSpc>
              <a:spcBef>
                <a:spcPts val="0"/>
              </a:spcBef>
              <a:spcAft>
                <a:spcPts val="0"/>
              </a:spcAft>
              <a:buClr>
                <a:schemeClr val="dk1"/>
              </a:buClr>
              <a:buSzPts val="1400"/>
            </a:pPr>
            <a:r>
              <a:rPr lang="en-US" sz="1200" b="1" dirty="0">
                <a:solidFill>
                  <a:schemeClr val="dk1"/>
                </a:solidFill>
                <a:latin typeface="Rubik"/>
                <a:ea typeface="Rubik"/>
                <a:cs typeface="Rubik"/>
                <a:sym typeface="Rubik"/>
              </a:rPr>
              <a:t>SQL</a:t>
            </a:r>
            <a:r>
              <a:rPr lang="en-US" sz="1200" b="0" i="0" u="none" strike="noStrike" cap="none" dirty="0">
                <a:solidFill>
                  <a:schemeClr val="dk1"/>
                </a:solidFill>
                <a:latin typeface="Rubik"/>
                <a:ea typeface="Rubik"/>
                <a:cs typeface="Rubik"/>
                <a:sym typeface="Rubik"/>
              </a:rPr>
              <a:t>:</a:t>
            </a:r>
            <a:endParaRPr lang="en-US" sz="1200" dirty="0">
              <a:solidFill>
                <a:schemeClr val="dk1"/>
              </a:solidFill>
              <a:latin typeface="Rubik"/>
              <a:ea typeface="Rubik"/>
              <a:cs typeface="Rubik"/>
              <a:sym typeface="Rubik"/>
            </a:endParaRPr>
          </a:p>
        </p:txBody>
      </p:sp>
      <p:graphicFrame>
        <p:nvGraphicFramePr>
          <p:cNvPr id="4" name="Table 4">
            <a:extLst>
              <a:ext uri="{FF2B5EF4-FFF2-40B4-BE49-F238E27FC236}">
                <a16:creationId xmlns:a16="http://schemas.microsoft.com/office/drawing/2014/main" id="{02456993-4AF6-43B1-841A-8309D4FC2585}"/>
              </a:ext>
            </a:extLst>
          </p:cNvPr>
          <p:cNvGraphicFramePr>
            <a:graphicFrameLocks noGrp="1"/>
          </p:cNvGraphicFramePr>
          <p:nvPr>
            <p:extLst>
              <p:ext uri="{D42A27DB-BD31-4B8C-83A1-F6EECF244321}">
                <p14:modId xmlns:p14="http://schemas.microsoft.com/office/powerpoint/2010/main" val="2928959395"/>
              </p:ext>
            </p:extLst>
          </p:nvPr>
        </p:nvGraphicFramePr>
        <p:xfrm>
          <a:off x="519952" y="3126336"/>
          <a:ext cx="6412007" cy="537852"/>
        </p:xfrm>
        <a:graphic>
          <a:graphicData uri="http://schemas.openxmlformats.org/drawingml/2006/table">
            <a:tbl>
              <a:tblPr firstRow="1" bandRow="1">
                <a:tableStyleId>{D7AC3CCA-C797-4891-BE02-D94E43425B78}</a:tableStyleId>
              </a:tblPr>
              <a:tblGrid>
                <a:gridCol w="6412007">
                  <a:extLst>
                    <a:ext uri="{9D8B030D-6E8A-4147-A177-3AD203B41FA5}">
                      <a16:colId xmlns:a16="http://schemas.microsoft.com/office/drawing/2014/main" val="1240212624"/>
                    </a:ext>
                  </a:extLst>
                </a:gridCol>
              </a:tblGrid>
              <a:tr h="537852">
                <a:tc>
                  <a:txBody>
                    <a:bodyPr/>
                    <a:lstStyle/>
                    <a:p>
                      <a:r>
                        <a:rPr lang="en-US" sz="1200" dirty="0"/>
                        <a:t>SELECT </a:t>
                      </a:r>
                      <a:r>
                        <a:rPr lang="en-US" sz="1200" dirty="0" err="1"/>
                        <a:t>table_name</a:t>
                      </a:r>
                      <a:r>
                        <a:rPr lang="en-US" sz="1200" dirty="0"/>
                        <a:t> </a:t>
                      </a:r>
                    </a:p>
                    <a:p>
                      <a:r>
                        <a:rPr lang="en-US" sz="1200" dirty="0"/>
                        <a:t>FROM `</a:t>
                      </a:r>
                      <a:r>
                        <a:rPr lang="en-US" sz="1200" dirty="0" err="1"/>
                        <a:t>Rakamin_KF_Analytics.kimia_farma.INFORMATION_SCHEMA.TABLES</a:t>
                      </a:r>
                      <a:r>
                        <a:rPr lang="en-US" sz="1200" dirty="0"/>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4461186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6" name="Google Shape;126;g23ec2985a68_1_42"/>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27" name="Google Shape;127;g23ec2985a68_1_42"/>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28" name="Google Shape;128;g23ec2985a68_1_42"/>
          <p:cNvSpPr txBox="1"/>
          <p:nvPr/>
        </p:nvSpPr>
        <p:spPr>
          <a:xfrm>
            <a:off x="340500" y="452038"/>
            <a:ext cx="8463000" cy="600300"/>
          </a:xfrm>
          <a:prstGeom prst="rect">
            <a:avLst/>
          </a:prstGeom>
          <a:noFill/>
          <a:ln>
            <a:noFill/>
          </a:ln>
          <a:effectLst>
            <a:outerShdw blurRad="57150" dist="19050" dir="2820000" algn="bl" rotWithShape="0">
              <a:srgbClr val="B7B7B7">
                <a:alpha val="8549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2"/>
            </a:pPr>
            <a:r>
              <a:rPr lang="en" sz="2700" b="1">
                <a:latin typeface="Rubik"/>
                <a:ea typeface="Rubik"/>
                <a:cs typeface="Rubik"/>
                <a:sym typeface="Rubik"/>
              </a:rPr>
              <a:t>Tabel Analisa</a:t>
            </a:r>
            <a:endParaRPr sz="2700" b="1" i="0" u="none" strike="noStrike" cap="none">
              <a:solidFill>
                <a:srgbClr val="000000"/>
              </a:solidFill>
              <a:latin typeface="Rubik"/>
              <a:ea typeface="Rubik"/>
              <a:cs typeface="Rubik"/>
              <a:sym typeface="Rubik"/>
            </a:endParaRPr>
          </a:p>
        </p:txBody>
      </p:sp>
      <p:graphicFrame>
        <p:nvGraphicFramePr>
          <p:cNvPr id="2" name="Table 2">
            <a:extLst>
              <a:ext uri="{FF2B5EF4-FFF2-40B4-BE49-F238E27FC236}">
                <a16:creationId xmlns:a16="http://schemas.microsoft.com/office/drawing/2014/main" id="{08A28807-5911-45B9-81E2-2C7C728398BE}"/>
              </a:ext>
            </a:extLst>
          </p:cNvPr>
          <p:cNvGraphicFramePr>
            <a:graphicFrameLocks noGrp="1"/>
          </p:cNvGraphicFramePr>
          <p:nvPr>
            <p:extLst>
              <p:ext uri="{D42A27DB-BD31-4B8C-83A1-F6EECF244321}">
                <p14:modId xmlns:p14="http://schemas.microsoft.com/office/powerpoint/2010/main" val="304597225"/>
              </p:ext>
            </p:extLst>
          </p:nvPr>
        </p:nvGraphicFramePr>
        <p:xfrm>
          <a:off x="3409407" y="261257"/>
          <a:ext cx="3908194" cy="4696617"/>
        </p:xfrm>
        <a:graphic>
          <a:graphicData uri="http://schemas.openxmlformats.org/drawingml/2006/table">
            <a:tbl>
              <a:tblPr firstRow="1" bandRow="1">
                <a:tableStyleId>{7DF18680-E054-41AD-8BC1-D1AEF772440D}</a:tableStyleId>
              </a:tblPr>
              <a:tblGrid>
                <a:gridCol w="3908194">
                  <a:extLst>
                    <a:ext uri="{9D8B030D-6E8A-4147-A177-3AD203B41FA5}">
                      <a16:colId xmlns:a16="http://schemas.microsoft.com/office/drawing/2014/main" val="3273199954"/>
                    </a:ext>
                  </a:extLst>
                </a:gridCol>
              </a:tblGrid>
              <a:tr h="4696617">
                <a:tc>
                  <a:txBody>
                    <a:bodyPr/>
                    <a:lstStyle/>
                    <a:p>
                      <a:r>
                        <a:rPr lang="en-US" sz="800" dirty="0">
                          <a:solidFill>
                            <a:schemeClr val="tx1"/>
                          </a:solidFill>
                        </a:rPr>
                        <a:t>CREATE TABLE `</a:t>
                      </a:r>
                      <a:r>
                        <a:rPr lang="en-US" sz="800" dirty="0" err="1">
                          <a:solidFill>
                            <a:schemeClr val="tx1"/>
                          </a:solidFill>
                        </a:rPr>
                        <a:t>Rakamin_KF_Analytics.kimia_farma.analisa</a:t>
                      </a:r>
                      <a:r>
                        <a:rPr lang="en-US" sz="800" dirty="0">
                          <a:solidFill>
                            <a:schemeClr val="tx1"/>
                          </a:solidFill>
                        </a:rPr>
                        <a:t>` AS</a:t>
                      </a:r>
                    </a:p>
                    <a:p>
                      <a:r>
                        <a:rPr lang="en-US" sz="800" dirty="0">
                          <a:solidFill>
                            <a:schemeClr val="tx1"/>
                          </a:solidFill>
                        </a:rPr>
                        <a:t>SELECT </a:t>
                      </a:r>
                    </a:p>
                    <a:p>
                      <a:r>
                        <a:rPr lang="en-US" sz="800" dirty="0">
                          <a:solidFill>
                            <a:schemeClr val="tx1"/>
                          </a:solidFill>
                        </a:rPr>
                        <a:t>    </a:t>
                      </a:r>
                      <a:r>
                        <a:rPr lang="en-US" sz="800" dirty="0" err="1">
                          <a:solidFill>
                            <a:schemeClr val="tx1"/>
                          </a:solidFill>
                        </a:rPr>
                        <a:t>t.transaction_id</a:t>
                      </a:r>
                      <a:r>
                        <a:rPr lang="en-US" sz="800" dirty="0">
                          <a:solidFill>
                            <a:schemeClr val="tx1"/>
                          </a:solidFill>
                        </a:rPr>
                        <a:t>,</a:t>
                      </a:r>
                    </a:p>
                    <a:p>
                      <a:r>
                        <a:rPr lang="en-US" sz="800" dirty="0">
                          <a:solidFill>
                            <a:schemeClr val="tx1"/>
                          </a:solidFill>
                        </a:rPr>
                        <a:t>    </a:t>
                      </a:r>
                      <a:r>
                        <a:rPr lang="en-US" sz="800" dirty="0" err="1">
                          <a:solidFill>
                            <a:schemeClr val="tx1"/>
                          </a:solidFill>
                        </a:rPr>
                        <a:t>t.date</a:t>
                      </a:r>
                      <a:r>
                        <a:rPr lang="en-US" sz="800" dirty="0">
                          <a:solidFill>
                            <a:schemeClr val="tx1"/>
                          </a:solidFill>
                        </a:rPr>
                        <a:t>,</a:t>
                      </a:r>
                    </a:p>
                    <a:p>
                      <a:r>
                        <a:rPr lang="en-US" sz="800" dirty="0">
                          <a:solidFill>
                            <a:schemeClr val="tx1"/>
                          </a:solidFill>
                        </a:rPr>
                        <a:t>    </a:t>
                      </a:r>
                      <a:r>
                        <a:rPr lang="en-US" sz="800" dirty="0" err="1">
                          <a:solidFill>
                            <a:schemeClr val="tx1"/>
                          </a:solidFill>
                        </a:rPr>
                        <a:t>t.branch_id</a:t>
                      </a:r>
                      <a:r>
                        <a:rPr lang="en-US" sz="800" dirty="0">
                          <a:solidFill>
                            <a:schemeClr val="tx1"/>
                          </a:solidFill>
                        </a:rPr>
                        <a:t>,</a:t>
                      </a:r>
                    </a:p>
                    <a:p>
                      <a:r>
                        <a:rPr lang="en-US" sz="800" dirty="0">
                          <a:solidFill>
                            <a:schemeClr val="tx1"/>
                          </a:solidFill>
                        </a:rPr>
                        <a:t>    </a:t>
                      </a:r>
                      <a:r>
                        <a:rPr lang="en-US" sz="800" dirty="0" err="1">
                          <a:solidFill>
                            <a:schemeClr val="tx1"/>
                          </a:solidFill>
                        </a:rPr>
                        <a:t>k.branch_name</a:t>
                      </a:r>
                      <a:r>
                        <a:rPr lang="en-US" sz="800" dirty="0">
                          <a:solidFill>
                            <a:schemeClr val="tx1"/>
                          </a:solidFill>
                        </a:rPr>
                        <a:t>,</a:t>
                      </a:r>
                    </a:p>
                    <a:p>
                      <a:r>
                        <a:rPr lang="en-US" sz="800" dirty="0">
                          <a:solidFill>
                            <a:schemeClr val="tx1"/>
                          </a:solidFill>
                        </a:rPr>
                        <a:t>    </a:t>
                      </a:r>
                      <a:r>
                        <a:rPr lang="en-US" sz="800" dirty="0" err="1">
                          <a:solidFill>
                            <a:schemeClr val="tx1"/>
                          </a:solidFill>
                        </a:rPr>
                        <a:t>k.kota</a:t>
                      </a:r>
                      <a:r>
                        <a:rPr lang="en-US" sz="800" dirty="0">
                          <a:solidFill>
                            <a:schemeClr val="tx1"/>
                          </a:solidFill>
                        </a:rPr>
                        <a:t>,</a:t>
                      </a:r>
                    </a:p>
                    <a:p>
                      <a:r>
                        <a:rPr lang="en-US" sz="800" dirty="0">
                          <a:solidFill>
                            <a:schemeClr val="tx1"/>
                          </a:solidFill>
                        </a:rPr>
                        <a:t>    </a:t>
                      </a:r>
                      <a:r>
                        <a:rPr lang="en-US" sz="800" dirty="0" err="1">
                          <a:solidFill>
                            <a:schemeClr val="tx1"/>
                          </a:solidFill>
                        </a:rPr>
                        <a:t>k.provinsi</a:t>
                      </a:r>
                      <a:r>
                        <a:rPr lang="en-US" sz="800" dirty="0">
                          <a:solidFill>
                            <a:schemeClr val="tx1"/>
                          </a:solidFill>
                        </a:rPr>
                        <a:t>,</a:t>
                      </a:r>
                    </a:p>
                    <a:p>
                      <a:r>
                        <a:rPr lang="en-US" sz="800" dirty="0">
                          <a:solidFill>
                            <a:schemeClr val="tx1"/>
                          </a:solidFill>
                        </a:rPr>
                        <a:t>    </a:t>
                      </a:r>
                      <a:r>
                        <a:rPr lang="en-US" sz="800" dirty="0" err="1">
                          <a:solidFill>
                            <a:schemeClr val="tx1"/>
                          </a:solidFill>
                        </a:rPr>
                        <a:t>k.rating</a:t>
                      </a:r>
                      <a:r>
                        <a:rPr lang="en-US" sz="800" dirty="0">
                          <a:solidFill>
                            <a:schemeClr val="tx1"/>
                          </a:solidFill>
                        </a:rPr>
                        <a:t> AS </a:t>
                      </a:r>
                      <a:r>
                        <a:rPr lang="en-US" sz="800" dirty="0" err="1">
                          <a:solidFill>
                            <a:schemeClr val="tx1"/>
                          </a:solidFill>
                        </a:rPr>
                        <a:t>rating_cabang</a:t>
                      </a:r>
                      <a:r>
                        <a:rPr lang="en-US" sz="800" dirty="0">
                          <a:solidFill>
                            <a:schemeClr val="tx1"/>
                          </a:solidFill>
                        </a:rPr>
                        <a:t>,</a:t>
                      </a:r>
                    </a:p>
                    <a:p>
                      <a:r>
                        <a:rPr lang="en-US" sz="800" dirty="0">
                          <a:solidFill>
                            <a:schemeClr val="tx1"/>
                          </a:solidFill>
                        </a:rPr>
                        <a:t>    </a:t>
                      </a:r>
                      <a:r>
                        <a:rPr lang="en-US" sz="800" dirty="0" err="1">
                          <a:solidFill>
                            <a:schemeClr val="tx1"/>
                          </a:solidFill>
                        </a:rPr>
                        <a:t>t.customer_name</a:t>
                      </a:r>
                      <a:r>
                        <a:rPr lang="en-US" sz="800" dirty="0">
                          <a:solidFill>
                            <a:schemeClr val="tx1"/>
                          </a:solidFill>
                        </a:rPr>
                        <a:t>,</a:t>
                      </a:r>
                    </a:p>
                    <a:p>
                      <a:r>
                        <a:rPr lang="en-US" sz="800" dirty="0">
                          <a:solidFill>
                            <a:schemeClr val="tx1"/>
                          </a:solidFill>
                        </a:rPr>
                        <a:t>    </a:t>
                      </a:r>
                      <a:r>
                        <a:rPr lang="en-US" sz="800" dirty="0" err="1">
                          <a:solidFill>
                            <a:schemeClr val="tx1"/>
                          </a:solidFill>
                        </a:rPr>
                        <a:t>t.product_id</a:t>
                      </a:r>
                      <a:r>
                        <a:rPr lang="en-US" sz="800" dirty="0">
                          <a:solidFill>
                            <a:schemeClr val="tx1"/>
                          </a:solidFill>
                        </a:rPr>
                        <a:t>,</a:t>
                      </a:r>
                    </a:p>
                    <a:p>
                      <a:r>
                        <a:rPr lang="en-US" sz="800" dirty="0">
                          <a:solidFill>
                            <a:schemeClr val="tx1"/>
                          </a:solidFill>
                        </a:rPr>
                        <a:t>    </a:t>
                      </a:r>
                      <a:r>
                        <a:rPr lang="en-US" sz="800" dirty="0" err="1">
                          <a:solidFill>
                            <a:schemeClr val="tx1"/>
                          </a:solidFill>
                        </a:rPr>
                        <a:t>p.product_name</a:t>
                      </a:r>
                      <a:r>
                        <a:rPr lang="en-US" sz="800" dirty="0">
                          <a:solidFill>
                            <a:schemeClr val="tx1"/>
                          </a:solidFill>
                        </a:rPr>
                        <a:t>,</a:t>
                      </a:r>
                    </a:p>
                    <a:p>
                      <a:r>
                        <a:rPr lang="en-US" sz="800" dirty="0">
                          <a:solidFill>
                            <a:schemeClr val="tx1"/>
                          </a:solidFill>
                        </a:rPr>
                        <a:t>    </a:t>
                      </a:r>
                      <a:r>
                        <a:rPr lang="en-US" sz="800" dirty="0" err="1">
                          <a:solidFill>
                            <a:schemeClr val="tx1"/>
                          </a:solidFill>
                        </a:rPr>
                        <a:t>t.price</a:t>
                      </a:r>
                      <a:r>
                        <a:rPr lang="en-US" sz="800" dirty="0">
                          <a:solidFill>
                            <a:schemeClr val="tx1"/>
                          </a:solidFill>
                        </a:rPr>
                        <a:t> AS </a:t>
                      </a:r>
                      <a:r>
                        <a:rPr lang="en-US" sz="800" dirty="0" err="1">
                          <a:solidFill>
                            <a:schemeClr val="tx1"/>
                          </a:solidFill>
                        </a:rPr>
                        <a:t>actual_price</a:t>
                      </a:r>
                      <a:r>
                        <a:rPr lang="en-US" sz="800" dirty="0">
                          <a:solidFill>
                            <a:schemeClr val="tx1"/>
                          </a:solidFill>
                        </a:rPr>
                        <a:t>,</a:t>
                      </a:r>
                    </a:p>
                    <a:p>
                      <a:r>
                        <a:rPr lang="en-US" sz="800" dirty="0">
                          <a:solidFill>
                            <a:schemeClr val="tx1"/>
                          </a:solidFill>
                        </a:rPr>
                        <a:t>    </a:t>
                      </a:r>
                      <a:r>
                        <a:rPr lang="en-US" sz="800" dirty="0" err="1">
                          <a:solidFill>
                            <a:schemeClr val="tx1"/>
                          </a:solidFill>
                        </a:rPr>
                        <a:t>t.discount_percentage</a:t>
                      </a:r>
                      <a:r>
                        <a:rPr lang="en-US" sz="800" dirty="0">
                          <a:solidFill>
                            <a:schemeClr val="tx1"/>
                          </a:solidFill>
                        </a:rPr>
                        <a:t>,</a:t>
                      </a:r>
                    </a:p>
                    <a:p>
                      <a:r>
                        <a:rPr lang="en-US" sz="800" dirty="0">
                          <a:solidFill>
                            <a:schemeClr val="tx1"/>
                          </a:solidFill>
                        </a:rPr>
                        <a:t>    CASE </a:t>
                      </a:r>
                    </a:p>
                    <a:p>
                      <a:r>
                        <a:rPr lang="en-US" sz="800" dirty="0">
                          <a:solidFill>
                            <a:schemeClr val="tx1"/>
                          </a:solidFill>
                        </a:rPr>
                        <a:t>        WHEN </a:t>
                      </a:r>
                      <a:r>
                        <a:rPr lang="en-US" sz="800" dirty="0" err="1">
                          <a:solidFill>
                            <a:schemeClr val="tx1"/>
                          </a:solidFill>
                        </a:rPr>
                        <a:t>t.price</a:t>
                      </a:r>
                      <a:r>
                        <a:rPr lang="en-US" sz="800" dirty="0">
                          <a:solidFill>
                            <a:schemeClr val="tx1"/>
                          </a:solidFill>
                        </a:rPr>
                        <a:t> &lt;= 50000 THEN 0.10</a:t>
                      </a:r>
                    </a:p>
                    <a:p>
                      <a:r>
                        <a:rPr lang="en-US" sz="800" dirty="0">
                          <a:solidFill>
                            <a:schemeClr val="tx1"/>
                          </a:solidFill>
                        </a:rPr>
                        <a:t>        WHEN </a:t>
                      </a:r>
                      <a:r>
                        <a:rPr lang="en-US" sz="800" dirty="0" err="1">
                          <a:solidFill>
                            <a:schemeClr val="tx1"/>
                          </a:solidFill>
                        </a:rPr>
                        <a:t>t.price</a:t>
                      </a:r>
                      <a:r>
                        <a:rPr lang="en-US" sz="800" dirty="0">
                          <a:solidFill>
                            <a:schemeClr val="tx1"/>
                          </a:solidFill>
                        </a:rPr>
                        <a:t> &gt; 50000 AND </a:t>
                      </a:r>
                      <a:r>
                        <a:rPr lang="en-US" sz="800" dirty="0" err="1">
                          <a:solidFill>
                            <a:schemeClr val="tx1"/>
                          </a:solidFill>
                        </a:rPr>
                        <a:t>t.price</a:t>
                      </a:r>
                      <a:r>
                        <a:rPr lang="en-US" sz="800" dirty="0">
                          <a:solidFill>
                            <a:schemeClr val="tx1"/>
                          </a:solidFill>
                        </a:rPr>
                        <a:t> &lt;= 100000 THEN 0.15</a:t>
                      </a:r>
                    </a:p>
                    <a:p>
                      <a:r>
                        <a:rPr lang="en-US" sz="800" dirty="0">
                          <a:solidFill>
                            <a:schemeClr val="tx1"/>
                          </a:solidFill>
                        </a:rPr>
                        <a:t>        WHEN </a:t>
                      </a:r>
                      <a:r>
                        <a:rPr lang="en-US" sz="800" dirty="0" err="1">
                          <a:solidFill>
                            <a:schemeClr val="tx1"/>
                          </a:solidFill>
                        </a:rPr>
                        <a:t>t.price</a:t>
                      </a:r>
                      <a:r>
                        <a:rPr lang="en-US" sz="800" dirty="0">
                          <a:solidFill>
                            <a:schemeClr val="tx1"/>
                          </a:solidFill>
                        </a:rPr>
                        <a:t> &gt; 100000 AND </a:t>
                      </a:r>
                      <a:r>
                        <a:rPr lang="en-US" sz="800" dirty="0" err="1">
                          <a:solidFill>
                            <a:schemeClr val="tx1"/>
                          </a:solidFill>
                        </a:rPr>
                        <a:t>t.price</a:t>
                      </a:r>
                      <a:r>
                        <a:rPr lang="en-US" sz="800" dirty="0">
                          <a:solidFill>
                            <a:schemeClr val="tx1"/>
                          </a:solidFill>
                        </a:rPr>
                        <a:t> &lt;= 300000 THEN 0.20</a:t>
                      </a:r>
                    </a:p>
                    <a:p>
                      <a:r>
                        <a:rPr lang="en-US" sz="800" dirty="0">
                          <a:solidFill>
                            <a:schemeClr val="tx1"/>
                          </a:solidFill>
                        </a:rPr>
                        <a:t>        WHEN </a:t>
                      </a:r>
                      <a:r>
                        <a:rPr lang="en-US" sz="800" dirty="0" err="1">
                          <a:solidFill>
                            <a:schemeClr val="tx1"/>
                          </a:solidFill>
                        </a:rPr>
                        <a:t>t.price</a:t>
                      </a:r>
                      <a:r>
                        <a:rPr lang="en-US" sz="800" dirty="0">
                          <a:solidFill>
                            <a:schemeClr val="tx1"/>
                          </a:solidFill>
                        </a:rPr>
                        <a:t> &gt; 300000 AND </a:t>
                      </a:r>
                      <a:r>
                        <a:rPr lang="en-US" sz="800" dirty="0" err="1">
                          <a:solidFill>
                            <a:schemeClr val="tx1"/>
                          </a:solidFill>
                        </a:rPr>
                        <a:t>t.price</a:t>
                      </a:r>
                      <a:r>
                        <a:rPr lang="en-US" sz="800" dirty="0">
                          <a:solidFill>
                            <a:schemeClr val="tx1"/>
                          </a:solidFill>
                        </a:rPr>
                        <a:t> &lt;= 500000 THEN 0.25</a:t>
                      </a:r>
                    </a:p>
                    <a:p>
                      <a:r>
                        <a:rPr lang="en-US" sz="800" dirty="0">
                          <a:solidFill>
                            <a:schemeClr val="tx1"/>
                          </a:solidFill>
                        </a:rPr>
                        <a:t>        WHEN </a:t>
                      </a:r>
                      <a:r>
                        <a:rPr lang="en-US" sz="800" dirty="0" err="1">
                          <a:solidFill>
                            <a:schemeClr val="tx1"/>
                          </a:solidFill>
                        </a:rPr>
                        <a:t>t.price</a:t>
                      </a:r>
                      <a:r>
                        <a:rPr lang="en-US" sz="800" dirty="0">
                          <a:solidFill>
                            <a:schemeClr val="tx1"/>
                          </a:solidFill>
                        </a:rPr>
                        <a:t> &gt; 500000 THEN 0.30</a:t>
                      </a:r>
                    </a:p>
                    <a:p>
                      <a:r>
                        <a:rPr lang="en-US" sz="800" dirty="0">
                          <a:solidFill>
                            <a:schemeClr val="tx1"/>
                          </a:solidFill>
                        </a:rPr>
                        <a:t>    END AS </a:t>
                      </a:r>
                      <a:r>
                        <a:rPr lang="en-US" sz="800" dirty="0" err="1">
                          <a:solidFill>
                            <a:schemeClr val="tx1"/>
                          </a:solidFill>
                        </a:rPr>
                        <a:t>persentase_gross_laba</a:t>
                      </a:r>
                      <a:r>
                        <a:rPr lang="en-US" sz="800" dirty="0">
                          <a:solidFill>
                            <a:schemeClr val="tx1"/>
                          </a:solidFill>
                        </a:rPr>
                        <a:t>,</a:t>
                      </a:r>
                    </a:p>
                    <a:p>
                      <a:r>
                        <a:rPr lang="en-US" sz="800" dirty="0">
                          <a:solidFill>
                            <a:schemeClr val="tx1"/>
                          </a:solidFill>
                        </a:rPr>
                        <a:t>    </a:t>
                      </a:r>
                      <a:r>
                        <a:rPr lang="en-US" sz="800" dirty="0" err="1">
                          <a:solidFill>
                            <a:schemeClr val="tx1"/>
                          </a:solidFill>
                        </a:rPr>
                        <a:t>t.price</a:t>
                      </a:r>
                      <a:r>
                        <a:rPr lang="en-US" sz="800" dirty="0">
                          <a:solidFill>
                            <a:schemeClr val="tx1"/>
                          </a:solidFill>
                        </a:rPr>
                        <a:t> * (1 - </a:t>
                      </a:r>
                      <a:r>
                        <a:rPr lang="en-US" sz="800" dirty="0" err="1">
                          <a:solidFill>
                            <a:schemeClr val="tx1"/>
                          </a:solidFill>
                        </a:rPr>
                        <a:t>t.discount_percentage</a:t>
                      </a:r>
                      <a:r>
                        <a:rPr lang="en-US" sz="800" dirty="0">
                          <a:solidFill>
                            <a:schemeClr val="tx1"/>
                          </a:solidFill>
                        </a:rPr>
                        <a:t>) AS </a:t>
                      </a:r>
                      <a:r>
                        <a:rPr lang="en-US" sz="800" dirty="0" err="1">
                          <a:solidFill>
                            <a:schemeClr val="tx1"/>
                          </a:solidFill>
                        </a:rPr>
                        <a:t>nett_sales</a:t>
                      </a:r>
                      <a:r>
                        <a:rPr lang="en-US" sz="800" dirty="0">
                          <a:solidFill>
                            <a:schemeClr val="tx1"/>
                          </a:solidFill>
                        </a:rPr>
                        <a:t>,</a:t>
                      </a:r>
                    </a:p>
                    <a:p>
                      <a:r>
                        <a:rPr lang="en-US" sz="800" dirty="0">
                          <a:solidFill>
                            <a:schemeClr val="tx1"/>
                          </a:solidFill>
                        </a:rPr>
                        <a:t>    (</a:t>
                      </a:r>
                      <a:r>
                        <a:rPr lang="en-US" sz="800" dirty="0" err="1">
                          <a:solidFill>
                            <a:schemeClr val="tx1"/>
                          </a:solidFill>
                        </a:rPr>
                        <a:t>t.price</a:t>
                      </a:r>
                      <a:r>
                        <a:rPr lang="en-US" sz="800" dirty="0">
                          <a:solidFill>
                            <a:schemeClr val="tx1"/>
                          </a:solidFill>
                        </a:rPr>
                        <a:t> * (1 - </a:t>
                      </a:r>
                      <a:r>
                        <a:rPr lang="en-US" sz="800" dirty="0" err="1">
                          <a:solidFill>
                            <a:schemeClr val="tx1"/>
                          </a:solidFill>
                        </a:rPr>
                        <a:t>t.discount_percentage</a:t>
                      </a:r>
                      <a:r>
                        <a:rPr lang="en-US" sz="800" dirty="0">
                          <a:solidFill>
                            <a:schemeClr val="tx1"/>
                          </a:solidFill>
                        </a:rPr>
                        <a:t>)) * </a:t>
                      </a:r>
                    </a:p>
                    <a:p>
                      <a:r>
                        <a:rPr lang="en-US" sz="800" dirty="0">
                          <a:solidFill>
                            <a:schemeClr val="tx1"/>
                          </a:solidFill>
                        </a:rPr>
                        <a:t>    CASE </a:t>
                      </a:r>
                    </a:p>
                    <a:p>
                      <a:r>
                        <a:rPr lang="en-US" sz="800" dirty="0">
                          <a:solidFill>
                            <a:schemeClr val="tx1"/>
                          </a:solidFill>
                        </a:rPr>
                        <a:t>        WHEN </a:t>
                      </a:r>
                      <a:r>
                        <a:rPr lang="en-US" sz="800" dirty="0" err="1">
                          <a:solidFill>
                            <a:schemeClr val="tx1"/>
                          </a:solidFill>
                        </a:rPr>
                        <a:t>t.price</a:t>
                      </a:r>
                      <a:r>
                        <a:rPr lang="en-US" sz="800" dirty="0">
                          <a:solidFill>
                            <a:schemeClr val="tx1"/>
                          </a:solidFill>
                        </a:rPr>
                        <a:t> &lt;= 50000 THEN 0.10</a:t>
                      </a:r>
                    </a:p>
                    <a:p>
                      <a:r>
                        <a:rPr lang="en-US" sz="800" dirty="0">
                          <a:solidFill>
                            <a:schemeClr val="tx1"/>
                          </a:solidFill>
                        </a:rPr>
                        <a:t>        WHEN </a:t>
                      </a:r>
                      <a:r>
                        <a:rPr lang="en-US" sz="800" dirty="0" err="1">
                          <a:solidFill>
                            <a:schemeClr val="tx1"/>
                          </a:solidFill>
                        </a:rPr>
                        <a:t>t.price</a:t>
                      </a:r>
                      <a:r>
                        <a:rPr lang="en-US" sz="800" dirty="0">
                          <a:solidFill>
                            <a:schemeClr val="tx1"/>
                          </a:solidFill>
                        </a:rPr>
                        <a:t> &gt; 50000 AND </a:t>
                      </a:r>
                      <a:r>
                        <a:rPr lang="en-US" sz="800" dirty="0" err="1">
                          <a:solidFill>
                            <a:schemeClr val="tx1"/>
                          </a:solidFill>
                        </a:rPr>
                        <a:t>t.price</a:t>
                      </a:r>
                      <a:r>
                        <a:rPr lang="en-US" sz="800" dirty="0">
                          <a:solidFill>
                            <a:schemeClr val="tx1"/>
                          </a:solidFill>
                        </a:rPr>
                        <a:t> &lt;= 100000 THEN 0.15</a:t>
                      </a:r>
                    </a:p>
                    <a:p>
                      <a:r>
                        <a:rPr lang="en-US" sz="800" dirty="0">
                          <a:solidFill>
                            <a:schemeClr val="tx1"/>
                          </a:solidFill>
                        </a:rPr>
                        <a:t>        WHEN </a:t>
                      </a:r>
                      <a:r>
                        <a:rPr lang="en-US" sz="800" dirty="0" err="1">
                          <a:solidFill>
                            <a:schemeClr val="tx1"/>
                          </a:solidFill>
                        </a:rPr>
                        <a:t>t.price</a:t>
                      </a:r>
                      <a:r>
                        <a:rPr lang="en-US" sz="800" dirty="0">
                          <a:solidFill>
                            <a:schemeClr val="tx1"/>
                          </a:solidFill>
                        </a:rPr>
                        <a:t> &gt; 100000 AND </a:t>
                      </a:r>
                      <a:r>
                        <a:rPr lang="en-US" sz="800" dirty="0" err="1">
                          <a:solidFill>
                            <a:schemeClr val="tx1"/>
                          </a:solidFill>
                        </a:rPr>
                        <a:t>t.price</a:t>
                      </a:r>
                      <a:r>
                        <a:rPr lang="en-US" sz="800" dirty="0">
                          <a:solidFill>
                            <a:schemeClr val="tx1"/>
                          </a:solidFill>
                        </a:rPr>
                        <a:t> &lt;= 300000 THEN 0.20</a:t>
                      </a:r>
                    </a:p>
                    <a:p>
                      <a:r>
                        <a:rPr lang="en-US" sz="800" dirty="0">
                          <a:solidFill>
                            <a:schemeClr val="tx1"/>
                          </a:solidFill>
                        </a:rPr>
                        <a:t>        WHEN </a:t>
                      </a:r>
                      <a:r>
                        <a:rPr lang="en-US" sz="800" dirty="0" err="1">
                          <a:solidFill>
                            <a:schemeClr val="tx1"/>
                          </a:solidFill>
                        </a:rPr>
                        <a:t>t.price</a:t>
                      </a:r>
                      <a:r>
                        <a:rPr lang="en-US" sz="800" dirty="0">
                          <a:solidFill>
                            <a:schemeClr val="tx1"/>
                          </a:solidFill>
                        </a:rPr>
                        <a:t> &gt; 300000 AND </a:t>
                      </a:r>
                      <a:r>
                        <a:rPr lang="en-US" sz="800" dirty="0" err="1">
                          <a:solidFill>
                            <a:schemeClr val="tx1"/>
                          </a:solidFill>
                        </a:rPr>
                        <a:t>t.price</a:t>
                      </a:r>
                      <a:r>
                        <a:rPr lang="en-US" sz="800" dirty="0">
                          <a:solidFill>
                            <a:schemeClr val="tx1"/>
                          </a:solidFill>
                        </a:rPr>
                        <a:t> &lt;= 500000 THEN 0.25</a:t>
                      </a:r>
                    </a:p>
                    <a:p>
                      <a:r>
                        <a:rPr lang="en-US" sz="800" dirty="0">
                          <a:solidFill>
                            <a:schemeClr val="tx1"/>
                          </a:solidFill>
                        </a:rPr>
                        <a:t>        WHEN </a:t>
                      </a:r>
                      <a:r>
                        <a:rPr lang="en-US" sz="800" dirty="0" err="1">
                          <a:solidFill>
                            <a:schemeClr val="tx1"/>
                          </a:solidFill>
                        </a:rPr>
                        <a:t>t.price</a:t>
                      </a:r>
                      <a:r>
                        <a:rPr lang="en-US" sz="800" dirty="0">
                          <a:solidFill>
                            <a:schemeClr val="tx1"/>
                          </a:solidFill>
                        </a:rPr>
                        <a:t> &gt; 500000 THEN 0.30</a:t>
                      </a:r>
                    </a:p>
                    <a:p>
                      <a:r>
                        <a:rPr lang="en-US" sz="800" dirty="0">
                          <a:solidFill>
                            <a:schemeClr val="tx1"/>
                          </a:solidFill>
                        </a:rPr>
                        <a:t>    END AS </a:t>
                      </a:r>
                      <a:r>
                        <a:rPr lang="en-US" sz="800" dirty="0" err="1">
                          <a:solidFill>
                            <a:schemeClr val="tx1"/>
                          </a:solidFill>
                        </a:rPr>
                        <a:t>nett_profit</a:t>
                      </a:r>
                      <a:r>
                        <a:rPr lang="en-US" sz="800" dirty="0">
                          <a:solidFill>
                            <a:schemeClr val="tx1"/>
                          </a:solidFill>
                        </a:rPr>
                        <a:t>,</a:t>
                      </a:r>
                    </a:p>
                    <a:p>
                      <a:r>
                        <a:rPr lang="en-US" sz="800" dirty="0">
                          <a:solidFill>
                            <a:schemeClr val="tx1"/>
                          </a:solidFill>
                        </a:rPr>
                        <a:t>    </a:t>
                      </a:r>
                      <a:r>
                        <a:rPr lang="en-US" sz="800" dirty="0" err="1">
                          <a:solidFill>
                            <a:schemeClr val="tx1"/>
                          </a:solidFill>
                        </a:rPr>
                        <a:t>t.rating</a:t>
                      </a:r>
                      <a:r>
                        <a:rPr lang="en-US" sz="800" dirty="0">
                          <a:solidFill>
                            <a:schemeClr val="tx1"/>
                          </a:solidFill>
                        </a:rPr>
                        <a:t> AS </a:t>
                      </a:r>
                      <a:r>
                        <a:rPr lang="en-US" sz="800" dirty="0" err="1">
                          <a:solidFill>
                            <a:schemeClr val="tx1"/>
                          </a:solidFill>
                        </a:rPr>
                        <a:t>rating_transaksi</a:t>
                      </a:r>
                      <a:endParaRPr lang="en-US" sz="800" dirty="0">
                        <a:solidFill>
                          <a:schemeClr val="tx1"/>
                        </a:solidFill>
                      </a:endParaRPr>
                    </a:p>
                    <a:p>
                      <a:r>
                        <a:rPr lang="en-US" sz="800" dirty="0">
                          <a:solidFill>
                            <a:schemeClr val="tx1"/>
                          </a:solidFill>
                        </a:rPr>
                        <a:t>FROM `</a:t>
                      </a:r>
                      <a:r>
                        <a:rPr lang="en-US" sz="800" dirty="0" err="1">
                          <a:solidFill>
                            <a:schemeClr val="tx1"/>
                          </a:solidFill>
                        </a:rPr>
                        <a:t>Rakamin_KF_Analytics.kimia_farma.kf_final_transaction</a:t>
                      </a:r>
                      <a:r>
                        <a:rPr lang="en-US" sz="800" dirty="0">
                          <a:solidFill>
                            <a:schemeClr val="tx1"/>
                          </a:solidFill>
                        </a:rPr>
                        <a:t>` t</a:t>
                      </a:r>
                    </a:p>
                    <a:p>
                      <a:r>
                        <a:rPr lang="en-US" sz="800" dirty="0">
                          <a:solidFill>
                            <a:schemeClr val="tx1"/>
                          </a:solidFill>
                        </a:rPr>
                        <a:t>LEFT JOIN `</a:t>
                      </a:r>
                      <a:r>
                        <a:rPr lang="en-US" sz="800" dirty="0" err="1">
                          <a:solidFill>
                            <a:schemeClr val="tx1"/>
                          </a:solidFill>
                        </a:rPr>
                        <a:t>Rakamin_KF_Analytics.kimia_farma.kf_kantor_cabang</a:t>
                      </a:r>
                      <a:r>
                        <a:rPr lang="en-US" sz="800" dirty="0">
                          <a:solidFill>
                            <a:schemeClr val="tx1"/>
                          </a:solidFill>
                        </a:rPr>
                        <a:t>` k</a:t>
                      </a:r>
                    </a:p>
                    <a:p>
                      <a:r>
                        <a:rPr lang="en-US" sz="800" dirty="0">
                          <a:solidFill>
                            <a:schemeClr val="tx1"/>
                          </a:solidFill>
                        </a:rPr>
                        <a:t>    ON </a:t>
                      </a:r>
                      <a:r>
                        <a:rPr lang="en-US" sz="800" dirty="0" err="1">
                          <a:solidFill>
                            <a:schemeClr val="tx1"/>
                          </a:solidFill>
                        </a:rPr>
                        <a:t>t.branch_id</a:t>
                      </a:r>
                      <a:r>
                        <a:rPr lang="en-US" sz="800" dirty="0">
                          <a:solidFill>
                            <a:schemeClr val="tx1"/>
                          </a:solidFill>
                        </a:rPr>
                        <a:t> = </a:t>
                      </a:r>
                      <a:r>
                        <a:rPr lang="en-US" sz="800" dirty="0" err="1">
                          <a:solidFill>
                            <a:schemeClr val="tx1"/>
                          </a:solidFill>
                        </a:rPr>
                        <a:t>k.branch_id</a:t>
                      </a:r>
                      <a:endParaRPr lang="en-US" sz="800" dirty="0">
                        <a:solidFill>
                          <a:schemeClr val="tx1"/>
                        </a:solidFill>
                      </a:endParaRPr>
                    </a:p>
                    <a:p>
                      <a:r>
                        <a:rPr lang="en-US" sz="800" dirty="0">
                          <a:solidFill>
                            <a:schemeClr val="tx1"/>
                          </a:solidFill>
                        </a:rPr>
                        <a:t>LEFT JOIN `</a:t>
                      </a:r>
                      <a:r>
                        <a:rPr lang="en-US" sz="800" dirty="0" err="1">
                          <a:solidFill>
                            <a:schemeClr val="tx1"/>
                          </a:solidFill>
                        </a:rPr>
                        <a:t>Rakamin_KF_Analytics.kimia_farma.kf_product</a:t>
                      </a:r>
                      <a:r>
                        <a:rPr lang="en-US" sz="800" dirty="0">
                          <a:solidFill>
                            <a:schemeClr val="tx1"/>
                          </a:solidFill>
                        </a:rPr>
                        <a:t>` p</a:t>
                      </a:r>
                    </a:p>
                    <a:p>
                      <a:r>
                        <a:rPr lang="en-US" sz="800" dirty="0">
                          <a:solidFill>
                            <a:schemeClr val="tx1"/>
                          </a:solidFill>
                        </a:rPr>
                        <a:t>    ON </a:t>
                      </a:r>
                      <a:r>
                        <a:rPr lang="en-US" sz="800" dirty="0" err="1">
                          <a:solidFill>
                            <a:schemeClr val="tx1"/>
                          </a:solidFill>
                        </a:rPr>
                        <a:t>t.product_id</a:t>
                      </a:r>
                      <a:r>
                        <a:rPr lang="en-US" sz="800" dirty="0">
                          <a:solidFill>
                            <a:schemeClr val="tx1"/>
                          </a:solidFill>
                        </a:rPr>
                        <a:t> = </a:t>
                      </a:r>
                      <a:r>
                        <a:rPr lang="en-US" sz="800" dirty="0" err="1">
                          <a:solidFill>
                            <a:schemeClr val="tx1"/>
                          </a:solidFill>
                        </a:rPr>
                        <a:t>p.product_id</a:t>
                      </a:r>
                      <a:r>
                        <a:rPr lang="en-US" sz="800" dirty="0">
                          <a:solidFill>
                            <a:schemeClr val="tx1"/>
                          </a:solidFill>
                        </a:rPr>
                        <a:t>;</a:t>
                      </a:r>
                    </a:p>
                  </a:txBody>
                  <a:tcPr>
                    <a:solidFill>
                      <a:schemeClr val="bg1"/>
                    </a:solidFill>
                  </a:tcPr>
                </a:tc>
                <a:extLst>
                  <a:ext uri="{0D108BD9-81ED-4DB2-BD59-A6C34878D82A}">
                    <a16:rowId xmlns:a16="http://schemas.microsoft.com/office/drawing/2014/main" val="2885211377"/>
                  </a:ext>
                </a:extLst>
              </a:tr>
            </a:tbl>
          </a:graphicData>
        </a:graphic>
      </p:graphicFrame>
      <p:sp>
        <p:nvSpPr>
          <p:cNvPr id="10" name="TextBox 9">
            <a:extLst>
              <a:ext uri="{FF2B5EF4-FFF2-40B4-BE49-F238E27FC236}">
                <a16:creationId xmlns:a16="http://schemas.microsoft.com/office/drawing/2014/main" id="{9CBB8FC4-BEF4-4190-80C7-B5946385F1B2}"/>
              </a:ext>
            </a:extLst>
          </p:cNvPr>
          <p:cNvSpPr txBox="1"/>
          <p:nvPr/>
        </p:nvSpPr>
        <p:spPr>
          <a:xfrm>
            <a:off x="522514" y="2417861"/>
            <a:ext cx="4572000" cy="307777"/>
          </a:xfrm>
          <a:prstGeom prst="rect">
            <a:avLst/>
          </a:prstGeom>
          <a:noFill/>
        </p:spPr>
        <p:txBody>
          <a:bodyPr wrap="square">
            <a:spAutoFit/>
          </a:bodyPr>
          <a:lstStyle/>
          <a:p>
            <a:pPr marL="285750" indent="-285750">
              <a:buFont typeface="Arial" panose="020B0604020202020204" pitchFamily="34" charset="0"/>
              <a:buChar char="•"/>
            </a:pPr>
            <a:r>
              <a:rPr lang="en" sz="1400" dirty="0">
                <a:solidFill>
                  <a:schemeClr val="dk1"/>
                </a:solidFill>
                <a:latin typeface="Rubik"/>
                <a:ea typeface="Rubik"/>
                <a:cs typeface="Rubik"/>
                <a:sym typeface="Rubik"/>
              </a:rPr>
              <a:t>SQL Query</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6" name="Google Shape;126;g23ec2985a68_1_42"/>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27" name="Google Shape;127;g23ec2985a68_1_42"/>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28" name="Google Shape;128;g23ec2985a68_1_42"/>
          <p:cNvSpPr txBox="1"/>
          <p:nvPr/>
        </p:nvSpPr>
        <p:spPr>
          <a:xfrm>
            <a:off x="340500" y="452038"/>
            <a:ext cx="8463000" cy="600300"/>
          </a:xfrm>
          <a:prstGeom prst="rect">
            <a:avLst/>
          </a:prstGeom>
          <a:noFill/>
          <a:ln>
            <a:noFill/>
          </a:ln>
          <a:effectLst>
            <a:outerShdw blurRad="57150" dist="19050" dir="2820000" algn="bl" rotWithShape="0">
              <a:srgbClr val="B7B7B7">
                <a:alpha val="8549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2"/>
            </a:pPr>
            <a:r>
              <a:rPr lang="en" sz="2700" b="1">
                <a:latin typeface="Rubik"/>
                <a:ea typeface="Rubik"/>
                <a:cs typeface="Rubik"/>
                <a:sym typeface="Rubik"/>
              </a:rPr>
              <a:t>Tabel Analisa</a:t>
            </a:r>
            <a:endParaRPr sz="2700" b="1" i="0" u="none" strike="noStrike" cap="none">
              <a:solidFill>
                <a:srgbClr val="000000"/>
              </a:solidFill>
              <a:latin typeface="Rubik"/>
              <a:ea typeface="Rubik"/>
              <a:cs typeface="Rubik"/>
              <a:sym typeface="Rubik"/>
            </a:endParaRPr>
          </a:p>
        </p:txBody>
      </p:sp>
      <p:sp>
        <p:nvSpPr>
          <p:cNvPr id="10" name="TextBox 9">
            <a:extLst>
              <a:ext uri="{FF2B5EF4-FFF2-40B4-BE49-F238E27FC236}">
                <a16:creationId xmlns:a16="http://schemas.microsoft.com/office/drawing/2014/main" id="{9CBB8FC4-BEF4-4190-80C7-B5946385F1B2}"/>
              </a:ext>
            </a:extLst>
          </p:cNvPr>
          <p:cNvSpPr txBox="1"/>
          <p:nvPr/>
        </p:nvSpPr>
        <p:spPr>
          <a:xfrm>
            <a:off x="431074" y="1288955"/>
            <a:ext cx="4572000" cy="307777"/>
          </a:xfrm>
          <a:prstGeom prst="rect">
            <a:avLst/>
          </a:prstGeom>
          <a:noFill/>
        </p:spPr>
        <p:txBody>
          <a:bodyPr wrap="square">
            <a:spAutoFit/>
          </a:bodyPr>
          <a:lstStyle/>
          <a:p>
            <a:pPr marL="285750" indent="-285750">
              <a:buFont typeface="Arial" panose="020B0604020202020204" pitchFamily="34" charset="0"/>
              <a:buChar char="•"/>
            </a:pPr>
            <a:r>
              <a:rPr lang="en" sz="1400" dirty="0">
                <a:solidFill>
                  <a:schemeClr val="dk1"/>
                </a:solidFill>
                <a:latin typeface="Rubik"/>
                <a:ea typeface="Rubik"/>
                <a:cs typeface="Rubik"/>
                <a:sym typeface="Rubik"/>
              </a:rPr>
              <a:t>Result</a:t>
            </a:r>
            <a:endParaRPr lang="en-US" dirty="0"/>
          </a:p>
        </p:txBody>
      </p:sp>
      <p:pic>
        <p:nvPicPr>
          <p:cNvPr id="4" name="Picture 3">
            <a:extLst>
              <a:ext uri="{FF2B5EF4-FFF2-40B4-BE49-F238E27FC236}">
                <a16:creationId xmlns:a16="http://schemas.microsoft.com/office/drawing/2014/main" id="{0CD76B0A-42AB-4CFC-9405-093531ADDB03}"/>
              </a:ext>
            </a:extLst>
          </p:cNvPr>
          <p:cNvPicPr>
            <a:picLocks noChangeAspect="1"/>
          </p:cNvPicPr>
          <p:nvPr/>
        </p:nvPicPr>
        <p:blipFill>
          <a:blip r:embed="rId5"/>
          <a:stretch>
            <a:fillRect/>
          </a:stretch>
        </p:blipFill>
        <p:spPr>
          <a:xfrm>
            <a:off x="117565" y="1966798"/>
            <a:ext cx="8908869" cy="700063"/>
          </a:xfrm>
          <a:prstGeom prst="rect">
            <a:avLst/>
          </a:prstGeom>
        </p:spPr>
      </p:pic>
    </p:spTree>
    <p:extLst>
      <p:ext uri="{BB962C8B-B14F-4D97-AF65-F5344CB8AC3E}">
        <p14:creationId xmlns:p14="http://schemas.microsoft.com/office/powerpoint/2010/main" val="2211698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6" name="Google Shape;126;g23ec2985a68_1_42"/>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27" name="Google Shape;127;g23ec2985a68_1_42"/>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28" name="Google Shape;128;g23ec2985a68_1_42"/>
          <p:cNvSpPr txBox="1"/>
          <p:nvPr/>
        </p:nvSpPr>
        <p:spPr>
          <a:xfrm>
            <a:off x="340500" y="452038"/>
            <a:ext cx="8463000" cy="600300"/>
          </a:xfrm>
          <a:prstGeom prst="rect">
            <a:avLst/>
          </a:prstGeom>
          <a:noFill/>
          <a:ln>
            <a:noFill/>
          </a:ln>
          <a:effectLst>
            <a:outerShdw blurRad="57150" dist="19050" dir="2820000" algn="bl" rotWithShape="0">
              <a:srgbClr val="B7B7B7">
                <a:alpha val="8549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2"/>
            </a:pPr>
            <a:r>
              <a:rPr lang="en" sz="2700" b="1">
                <a:latin typeface="Rubik"/>
                <a:ea typeface="Rubik"/>
                <a:cs typeface="Rubik"/>
                <a:sym typeface="Rubik"/>
              </a:rPr>
              <a:t>Tabel Analisa</a:t>
            </a:r>
            <a:endParaRPr sz="2700" b="1" i="0" u="none" strike="noStrike" cap="none">
              <a:solidFill>
                <a:srgbClr val="000000"/>
              </a:solidFill>
              <a:latin typeface="Rubik"/>
              <a:ea typeface="Rubik"/>
              <a:cs typeface="Rubik"/>
              <a:sym typeface="Rubik"/>
            </a:endParaRPr>
          </a:p>
        </p:txBody>
      </p:sp>
      <p:sp>
        <p:nvSpPr>
          <p:cNvPr id="10" name="TextBox 9">
            <a:extLst>
              <a:ext uri="{FF2B5EF4-FFF2-40B4-BE49-F238E27FC236}">
                <a16:creationId xmlns:a16="http://schemas.microsoft.com/office/drawing/2014/main" id="{9CBB8FC4-BEF4-4190-80C7-B5946385F1B2}"/>
              </a:ext>
            </a:extLst>
          </p:cNvPr>
          <p:cNvSpPr txBox="1"/>
          <p:nvPr/>
        </p:nvSpPr>
        <p:spPr>
          <a:xfrm>
            <a:off x="431073" y="1288955"/>
            <a:ext cx="8203475" cy="3308598"/>
          </a:xfrm>
          <a:prstGeom prst="rect">
            <a:avLst/>
          </a:prstGeom>
          <a:noFill/>
        </p:spPr>
        <p:txBody>
          <a:bodyPr wrap="square">
            <a:spAutoFit/>
          </a:bodyPr>
          <a:lstStyle/>
          <a:p>
            <a:pPr marL="171450" indent="-171450">
              <a:buFont typeface="Arial" panose="020B0604020202020204" pitchFamily="34" charset="0"/>
              <a:buChar char="•"/>
            </a:pPr>
            <a:r>
              <a:rPr lang="en-US" sz="1100" b="1" dirty="0">
                <a:solidFill>
                  <a:schemeClr val="dk1"/>
                </a:solidFill>
                <a:latin typeface="Rubik"/>
                <a:ea typeface="Rubik"/>
                <a:cs typeface="Rubik"/>
                <a:sym typeface="Rubik"/>
              </a:rPr>
              <a:t>Objective</a:t>
            </a:r>
            <a:r>
              <a:rPr lang="en-US" sz="1100" dirty="0">
                <a:solidFill>
                  <a:schemeClr val="dk1"/>
                </a:solidFill>
                <a:latin typeface="Rubik"/>
                <a:ea typeface="Rubik"/>
                <a:cs typeface="Rubik"/>
                <a:sym typeface="Rubik"/>
              </a:rPr>
              <a:t>: To develop a comprehensive and unified dataset by consolidating transaction, branch, and product information, along with calculated performance metrics, to support data-driven business performance analysis.</a:t>
            </a:r>
          </a:p>
          <a:p>
            <a:pPr marL="171450" indent="-171450">
              <a:buFont typeface="Arial" panose="020B0604020202020204" pitchFamily="34" charset="0"/>
              <a:buChar char="•"/>
            </a:pPr>
            <a:r>
              <a:rPr lang="en-US" sz="1100" b="1" dirty="0">
                <a:solidFill>
                  <a:schemeClr val="dk1"/>
                </a:solidFill>
                <a:latin typeface="Rubik"/>
                <a:ea typeface="Rubik"/>
                <a:cs typeface="Rubik"/>
                <a:sym typeface="Rubik"/>
              </a:rPr>
              <a:t>Approach</a:t>
            </a:r>
            <a:r>
              <a:rPr lang="en-US" sz="1100" dirty="0">
                <a:solidFill>
                  <a:schemeClr val="dk1"/>
                </a:solidFill>
                <a:latin typeface="Rubik"/>
                <a:ea typeface="Rubik"/>
                <a:cs typeface="Rubik"/>
                <a:sym typeface="Rubik"/>
              </a:rPr>
              <a:t>: An optimized SQL query was designed to integrate relevant data from multiple sources and calculate key financial indicators, including </a:t>
            </a:r>
            <a:r>
              <a:rPr lang="en-US" sz="1100" dirty="0" err="1">
                <a:solidFill>
                  <a:schemeClr val="dk1"/>
                </a:solidFill>
                <a:latin typeface="Rubik"/>
                <a:ea typeface="Rubik"/>
                <a:cs typeface="Rubik"/>
                <a:sym typeface="Rubik"/>
              </a:rPr>
              <a:t>persentase_gross_laba</a:t>
            </a:r>
            <a:r>
              <a:rPr lang="en-US" sz="1100" dirty="0">
                <a:solidFill>
                  <a:schemeClr val="dk1"/>
                </a:solidFill>
                <a:latin typeface="Rubik"/>
                <a:ea typeface="Rubik"/>
                <a:cs typeface="Rubik"/>
                <a:sym typeface="Rubik"/>
              </a:rPr>
              <a:t> (gross profit percentage), </a:t>
            </a:r>
            <a:r>
              <a:rPr lang="en-US" sz="1100" dirty="0" err="1">
                <a:solidFill>
                  <a:schemeClr val="dk1"/>
                </a:solidFill>
                <a:latin typeface="Rubik"/>
                <a:ea typeface="Rubik"/>
                <a:cs typeface="Rubik"/>
                <a:sym typeface="Rubik"/>
              </a:rPr>
              <a:t>nett_sales</a:t>
            </a:r>
            <a:r>
              <a:rPr lang="en-US" sz="1100" dirty="0">
                <a:solidFill>
                  <a:schemeClr val="dk1"/>
                </a:solidFill>
                <a:latin typeface="Rubik"/>
                <a:ea typeface="Rubik"/>
                <a:cs typeface="Rubik"/>
                <a:sym typeface="Rubik"/>
              </a:rPr>
              <a:t> (net sales), and </a:t>
            </a:r>
            <a:r>
              <a:rPr lang="en-US" sz="1100" dirty="0" err="1">
                <a:solidFill>
                  <a:schemeClr val="dk1"/>
                </a:solidFill>
                <a:latin typeface="Rubik"/>
                <a:ea typeface="Rubik"/>
                <a:cs typeface="Rubik"/>
                <a:sym typeface="Rubik"/>
              </a:rPr>
              <a:t>nett_profit</a:t>
            </a:r>
            <a:r>
              <a:rPr lang="en-US" sz="1100" dirty="0">
                <a:solidFill>
                  <a:schemeClr val="dk1"/>
                </a:solidFill>
                <a:latin typeface="Rubik"/>
                <a:ea typeface="Rubik"/>
                <a:cs typeface="Rubik"/>
                <a:sym typeface="Rubik"/>
              </a:rPr>
              <a:t> (net profit). This dataset serves as the foundation for dashboard visualizations and strategic decision-making.</a:t>
            </a:r>
          </a:p>
          <a:p>
            <a:pPr marL="171450" indent="-171450">
              <a:buFont typeface="Arial" panose="020B0604020202020204" pitchFamily="34" charset="0"/>
              <a:buChar char="•"/>
            </a:pPr>
            <a:r>
              <a:rPr lang="en-US" sz="1100" b="1" dirty="0">
                <a:solidFill>
                  <a:schemeClr val="dk1"/>
                </a:solidFill>
                <a:latin typeface="Rubik"/>
                <a:ea typeface="Rubik"/>
                <a:cs typeface="Rubik"/>
                <a:sym typeface="Rubik"/>
              </a:rPr>
              <a:t>Methodology</a:t>
            </a:r>
            <a:r>
              <a:rPr lang="en-US" sz="1100" dirty="0">
                <a:solidFill>
                  <a:schemeClr val="dk1"/>
                </a:solidFill>
                <a:latin typeface="Rubik"/>
                <a:ea typeface="Rubik"/>
                <a:cs typeface="Rubik"/>
                <a:sym typeface="Rubik"/>
              </a:rPr>
              <a:t>:</a:t>
            </a:r>
          </a:p>
          <a:p>
            <a:pPr marL="341313" indent="-171450">
              <a:buFont typeface="+mj-lt"/>
              <a:buAutoNum type="arabicPeriod"/>
            </a:pPr>
            <a:r>
              <a:rPr lang="en-US" sz="1100" dirty="0">
                <a:solidFill>
                  <a:schemeClr val="dk1"/>
                </a:solidFill>
                <a:latin typeface="Rubik"/>
                <a:ea typeface="Rubik"/>
                <a:cs typeface="Rubik"/>
                <a:sym typeface="Rubik"/>
              </a:rPr>
              <a:t>Extracted essential columns from the </a:t>
            </a:r>
            <a:r>
              <a:rPr lang="en-US" sz="1100" dirty="0" err="1">
                <a:solidFill>
                  <a:schemeClr val="dk1"/>
                </a:solidFill>
                <a:latin typeface="Rubik"/>
                <a:ea typeface="Rubik"/>
                <a:cs typeface="Rubik"/>
                <a:sym typeface="Rubik"/>
              </a:rPr>
              <a:t>kf_final_transaction</a:t>
            </a:r>
            <a:r>
              <a:rPr lang="en-US" sz="1100" dirty="0">
                <a:solidFill>
                  <a:schemeClr val="dk1"/>
                </a:solidFill>
                <a:latin typeface="Rubik"/>
                <a:ea typeface="Rubik"/>
                <a:cs typeface="Rubik"/>
                <a:sym typeface="Rubik"/>
              </a:rPr>
              <a:t>, </a:t>
            </a:r>
            <a:r>
              <a:rPr lang="en-US" sz="1100" dirty="0" err="1">
                <a:solidFill>
                  <a:schemeClr val="dk1"/>
                </a:solidFill>
                <a:latin typeface="Rubik"/>
                <a:ea typeface="Rubik"/>
                <a:cs typeface="Rubik"/>
                <a:sym typeface="Rubik"/>
              </a:rPr>
              <a:t>kf_kantor_cabang</a:t>
            </a:r>
            <a:r>
              <a:rPr lang="en-US" sz="1100" dirty="0">
                <a:solidFill>
                  <a:schemeClr val="dk1"/>
                </a:solidFill>
                <a:latin typeface="Rubik"/>
                <a:ea typeface="Rubik"/>
                <a:cs typeface="Rubik"/>
                <a:sym typeface="Rubik"/>
              </a:rPr>
              <a:t>, and </a:t>
            </a:r>
            <a:r>
              <a:rPr lang="en-US" sz="1100" dirty="0" err="1">
                <a:solidFill>
                  <a:schemeClr val="dk1"/>
                </a:solidFill>
                <a:latin typeface="Rubik"/>
                <a:ea typeface="Rubik"/>
                <a:cs typeface="Rubik"/>
                <a:sym typeface="Rubik"/>
              </a:rPr>
              <a:t>kf_product</a:t>
            </a:r>
            <a:r>
              <a:rPr lang="en-US" sz="1100" dirty="0">
                <a:solidFill>
                  <a:schemeClr val="dk1"/>
                </a:solidFill>
                <a:latin typeface="Rubik"/>
                <a:ea typeface="Rubik"/>
                <a:cs typeface="Rubik"/>
                <a:sym typeface="Rubik"/>
              </a:rPr>
              <a:t> tables.</a:t>
            </a:r>
          </a:p>
          <a:p>
            <a:pPr marL="341313" indent="-171450">
              <a:buFont typeface="+mj-lt"/>
              <a:buAutoNum type="arabicPeriod"/>
            </a:pPr>
            <a:r>
              <a:rPr lang="en-US" sz="1100" dirty="0">
                <a:solidFill>
                  <a:schemeClr val="dk1"/>
                </a:solidFill>
                <a:latin typeface="Rubik"/>
                <a:ea typeface="Rubik"/>
                <a:cs typeface="Rubik"/>
                <a:sym typeface="Rubik"/>
              </a:rPr>
              <a:t>Applied LEFT JOIN operations to ensure all transaction records were retained, even if branch or product details were unavailable.</a:t>
            </a:r>
          </a:p>
          <a:p>
            <a:pPr marL="341313" indent="-171450">
              <a:buFont typeface="+mj-lt"/>
              <a:buAutoNum type="arabicPeriod"/>
            </a:pPr>
            <a:r>
              <a:rPr lang="en-US" sz="1100" dirty="0">
                <a:solidFill>
                  <a:schemeClr val="dk1"/>
                </a:solidFill>
                <a:latin typeface="Rubik"/>
                <a:ea typeface="Rubik"/>
                <a:cs typeface="Rubik"/>
                <a:sym typeface="Rubik"/>
              </a:rPr>
              <a:t>Calculated </a:t>
            </a:r>
            <a:r>
              <a:rPr lang="en-US" sz="1100" dirty="0" err="1">
                <a:solidFill>
                  <a:schemeClr val="dk1"/>
                </a:solidFill>
                <a:latin typeface="Rubik"/>
                <a:ea typeface="Rubik"/>
                <a:cs typeface="Rubik"/>
                <a:sym typeface="Rubik"/>
              </a:rPr>
              <a:t>persentase_gross_laba</a:t>
            </a:r>
            <a:r>
              <a:rPr lang="en-US" sz="1100" dirty="0">
                <a:solidFill>
                  <a:schemeClr val="dk1"/>
                </a:solidFill>
                <a:latin typeface="Rubik"/>
                <a:ea typeface="Rubik"/>
                <a:cs typeface="Rubik"/>
                <a:sym typeface="Rubik"/>
              </a:rPr>
              <a:t> using a CASE statement based on pricing tiers (e.g., 10% for prices ≤ 50,000).</a:t>
            </a:r>
          </a:p>
          <a:p>
            <a:pPr marL="341313" indent="-171450">
              <a:buFont typeface="+mj-lt"/>
              <a:buAutoNum type="arabicPeriod"/>
            </a:pPr>
            <a:r>
              <a:rPr lang="en-US" sz="1100" dirty="0">
                <a:solidFill>
                  <a:schemeClr val="dk1"/>
                </a:solidFill>
                <a:latin typeface="Rubik"/>
                <a:ea typeface="Rubik"/>
                <a:cs typeface="Rubik"/>
                <a:sym typeface="Rubik"/>
              </a:rPr>
              <a:t>Derived </a:t>
            </a:r>
            <a:r>
              <a:rPr lang="en-US" sz="1100" dirty="0" err="1">
                <a:solidFill>
                  <a:schemeClr val="dk1"/>
                </a:solidFill>
                <a:latin typeface="Rubik"/>
                <a:ea typeface="Rubik"/>
                <a:cs typeface="Rubik"/>
                <a:sym typeface="Rubik"/>
              </a:rPr>
              <a:t>nett_sales</a:t>
            </a:r>
            <a:r>
              <a:rPr lang="en-US" sz="1100" dirty="0">
                <a:solidFill>
                  <a:schemeClr val="dk1"/>
                </a:solidFill>
                <a:latin typeface="Rubik"/>
                <a:ea typeface="Rubik"/>
                <a:cs typeface="Rubik"/>
                <a:sym typeface="Rubik"/>
              </a:rPr>
              <a:t> as </a:t>
            </a:r>
            <a:r>
              <a:rPr lang="en-US" sz="1100" dirty="0" err="1">
                <a:solidFill>
                  <a:schemeClr val="dk1"/>
                </a:solidFill>
                <a:latin typeface="Rubik"/>
                <a:ea typeface="Rubik"/>
                <a:cs typeface="Rubik"/>
                <a:sym typeface="Rubik"/>
              </a:rPr>
              <a:t>actual_price</a:t>
            </a:r>
            <a:r>
              <a:rPr lang="en-US" sz="1100" dirty="0">
                <a:solidFill>
                  <a:schemeClr val="dk1"/>
                </a:solidFill>
                <a:latin typeface="Rubik"/>
                <a:ea typeface="Rubik"/>
                <a:cs typeface="Rubik"/>
                <a:sym typeface="Rubik"/>
              </a:rPr>
              <a:t> * (1 - </a:t>
            </a:r>
            <a:r>
              <a:rPr lang="en-US" sz="1100" dirty="0" err="1">
                <a:solidFill>
                  <a:schemeClr val="dk1"/>
                </a:solidFill>
                <a:latin typeface="Rubik"/>
                <a:ea typeface="Rubik"/>
                <a:cs typeface="Rubik"/>
                <a:sym typeface="Rubik"/>
              </a:rPr>
              <a:t>discount_percentage</a:t>
            </a:r>
            <a:r>
              <a:rPr lang="en-US" sz="1100" dirty="0">
                <a:solidFill>
                  <a:schemeClr val="dk1"/>
                </a:solidFill>
                <a:latin typeface="Rubik"/>
                <a:ea typeface="Rubik"/>
                <a:cs typeface="Rubik"/>
                <a:sym typeface="Rubik"/>
              </a:rPr>
              <a:t>) and </a:t>
            </a:r>
            <a:r>
              <a:rPr lang="en-US" sz="1100" dirty="0" err="1">
                <a:solidFill>
                  <a:schemeClr val="dk1"/>
                </a:solidFill>
                <a:latin typeface="Rubik"/>
                <a:ea typeface="Rubik"/>
                <a:cs typeface="Rubik"/>
                <a:sym typeface="Rubik"/>
              </a:rPr>
              <a:t>nett_profit</a:t>
            </a:r>
            <a:r>
              <a:rPr lang="en-US" sz="1100" dirty="0">
                <a:solidFill>
                  <a:schemeClr val="dk1"/>
                </a:solidFill>
                <a:latin typeface="Rubik"/>
                <a:ea typeface="Rubik"/>
                <a:cs typeface="Rubik"/>
                <a:sym typeface="Rubik"/>
              </a:rPr>
              <a:t> as </a:t>
            </a:r>
            <a:r>
              <a:rPr lang="en-US" sz="1100" dirty="0" err="1">
                <a:solidFill>
                  <a:schemeClr val="dk1"/>
                </a:solidFill>
                <a:latin typeface="Rubik"/>
                <a:ea typeface="Rubik"/>
                <a:cs typeface="Rubik"/>
                <a:sym typeface="Rubik"/>
              </a:rPr>
              <a:t>nett_sales</a:t>
            </a:r>
            <a:r>
              <a:rPr lang="en-US" sz="1100" dirty="0">
                <a:solidFill>
                  <a:schemeClr val="dk1"/>
                </a:solidFill>
                <a:latin typeface="Rubik"/>
                <a:ea typeface="Rubik"/>
                <a:cs typeface="Rubik"/>
                <a:sym typeface="Rubik"/>
              </a:rPr>
              <a:t> * </a:t>
            </a:r>
            <a:r>
              <a:rPr lang="en-US" sz="1100" dirty="0" err="1">
                <a:solidFill>
                  <a:schemeClr val="dk1"/>
                </a:solidFill>
                <a:latin typeface="Rubik"/>
                <a:ea typeface="Rubik"/>
                <a:cs typeface="Rubik"/>
                <a:sym typeface="Rubik"/>
              </a:rPr>
              <a:t>persentase_gross_laba</a:t>
            </a:r>
            <a:r>
              <a:rPr lang="en-US" sz="1100" dirty="0">
                <a:solidFill>
                  <a:schemeClr val="dk1"/>
                </a:solidFill>
                <a:latin typeface="Rubik"/>
                <a:ea typeface="Rubik"/>
                <a:cs typeface="Rubik"/>
                <a:sym typeface="Rubik"/>
              </a:rPr>
              <a:t>.</a:t>
            </a:r>
          </a:p>
          <a:p>
            <a:pPr marL="341313" indent="-171450">
              <a:buFont typeface="+mj-lt"/>
              <a:buAutoNum type="arabicPeriod"/>
            </a:pPr>
            <a:r>
              <a:rPr lang="en-US" sz="1100" dirty="0">
                <a:solidFill>
                  <a:schemeClr val="dk1"/>
                </a:solidFill>
                <a:latin typeface="Rubik"/>
                <a:ea typeface="Rubik"/>
                <a:cs typeface="Rubik"/>
                <a:sym typeface="Rubik"/>
              </a:rPr>
              <a:t>Executed the final query in </a:t>
            </a:r>
            <a:r>
              <a:rPr lang="en-US" sz="1100" dirty="0" err="1">
                <a:solidFill>
                  <a:schemeClr val="dk1"/>
                </a:solidFill>
                <a:latin typeface="Rubik"/>
                <a:ea typeface="Rubik"/>
                <a:cs typeface="Rubik"/>
                <a:sym typeface="Rubik"/>
              </a:rPr>
              <a:t>BigQuery</a:t>
            </a:r>
            <a:r>
              <a:rPr lang="en-US" sz="1100" dirty="0">
                <a:solidFill>
                  <a:schemeClr val="dk1"/>
                </a:solidFill>
                <a:latin typeface="Rubik"/>
                <a:ea typeface="Rubik"/>
                <a:cs typeface="Rubik"/>
                <a:sym typeface="Rubik"/>
              </a:rPr>
              <a:t> to generate the </a:t>
            </a:r>
            <a:r>
              <a:rPr lang="en-US" sz="1100" dirty="0" err="1">
                <a:solidFill>
                  <a:schemeClr val="dk1"/>
                </a:solidFill>
                <a:latin typeface="Rubik"/>
                <a:ea typeface="Rubik"/>
                <a:cs typeface="Rubik"/>
                <a:sym typeface="Rubik"/>
              </a:rPr>
              <a:t>analisa</a:t>
            </a:r>
            <a:r>
              <a:rPr lang="en-US" sz="1100" dirty="0">
                <a:solidFill>
                  <a:schemeClr val="dk1"/>
                </a:solidFill>
                <a:latin typeface="Rubik"/>
                <a:ea typeface="Rubik"/>
                <a:cs typeface="Rubik"/>
                <a:sym typeface="Rubik"/>
              </a:rPr>
              <a:t> table for further analysis.</a:t>
            </a:r>
          </a:p>
          <a:p>
            <a:pPr marL="341313" indent="-171450">
              <a:buFont typeface="+mj-lt"/>
              <a:buAutoNum type="arabicPeriod"/>
            </a:pPr>
            <a:r>
              <a:rPr lang="en-US" sz="1100" dirty="0">
                <a:solidFill>
                  <a:schemeClr val="dk1"/>
                </a:solidFill>
                <a:latin typeface="Rubik"/>
                <a:ea typeface="Rubik"/>
                <a:cs typeface="Rubik"/>
                <a:sym typeface="Rubik"/>
              </a:rPr>
              <a:t>Validated the dataset by previewing 5–10 sample rows to ensure data accuracy and correctness of calculated metrics.</a:t>
            </a:r>
          </a:p>
          <a:p>
            <a:pPr marL="171450" indent="-171450">
              <a:buFont typeface="Arial" panose="020B0604020202020204" pitchFamily="34" charset="0"/>
              <a:buChar char="•"/>
            </a:pPr>
            <a:r>
              <a:rPr lang="en-US" sz="1100" b="1" dirty="0">
                <a:solidFill>
                  <a:schemeClr val="dk1"/>
                </a:solidFill>
                <a:latin typeface="Rubik"/>
                <a:ea typeface="Rubik"/>
                <a:cs typeface="Rubik"/>
                <a:sym typeface="Rubik"/>
              </a:rPr>
              <a:t>Output Columns</a:t>
            </a:r>
            <a:r>
              <a:rPr lang="en-US" sz="1100" dirty="0">
                <a:solidFill>
                  <a:schemeClr val="dk1"/>
                </a:solidFill>
                <a:latin typeface="Rubik"/>
                <a:ea typeface="Rubik"/>
                <a:cs typeface="Rubik"/>
                <a:sym typeface="Rubik"/>
              </a:rPr>
              <a:t>: </a:t>
            </a:r>
            <a:r>
              <a:rPr lang="en-US" sz="1100" dirty="0" err="1">
                <a:solidFill>
                  <a:schemeClr val="dk1"/>
                </a:solidFill>
                <a:latin typeface="Rubik"/>
                <a:ea typeface="Rubik"/>
                <a:cs typeface="Rubik"/>
                <a:sym typeface="Rubik"/>
              </a:rPr>
              <a:t>transaction_id</a:t>
            </a:r>
            <a:r>
              <a:rPr lang="en-US" sz="1100" dirty="0">
                <a:solidFill>
                  <a:schemeClr val="dk1"/>
                </a:solidFill>
                <a:latin typeface="Rubik"/>
                <a:ea typeface="Rubik"/>
                <a:cs typeface="Rubik"/>
                <a:sym typeface="Rubik"/>
              </a:rPr>
              <a:t>, date, </a:t>
            </a:r>
            <a:r>
              <a:rPr lang="en-US" sz="1100" dirty="0" err="1">
                <a:solidFill>
                  <a:schemeClr val="dk1"/>
                </a:solidFill>
                <a:latin typeface="Rubik"/>
                <a:ea typeface="Rubik"/>
                <a:cs typeface="Rubik"/>
                <a:sym typeface="Rubik"/>
              </a:rPr>
              <a:t>branch_id</a:t>
            </a:r>
            <a:r>
              <a:rPr lang="en-US" sz="1100" dirty="0">
                <a:solidFill>
                  <a:schemeClr val="dk1"/>
                </a:solidFill>
                <a:latin typeface="Rubik"/>
                <a:ea typeface="Rubik"/>
                <a:cs typeface="Rubik"/>
                <a:sym typeface="Rubik"/>
              </a:rPr>
              <a:t>, </a:t>
            </a:r>
            <a:r>
              <a:rPr lang="en-US" sz="1100" dirty="0" err="1">
                <a:solidFill>
                  <a:schemeClr val="dk1"/>
                </a:solidFill>
                <a:latin typeface="Rubik"/>
                <a:ea typeface="Rubik"/>
                <a:cs typeface="Rubik"/>
                <a:sym typeface="Rubik"/>
              </a:rPr>
              <a:t>branch_name</a:t>
            </a:r>
            <a:r>
              <a:rPr lang="en-US" sz="1100" dirty="0">
                <a:solidFill>
                  <a:schemeClr val="dk1"/>
                </a:solidFill>
                <a:latin typeface="Rubik"/>
                <a:ea typeface="Rubik"/>
                <a:cs typeface="Rubik"/>
                <a:sym typeface="Rubik"/>
              </a:rPr>
              <a:t>, </a:t>
            </a:r>
            <a:r>
              <a:rPr lang="en-US" sz="1100" dirty="0" err="1">
                <a:solidFill>
                  <a:schemeClr val="dk1"/>
                </a:solidFill>
                <a:latin typeface="Rubik"/>
                <a:ea typeface="Rubik"/>
                <a:cs typeface="Rubik"/>
                <a:sym typeface="Rubik"/>
              </a:rPr>
              <a:t>kota</a:t>
            </a:r>
            <a:r>
              <a:rPr lang="en-US" sz="1100" dirty="0">
                <a:solidFill>
                  <a:schemeClr val="dk1"/>
                </a:solidFill>
                <a:latin typeface="Rubik"/>
                <a:ea typeface="Rubik"/>
                <a:cs typeface="Rubik"/>
                <a:sym typeface="Rubik"/>
              </a:rPr>
              <a:t>, </a:t>
            </a:r>
            <a:r>
              <a:rPr lang="en-US" sz="1100" dirty="0" err="1">
                <a:solidFill>
                  <a:schemeClr val="dk1"/>
                </a:solidFill>
                <a:latin typeface="Rubik"/>
                <a:ea typeface="Rubik"/>
                <a:cs typeface="Rubik"/>
                <a:sym typeface="Rubik"/>
              </a:rPr>
              <a:t>provinsi</a:t>
            </a:r>
            <a:r>
              <a:rPr lang="en-US" sz="1100" dirty="0">
                <a:solidFill>
                  <a:schemeClr val="dk1"/>
                </a:solidFill>
                <a:latin typeface="Rubik"/>
                <a:ea typeface="Rubik"/>
                <a:cs typeface="Rubik"/>
                <a:sym typeface="Rubik"/>
              </a:rPr>
              <a:t>, </a:t>
            </a:r>
            <a:r>
              <a:rPr lang="en-US" sz="1100" dirty="0" err="1">
                <a:solidFill>
                  <a:schemeClr val="dk1"/>
                </a:solidFill>
                <a:latin typeface="Rubik"/>
                <a:ea typeface="Rubik"/>
                <a:cs typeface="Rubik"/>
                <a:sym typeface="Rubik"/>
              </a:rPr>
              <a:t>rating_cabang</a:t>
            </a:r>
            <a:r>
              <a:rPr lang="en-US" sz="1100" dirty="0">
                <a:solidFill>
                  <a:schemeClr val="dk1"/>
                </a:solidFill>
                <a:latin typeface="Rubik"/>
                <a:ea typeface="Rubik"/>
                <a:cs typeface="Rubik"/>
                <a:sym typeface="Rubik"/>
              </a:rPr>
              <a:t>, </a:t>
            </a:r>
            <a:r>
              <a:rPr lang="en-US" sz="1100" dirty="0" err="1">
                <a:solidFill>
                  <a:schemeClr val="dk1"/>
                </a:solidFill>
                <a:latin typeface="Rubik"/>
                <a:ea typeface="Rubik"/>
                <a:cs typeface="Rubik"/>
                <a:sym typeface="Rubik"/>
              </a:rPr>
              <a:t>customer_name</a:t>
            </a:r>
            <a:r>
              <a:rPr lang="en-US" sz="1100" dirty="0">
                <a:solidFill>
                  <a:schemeClr val="dk1"/>
                </a:solidFill>
                <a:latin typeface="Rubik"/>
                <a:ea typeface="Rubik"/>
                <a:cs typeface="Rubik"/>
                <a:sym typeface="Rubik"/>
              </a:rPr>
              <a:t>, </a:t>
            </a:r>
            <a:r>
              <a:rPr lang="en-US" sz="1100" dirty="0" err="1">
                <a:solidFill>
                  <a:schemeClr val="dk1"/>
                </a:solidFill>
                <a:latin typeface="Rubik"/>
                <a:ea typeface="Rubik"/>
                <a:cs typeface="Rubik"/>
                <a:sym typeface="Rubik"/>
              </a:rPr>
              <a:t>product_id</a:t>
            </a:r>
            <a:r>
              <a:rPr lang="en-US" sz="1100" dirty="0">
                <a:solidFill>
                  <a:schemeClr val="dk1"/>
                </a:solidFill>
                <a:latin typeface="Rubik"/>
                <a:ea typeface="Rubik"/>
                <a:cs typeface="Rubik"/>
                <a:sym typeface="Rubik"/>
              </a:rPr>
              <a:t>, </a:t>
            </a:r>
            <a:r>
              <a:rPr lang="en-US" sz="1100" dirty="0" err="1">
                <a:solidFill>
                  <a:schemeClr val="dk1"/>
                </a:solidFill>
                <a:latin typeface="Rubik"/>
                <a:ea typeface="Rubik"/>
                <a:cs typeface="Rubik"/>
                <a:sym typeface="Rubik"/>
              </a:rPr>
              <a:t>product_name</a:t>
            </a:r>
            <a:r>
              <a:rPr lang="en-US" sz="1100" dirty="0">
                <a:solidFill>
                  <a:schemeClr val="dk1"/>
                </a:solidFill>
                <a:latin typeface="Rubik"/>
                <a:ea typeface="Rubik"/>
                <a:cs typeface="Rubik"/>
                <a:sym typeface="Rubik"/>
              </a:rPr>
              <a:t>, </a:t>
            </a:r>
            <a:r>
              <a:rPr lang="en-US" sz="1100" dirty="0" err="1">
                <a:solidFill>
                  <a:schemeClr val="dk1"/>
                </a:solidFill>
                <a:latin typeface="Rubik"/>
                <a:ea typeface="Rubik"/>
                <a:cs typeface="Rubik"/>
                <a:sym typeface="Rubik"/>
              </a:rPr>
              <a:t>actual_price</a:t>
            </a:r>
            <a:r>
              <a:rPr lang="en-US" sz="1100" dirty="0">
                <a:solidFill>
                  <a:schemeClr val="dk1"/>
                </a:solidFill>
                <a:latin typeface="Rubik"/>
                <a:ea typeface="Rubik"/>
                <a:cs typeface="Rubik"/>
                <a:sym typeface="Rubik"/>
              </a:rPr>
              <a:t>, </a:t>
            </a:r>
            <a:r>
              <a:rPr lang="en-US" sz="1100" dirty="0" err="1">
                <a:solidFill>
                  <a:schemeClr val="dk1"/>
                </a:solidFill>
                <a:latin typeface="Rubik"/>
                <a:ea typeface="Rubik"/>
                <a:cs typeface="Rubik"/>
                <a:sym typeface="Rubik"/>
              </a:rPr>
              <a:t>discount_percentage</a:t>
            </a:r>
            <a:r>
              <a:rPr lang="en-US" sz="1100" dirty="0">
                <a:solidFill>
                  <a:schemeClr val="dk1"/>
                </a:solidFill>
                <a:latin typeface="Rubik"/>
                <a:ea typeface="Rubik"/>
                <a:cs typeface="Rubik"/>
                <a:sym typeface="Rubik"/>
              </a:rPr>
              <a:t>, </a:t>
            </a:r>
            <a:r>
              <a:rPr lang="en-US" sz="1100" dirty="0" err="1">
                <a:solidFill>
                  <a:schemeClr val="dk1"/>
                </a:solidFill>
                <a:latin typeface="Rubik"/>
                <a:ea typeface="Rubik"/>
                <a:cs typeface="Rubik"/>
                <a:sym typeface="Rubik"/>
              </a:rPr>
              <a:t>persentase_gross_laba</a:t>
            </a:r>
            <a:r>
              <a:rPr lang="en-US" sz="1100" dirty="0">
                <a:solidFill>
                  <a:schemeClr val="dk1"/>
                </a:solidFill>
                <a:latin typeface="Rubik"/>
                <a:ea typeface="Rubik"/>
                <a:cs typeface="Rubik"/>
                <a:sym typeface="Rubik"/>
              </a:rPr>
              <a:t>, </a:t>
            </a:r>
            <a:r>
              <a:rPr lang="en-US" sz="1100" dirty="0" err="1">
                <a:solidFill>
                  <a:schemeClr val="dk1"/>
                </a:solidFill>
                <a:latin typeface="Rubik"/>
                <a:ea typeface="Rubik"/>
                <a:cs typeface="Rubik"/>
                <a:sym typeface="Rubik"/>
              </a:rPr>
              <a:t>nett_sales</a:t>
            </a:r>
            <a:r>
              <a:rPr lang="en-US" sz="1100" dirty="0">
                <a:solidFill>
                  <a:schemeClr val="dk1"/>
                </a:solidFill>
                <a:latin typeface="Rubik"/>
                <a:ea typeface="Rubik"/>
                <a:cs typeface="Rubik"/>
                <a:sym typeface="Rubik"/>
              </a:rPr>
              <a:t>, </a:t>
            </a:r>
            <a:r>
              <a:rPr lang="en-US" sz="1100" dirty="0" err="1">
                <a:solidFill>
                  <a:schemeClr val="dk1"/>
                </a:solidFill>
                <a:latin typeface="Rubik"/>
                <a:ea typeface="Rubik"/>
                <a:cs typeface="Rubik"/>
                <a:sym typeface="Rubik"/>
              </a:rPr>
              <a:t>nett_profit</a:t>
            </a:r>
            <a:r>
              <a:rPr lang="en-US" sz="1100" dirty="0">
                <a:solidFill>
                  <a:schemeClr val="dk1"/>
                </a:solidFill>
                <a:latin typeface="Rubik"/>
                <a:ea typeface="Rubik"/>
                <a:cs typeface="Rubik"/>
                <a:sym typeface="Rubik"/>
              </a:rPr>
              <a:t>, </a:t>
            </a:r>
            <a:r>
              <a:rPr lang="en-US" sz="1100" dirty="0" err="1">
                <a:solidFill>
                  <a:schemeClr val="dk1"/>
                </a:solidFill>
                <a:latin typeface="Rubik"/>
                <a:ea typeface="Rubik"/>
                <a:cs typeface="Rubik"/>
                <a:sym typeface="Rubik"/>
              </a:rPr>
              <a:t>rating_transaksi</a:t>
            </a:r>
            <a:endParaRPr lang="en-US" sz="1100" dirty="0">
              <a:solidFill>
                <a:schemeClr val="dk1"/>
              </a:solidFill>
              <a:latin typeface="Rubik"/>
              <a:ea typeface="Rubik"/>
              <a:cs typeface="Rubik"/>
              <a:sym typeface="Rubik"/>
            </a:endParaRPr>
          </a:p>
          <a:p>
            <a:pPr marL="171450" indent="-171450">
              <a:buFont typeface="Arial" panose="020B0604020202020204" pitchFamily="34" charset="0"/>
              <a:buChar char="•"/>
            </a:pPr>
            <a:r>
              <a:rPr lang="en-US" sz="1100" b="1" dirty="0">
                <a:solidFill>
                  <a:schemeClr val="dk1"/>
                </a:solidFill>
                <a:latin typeface="Rubik"/>
                <a:ea typeface="Rubik"/>
                <a:cs typeface="Rubik"/>
                <a:sym typeface="Rubik"/>
              </a:rPr>
              <a:t>Description</a:t>
            </a:r>
            <a:r>
              <a:rPr lang="en-US" sz="1100" dirty="0">
                <a:solidFill>
                  <a:schemeClr val="dk1"/>
                </a:solidFill>
                <a:latin typeface="Rubik"/>
                <a:ea typeface="Rubik"/>
                <a:cs typeface="Rubik"/>
                <a:sym typeface="Rubik"/>
              </a:rPr>
              <a:t>: The resulting </a:t>
            </a:r>
            <a:r>
              <a:rPr lang="en-US" sz="1100" dirty="0" err="1">
                <a:solidFill>
                  <a:schemeClr val="dk1"/>
                </a:solidFill>
                <a:latin typeface="Rubik"/>
                <a:ea typeface="Rubik"/>
                <a:cs typeface="Rubik"/>
                <a:sym typeface="Rubik"/>
              </a:rPr>
              <a:t>analisa</a:t>
            </a:r>
            <a:r>
              <a:rPr lang="en-US" sz="1100" dirty="0">
                <a:solidFill>
                  <a:schemeClr val="dk1"/>
                </a:solidFill>
                <a:latin typeface="Rubik"/>
                <a:ea typeface="Rubik"/>
                <a:cs typeface="Rubik"/>
                <a:sym typeface="Rubik"/>
              </a:rPr>
              <a:t> table provides a consolidated view of transactions, enriched with branch and product details, and enhanced with calculated financial metrics. This unified dataset enables comprehensive business performance analysis and supports strategic decision-making across operational and financial domains.</a:t>
            </a:r>
            <a:endParaRPr lang="en-US" sz="1100" dirty="0"/>
          </a:p>
        </p:txBody>
      </p:sp>
    </p:spTree>
    <p:extLst>
      <p:ext uri="{BB962C8B-B14F-4D97-AF65-F5344CB8AC3E}">
        <p14:creationId xmlns:p14="http://schemas.microsoft.com/office/powerpoint/2010/main" val="1139970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g23ec2985a68_1_49"/>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35" name="Google Shape;135;g23ec2985a68_1_49"/>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36" name="Google Shape;136;g23ec2985a68_1_49"/>
          <p:cNvSpPr txBox="1"/>
          <p:nvPr/>
        </p:nvSpPr>
        <p:spPr>
          <a:xfrm>
            <a:off x="340500" y="452038"/>
            <a:ext cx="8463000" cy="600300"/>
          </a:xfrm>
          <a:prstGeom prst="rect">
            <a:avLst/>
          </a:prstGeom>
          <a:noFill/>
          <a:ln>
            <a:noFill/>
          </a:ln>
          <a:effectLst>
            <a:outerShdw blurRad="57150" dist="19050" dir="2820000" algn="bl" rotWithShape="0">
              <a:srgbClr val="B7B7B7">
                <a:alpha val="8549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3"/>
            </a:pPr>
            <a:r>
              <a:rPr lang="en" sz="2700" b="1">
                <a:latin typeface="Rubik"/>
                <a:ea typeface="Rubik"/>
                <a:cs typeface="Rubik"/>
                <a:sym typeface="Rubik"/>
              </a:rPr>
              <a:t>BigQuery Syntax</a:t>
            </a:r>
            <a:endParaRPr sz="2700" b="1" i="0" u="none" strike="noStrike" cap="none">
              <a:solidFill>
                <a:srgbClr val="000000"/>
              </a:solidFill>
              <a:latin typeface="Rubik"/>
              <a:ea typeface="Rubik"/>
              <a:cs typeface="Rubik"/>
              <a:sym typeface="Rubik"/>
            </a:endParaRPr>
          </a:p>
        </p:txBody>
      </p:sp>
      <p:graphicFrame>
        <p:nvGraphicFramePr>
          <p:cNvPr id="3" name="Table 3">
            <a:extLst>
              <a:ext uri="{FF2B5EF4-FFF2-40B4-BE49-F238E27FC236}">
                <a16:creationId xmlns:a16="http://schemas.microsoft.com/office/drawing/2014/main" id="{8DE2592B-0069-4B67-8097-058171A022C3}"/>
              </a:ext>
            </a:extLst>
          </p:cNvPr>
          <p:cNvGraphicFramePr>
            <a:graphicFrameLocks noGrp="1"/>
          </p:cNvGraphicFramePr>
          <p:nvPr>
            <p:extLst>
              <p:ext uri="{D42A27DB-BD31-4B8C-83A1-F6EECF244321}">
                <p14:modId xmlns:p14="http://schemas.microsoft.com/office/powerpoint/2010/main" val="2554385274"/>
              </p:ext>
            </p:extLst>
          </p:nvPr>
        </p:nvGraphicFramePr>
        <p:xfrm>
          <a:off x="3903420" y="321746"/>
          <a:ext cx="3425714" cy="4602480"/>
        </p:xfrm>
        <a:graphic>
          <a:graphicData uri="http://schemas.openxmlformats.org/drawingml/2006/table">
            <a:tbl>
              <a:tblPr firstRow="1" bandRow="1">
                <a:tableStyleId>{7DF18680-E054-41AD-8BC1-D1AEF772440D}</a:tableStyleId>
              </a:tblPr>
              <a:tblGrid>
                <a:gridCol w="3425714">
                  <a:extLst>
                    <a:ext uri="{9D8B030D-6E8A-4147-A177-3AD203B41FA5}">
                      <a16:colId xmlns:a16="http://schemas.microsoft.com/office/drawing/2014/main" val="23938989"/>
                    </a:ext>
                  </a:extLst>
                </a:gridCol>
              </a:tblGrid>
              <a:tr h="370840">
                <a:tc>
                  <a:txBody>
                    <a:bodyPr/>
                    <a:lstStyle/>
                    <a:p>
                      <a:r>
                        <a:rPr lang="en-US" sz="800" dirty="0">
                          <a:solidFill>
                            <a:schemeClr val="tx1"/>
                          </a:solidFill>
                        </a:rPr>
                        <a:t>CREATE TABLE `</a:t>
                      </a:r>
                      <a:r>
                        <a:rPr lang="en-US" sz="800" dirty="0" err="1">
                          <a:solidFill>
                            <a:schemeClr val="tx1"/>
                          </a:solidFill>
                        </a:rPr>
                        <a:t>Rakamin_KF_Analytics.kimia_farma.analisa</a:t>
                      </a:r>
                      <a:r>
                        <a:rPr lang="en-US" sz="800" dirty="0">
                          <a:solidFill>
                            <a:schemeClr val="tx1"/>
                          </a:solidFill>
                        </a:rPr>
                        <a:t>` AS</a:t>
                      </a:r>
                    </a:p>
                    <a:p>
                      <a:r>
                        <a:rPr lang="en-US" sz="800" dirty="0">
                          <a:solidFill>
                            <a:schemeClr val="tx1"/>
                          </a:solidFill>
                        </a:rPr>
                        <a:t>SELECT </a:t>
                      </a:r>
                    </a:p>
                    <a:p>
                      <a:r>
                        <a:rPr lang="en-US" sz="800" dirty="0">
                          <a:solidFill>
                            <a:schemeClr val="tx1"/>
                          </a:solidFill>
                        </a:rPr>
                        <a:t>    </a:t>
                      </a:r>
                      <a:r>
                        <a:rPr lang="en-US" sz="800" dirty="0" err="1">
                          <a:solidFill>
                            <a:schemeClr val="tx1"/>
                          </a:solidFill>
                        </a:rPr>
                        <a:t>t.transaction_id</a:t>
                      </a:r>
                      <a:r>
                        <a:rPr lang="en-US" sz="800" dirty="0">
                          <a:solidFill>
                            <a:schemeClr val="tx1"/>
                          </a:solidFill>
                        </a:rPr>
                        <a:t>,</a:t>
                      </a:r>
                    </a:p>
                    <a:p>
                      <a:r>
                        <a:rPr lang="en-US" sz="800" dirty="0">
                          <a:solidFill>
                            <a:schemeClr val="tx1"/>
                          </a:solidFill>
                        </a:rPr>
                        <a:t>    </a:t>
                      </a:r>
                      <a:r>
                        <a:rPr lang="en-US" sz="800" dirty="0" err="1">
                          <a:solidFill>
                            <a:schemeClr val="tx1"/>
                          </a:solidFill>
                        </a:rPr>
                        <a:t>t.date</a:t>
                      </a:r>
                      <a:r>
                        <a:rPr lang="en-US" sz="800" dirty="0">
                          <a:solidFill>
                            <a:schemeClr val="tx1"/>
                          </a:solidFill>
                        </a:rPr>
                        <a:t>,</a:t>
                      </a:r>
                    </a:p>
                    <a:p>
                      <a:r>
                        <a:rPr lang="en-US" sz="800" dirty="0">
                          <a:solidFill>
                            <a:schemeClr val="tx1"/>
                          </a:solidFill>
                        </a:rPr>
                        <a:t>    </a:t>
                      </a:r>
                      <a:r>
                        <a:rPr lang="en-US" sz="800" dirty="0" err="1">
                          <a:solidFill>
                            <a:schemeClr val="tx1"/>
                          </a:solidFill>
                        </a:rPr>
                        <a:t>t.branch_id</a:t>
                      </a:r>
                      <a:r>
                        <a:rPr lang="en-US" sz="800" dirty="0">
                          <a:solidFill>
                            <a:schemeClr val="tx1"/>
                          </a:solidFill>
                        </a:rPr>
                        <a:t>,</a:t>
                      </a:r>
                    </a:p>
                    <a:p>
                      <a:r>
                        <a:rPr lang="en-US" sz="800" dirty="0">
                          <a:solidFill>
                            <a:schemeClr val="tx1"/>
                          </a:solidFill>
                        </a:rPr>
                        <a:t>    </a:t>
                      </a:r>
                      <a:r>
                        <a:rPr lang="en-US" sz="800" dirty="0" err="1">
                          <a:solidFill>
                            <a:schemeClr val="tx1"/>
                          </a:solidFill>
                        </a:rPr>
                        <a:t>k.branch_name</a:t>
                      </a:r>
                      <a:r>
                        <a:rPr lang="en-US" sz="800" dirty="0">
                          <a:solidFill>
                            <a:schemeClr val="tx1"/>
                          </a:solidFill>
                        </a:rPr>
                        <a:t>,</a:t>
                      </a:r>
                    </a:p>
                    <a:p>
                      <a:r>
                        <a:rPr lang="en-US" sz="800" dirty="0">
                          <a:solidFill>
                            <a:schemeClr val="tx1"/>
                          </a:solidFill>
                        </a:rPr>
                        <a:t>    </a:t>
                      </a:r>
                      <a:r>
                        <a:rPr lang="en-US" sz="800" dirty="0" err="1">
                          <a:solidFill>
                            <a:schemeClr val="tx1"/>
                          </a:solidFill>
                        </a:rPr>
                        <a:t>k.kota</a:t>
                      </a:r>
                      <a:r>
                        <a:rPr lang="en-US" sz="800" dirty="0">
                          <a:solidFill>
                            <a:schemeClr val="tx1"/>
                          </a:solidFill>
                        </a:rPr>
                        <a:t>,</a:t>
                      </a:r>
                    </a:p>
                    <a:p>
                      <a:r>
                        <a:rPr lang="en-US" sz="800" dirty="0">
                          <a:solidFill>
                            <a:schemeClr val="tx1"/>
                          </a:solidFill>
                        </a:rPr>
                        <a:t>    </a:t>
                      </a:r>
                      <a:r>
                        <a:rPr lang="en-US" sz="800" dirty="0" err="1">
                          <a:solidFill>
                            <a:schemeClr val="tx1"/>
                          </a:solidFill>
                        </a:rPr>
                        <a:t>k.provinsi</a:t>
                      </a:r>
                      <a:r>
                        <a:rPr lang="en-US" sz="800" dirty="0">
                          <a:solidFill>
                            <a:schemeClr val="tx1"/>
                          </a:solidFill>
                        </a:rPr>
                        <a:t>,</a:t>
                      </a:r>
                    </a:p>
                    <a:p>
                      <a:r>
                        <a:rPr lang="en-US" sz="800" dirty="0">
                          <a:solidFill>
                            <a:schemeClr val="tx1"/>
                          </a:solidFill>
                        </a:rPr>
                        <a:t>    </a:t>
                      </a:r>
                      <a:r>
                        <a:rPr lang="en-US" sz="800" dirty="0" err="1">
                          <a:solidFill>
                            <a:schemeClr val="tx1"/>
                          </a:solidFill>
                        </a:rPr>
                        <a:t>k.rating</a:t>
                      </a:r>
                      <a:r>
                        <a:rPr lang="en-US" sz="800" dirty="0">
                          <a:solidFill>
                            <a:schemeClr val="tx1"/>
                          </a:solidFill>
                        </a:rPr>
                        <a:t> AS </a:t>
                      </a:r>
                      <a:r>
                        <a:rPr lang="en-US" sz="800" dirty="0" err="1">
                          <a:solidFill>
                            <a:schemeClr val="tx1"/>
                          </a:solidFill>
                        </a:rPr>
                        <a:t>rating_cabang</a:t>
                      </a:r>
                      <a:r>
                        <a:rPr lang="en-US" sz="800" dirty="0">
                          <a:solidFill>
                            <a:schemeClr val="tx1"/>
                          </a:solidFill>
                        </a:rPr>
                        <a:t>,</a:t>
                      </a:r>
                    </a:p>
                    <a:p>
                      <a:r>
                        <a:rPr lang="en-US" sz="800" dirty="0">
                          <a:solidFill>
                            <a:schemeClr val="tx1"/>
                          </a:solidFill>
                        </a:rPr>
                        <a:t>    </a:t>
                      </a:r>
                      <a:r>
                        <a:rPr lang="en-US" sz="800" dirty="0" err="1">
                          <a:solidFill>
                            <a:schemeClr val="tx1"/>
                          </a:solidFill>
                        </a:rPr>
                        <a:t>t.customer_name</a:t>
                      </a:r>
                      <a:r>
                        <a:rPr lang="en-US" sz="800" dirty="0">
                          <a:solidFill>
                            <a:schemeClr val="tx1"/>
                          </a:solidFill>
                        </a:rPr>
                        <a:t>,</a:t>
                      </a:r>
                    </a:p>
                    <a:p>
                      <a:r>
                        <a:rPr lang="en-US" sz="800" dirty="0">
                          <a:solidFill>
                            <a:schemeClr val="tx1"/>
                          </a:solidFill>
                        </a:rPr>
                        <a:t>    </a:t>
                      </a:r>
                      <a:r>
                        <a:rPr lang="en-US" sz="800" dirty="0" err="1">
                          <a:solidFill>
                            <a:schemeClr val="tx1"/>
                          </a:solidFill>
                        </a:rPr>
                        <a:t>t.product_id</a:t>
                      </a:r>
                      <a:r>
                        <a:rPr lang="en-US" sz="800" dirty="0">
                          <a:solidFill>
                            <a:schemeClr val="tx1"/>
                          </a:solidFill>
                        </a:rPr>
                        <a:t>,</a:t>
                      </a:r>
                    </a:p>
                    <a:p>
                      <a:r>
                        <a:rPr lang="en-US" sz="800" dirty="0">
                          <a:solidFill>
                            <a:schemeClr val="tx1"/>
                          </a:solidFill>
                        </a:rPr>
                        <a:t>    </a:t>
                      </a:r>
                      <a:r>
                        <a:rPr lang="en-US" sz="800" dirty="0" err="1">
                          <a:solidFill>
                            <a:schemeClr val="tx1"/>
                          </a:solidFill>
                        </a:rPr>
                        <a:t>p.product_name</a:t>
                      </a:r>
                      <a:r>
                        <a:rPr lang="en-US" sz="800" dirty="0">
                          <a:solidFill>
                            <a:schemeClr val="tx1"/>
                          </a:solidFill>
                        </a:rPr>
                        <a:t>,</a:t>
                      </a:r>
                    </a:p>
                    <a:p>
                      <a:r>
                        <a:rPr lang="en-US" sz="800" dirty="0">
                          <a:solidFill>
                            <a:schemeClr val="tx1"/>
                          </a:solidFill>
                        </a:rPr>
                        <a:t>    </a:t>
                      </a:r>
                      <a:r>
                        <a:rPr lang="en-US" sz="800" dirty="0" err="1">
                          <a:solidFill>
                            <a:schemeClr val="tx1"/>
                          </a:solidFill>
                        </a:rPr>
                        <a:t>t.price</a:t>
                      </a:r>
                      <a:r>
                        <a:rPr lang="en-US" sz="800" dirty="0">
                          <a:solidFill>
                            <a:schemeClr val="tx1"/>
                          </a:solidFill>
                        </a:rPr>
                        <a:t> AS </a:t>
                      </a:r>
                      <a:r>
                        <a:rPr lang="en-US" sz="800" dirty="0" err="1">
                          <a:solidFill>
                            <a:schemeClr val="tx1"/>
                          </a:solidFill>
                        </a:rPr>
                        <a:t>actual_price</a:t>
                      </a:r>
                      <a:r>
                        <a:rPr lang="en-US" sz="800" dirty="0">
                          <a:solidFill>
                            <a:schemeClr val="tx1"/>
                          </a:solidFill>
                        </a:rPr>
                        <a:t>,</a:t>
                      </a:r>
                    </a:p>
                    <a:p>
                      <a:r>
                        <a:rPr lang="en-US" sz="800" dirty="0">
                          <a:solidFill>
                            <a:schemeClr val="tx1"/>
                          </a:solidFill>
                        </a:rPr>
                        <a:t>    </a:t>
                      </a:r>
                      <a:r>
                        <a:rPr lang="en-US" sz="800" dirty="0" err="1">
                          <a:solidFill>
                            <a:schemeClr val="tx1"/>
                          </a:solidFill>
                        </a:rPr>
                        <a:t>t.discount_percentage</a:t>
                      </a:r>
                      <a:r>
                        <a:rPr lang="en-US" sz="800" dirty="0">
                          <a:solidFill>
                            <a:schemeClr val="tx1"/>
                          </a:solidFill>
                        </a:rPr>
                        <a:t>,</a:t>
                      </a:r>
                    </a:p>
                    <a:p>
                      <a:r>
                        <a:rPr lang="en-US" sz="800" dirty="0">
                          <a:solidFill>
                            <a:schemeClr val="tx1"/>
                          </a:solidFill>
                        </a:rPr>
                        <a:t>    CASE </a:t>
                      </a:r>
                    </a:p>
                    <a:p>
                      <a:r>
                        <a:rPr lang="en-US" sz="800" dirty="0">
                          <a:solidFill>
                            <a:schemeClr val="tx1"/>
                          </a:solidFill>
                        </a:rPr>
                        <a:t>        WHEN </a:t>
                      </a:r>
                      <a:r>
                        <a:rPr lang="en-US" sz="800" dirty="0" err="1">
                          <a:solidFill>
                            <a:schemeClr val="tx1"/>
                          </a:solidFill>
                        </a:rPr>
                        <a:t>t.price</a:t>
                      </a:r>
                      <a:r>
                        <a:rPr lang="en-US" sz="800" dirty="0">
                          <a:solidFill>
                            <a:schemeClr val="tx1"/>
                          </a:solidFill>
                        </a:rPr>
                        <a:t> &lt;= 50000 THEN 0.10</a:t>
                      </a:r>
                    </a:p>
                    <a:p>
                      <a:r>
                        <a:rPr lang="en-US" sz="800" dirty="0">
                          <a:solidFill>
                            <a:schemeClr val="tx1"/>
                          </a:solidFill>
                        </a:rPr>
                        <a:t>        WHEN </a:t>
                      </a:r>
                      <a:r>
                        <a:rPr lang="en-US" sz="800" dirty="0" err="1">
                          <a:solidFill>
                            <a:schemeClr val="tx1"/>
                          </a:solidFill>
                        </a:rPr>
                        <a:t>t.price</a:t>
                      </a:r>
                      <a:r>
                        <a:rPr lang="en-US" sz="800" dirty="0">
                          <a:solidFill>
                            <a:schemeClr val="tx1"/>
                          </a:solidFill>
                        </a:rPr>
                        <a:t> &gt; 50000 AND </a:t>
                      </a:r>
                      <a:r>
                        <a:rPr lang="en-US" sz="800" dirty="0" err="1">
                          <a:solidFill>
                            <a:schemeClr val="tx1"/>
                          </a:solidFill>
                        </a:rPr>
                        <a:t>t.price</a:t>
                      </a:r>
                      <a:r>
                        <a:rPr lang="en-US" sz="800" dirty="0">
                          <a:solidFill>
                            <a:schemeClr val="tx1"/>
                          </a:solidFill>
                        </a:rPr>
                        <a:t> &lt;= 100000 THEN 0.15</a:t>
                      </a:r>
                    </a:p>
                    <a:p>
                      <a:r>
                        <a:rPr lang="en-US" sz="800" dirty="0">
                          <a:solidFill>
                            <a:schemeClr val="tx1"/>
                          </a:solidFill>
                        </a:rPr>
                        <a:t>        WHEN </a:t>
                      </a:r>
                      <a:r>
                        <a:rPr lang="en-US" sz="800" dirty="0" err="1">
                          <a:solidFill>
                            <a:schemeClr val="tx1"/>
                          </a:solidFill>
                        </a:rPr>
                        <a:t>t.price</a:t>
                      </a:r>
                      <a:r>
                        <a:rPr lang="en-US" sz="800" dirty="0">
                          <a:solidFill>
                            <a:schemeClr val="tx1"/>
                          </a:solidFill>
                        </a:rPr>
                        <a:t> &gt; 100000 AND </a:t>
                      </a:r>
                      <a:r>
                        <a:rPr lang="en-US" sz="800" dirty="0" err="1">
                          <a:solidFill>
                            <a:schemeClr val="tx1"/>
                          </a:solidFill>
                        </a:rPr>
                        <a:t>t.price</a:t>
                      </a:r>
                      <a:r>
                        <a:rPr lang="en-US" sz="800" dirty="0">
                          <a:solidFill>
                            <a:schemeClr val="tx1"/>
                          </a:solidFill>
                        </a:rPr>
                        <a:t> &lt;= 300000 THEN 0.20</a:t>
                      </a:r>
                    </a:p>
                    <a:p>
                      <a:r>
                        <a:rPr lang="en-US" sz="800" dirty="0">
                          <a:solidFill>
                            <a:schemeClr val="tx1"/>
                          </a:solidFill>
                        </a:rPr>
                        <a:t>        WHEN </a:t>
                      </a:r>
                      <a:r>
                        <a:rPr lang="en-US" sz="800" dirty="0" err="1">
                          <a:solidFill>
                            <a:schemeClr val="tx1"/>
                          </a:solidFill>
                        </a:rPr>
                        <a:t>t.price</a:t>
                      </a:r>
                      <a:r>
                        <a:rPr lang="en-US" sz="800" dirty="0">
                          <a:solidFill>
                            <a:schemeClr val="tx1"/>
                          </a:solidFill>
                        </a:rPr>
                        <a:t> &gt; 300000 AND </a:t>
                      </a:r>
                      <a:r>
                        <a:rPr lang="en-US" sz="800" dirty="0" err="1">
                          <a:solidFill>
                            <a:schemeClr val="tx1"/>
                          </a:solidFill>
                        </a:rPr>
                        <a:t>t.price</a:t>
                      </a:r>
                      <a:r>
                        <a:rPr lang="en-US" sz="800" dirty="0">
                          <a:solidFill>
                            <a:schemeClr val="tx1"/>
                          </a:solidFill>
                        </a:rPr>
                        <a:t> &lt;= 500000 THEN 0.25</a:t>
                      </a:r>
                    </a:p>
                    <a:p>
                      <a:r>
                        <a:rPr lang="en-US" sz="800" dirty="0">
                          <a:solidFill>
                            <a:schemeClr val="tx1"/>
                          </a:solidFill>
                        </a:rPr>
                        <a:t>        WHEN </a:t>
                      </a:r>
                      <a:r>
                        <a:rPr lang="en-US" sz="800" dirty="0" err="1">
                          <a:solidFill>
                            <a:schemeClr val="tx1"/>
                          </a:solidFill>
                        </a:rPr>
                        <a:t>t.price</a:t>
                      </a:r>
                      <a:r>
                        <a:rPr lang="en-US" sz="800" dirty="0">
                          <a:solidFill>
                            <a:schemeClr val="tx1"/>
                          </a:solidFill>
                        </a:rPr>
                        <a:t> &gt; 500000 THEN 0.30</a:t>
                      </a:r>
                    </a:p>
                    <a:p>
                      <a:r>
                        <a:rPr lang="en-US" sz="800" dirty="0">
                          <a:solidFill>
                            <a:schemeClr val="tx1"/>
                          </a:solidFill>
                        </a:rPr>
                        <a:t>    END AS </a:t>
                      </a:r>
                      <a:r>
                        <a:rPr lang="en-US" sz="800" dirty="0" err="1">
                          <a:solidFill>
                            <a:schemeClr val="tx1"/>
                          </a:solidFill>
                        </a:rPr>
                        <a:t>persentase_gross_laba</a:t>
                      </a:r>
                      <a:r>
                        <a:rPr lang="en-US" sz="800" dirty="0">
                          <a:solidFill>
                            <a:schemeClr val="tx1"/>
                          </a:solidFill>
                        </a:rPr>
                        <a:t>,</a:t>
                      </a:r>
                    </a:p>
                    <a:p>
                      <a:r>
                        <a:rPr lang="en-US" sz="800" dirty="0">
                          <a:solidFill>
                            <a:schemeClr val="tx1"/>
                          </a:solidFill>
                        </a:rPr>
                        <a:t>    </a:t>
                      </a:r>
                      <a:r>
                        <a:rPr lang="en-US" sz="800" dirty="0" err="1">
                          <a:solidFill>
                            <a:schemeClr val="tx1"/>
                          </a:solidFill>
                        </a:rPr>
                        <a:t>t.price</a:t>
                      </a:r>
                      <a:r>
                        <a:rPr lang="en-US" sz="800" dirty="0">
                          <a:solidFill>
                            <a:schemeClr val="tx1"/>
                          </a:solidFill>
                        </a:rPr>
                        <a:t> * (1 - </a:t>
                      </a:r>
                      <a:r>
                        <a:rPr lang="en-US" sz="800" dirty="0" err="1">
                          <a:solidFill>
                            <a:schemeClr val="tx1"/>
                          </a:solidFill>
                        </a:rPr>
                        <a:t>t.discount_percentage</a:t>
                      </a:r>
                      <a:r>
                        <a:rPr lang="en-US" sz="800" dirty="0">
                          <a:solidFill>
                            <a:schemeClr val="tx1"/>
                          </a:solidFill>
                        </a:rPr>
                        <a:t>) AS </a:t>
                      </a:r>
                      <a:r>
                        <a:rPr lang="en-US" sz="800" dirty="0" err="1">
                          <a:solidFill>
                            <a:schemeClr val="tx1"/>
                          </a:solidFill>
                        </a:rPr>
                        <a:t>nett_sales</a:t>
                      </a:r>
                      <a:r>
                        <a:rPr lang="en-US" sz="800" dirty="0">
                          <a:solidFill>
                            <a:schemeClr val="tx1"/>
                          </a:solidFill>
                        </a:rPr>
                        <a:t>,</a:t>
                      </a:r>
                    </a:p>
                    <a:p>
                      <a:r>
                        <a:rPr lang="en-US" sz="800" dirty="0">
                          <a:solidFill>
                            <a:schemeClr val="tx1"/>
                          </a:solidFill>
                        </a:rPr>
                        <a:t>    (</a:t>
                      </a:r>
                      <a:r>
                        <a:rPr lang="en-US" sz="800" dirty="0" err="1">
                          <a:solidFill>
                            <a:schemeClr val="tx1"/>
                          </a:solidFill>
                        </a:rPr>
                        <a:t>t.price</a:t>
                      </a:r>
                      <a:r>
                        <a:rPr lang="en-US" sz="800" dirty="0">
                          <a:solidFill>
                            <a:schemeClr val="tx1"/>
                          </a:solidFill>
                        </a:rPr>
                        <a:t> * (1 - </a:t>
                      </a:r>
                      <a:r>
                        <a:rPr lang="en-US" sz="800" dirty="0" err="1">
                          <a:solidFill>
                            <a:schemeClr val="tx1"/>
                          </a:solidFill>
                        </a:rPr>
                        <a:t>t.discount_percentage</a:t>
                      </a:r>
                      <a:r>
                        <a:rPr lang="en-US" sz="800" dirty="0">
                          <a:solidFill>
                            <a:schemeClr val="tx1"/>
                          </a:solidFill>
                        </a:rPr>
                        <a:t>)) * </a:t>
                      </a:r>
                    </a:p>
                    <a:p>
                      <a:r>
                        <a:rPr lang="en-US" sz="800" dirty="0">
                          <a:solidFill>
                            <a:schemeClr val="tx1"/>
                          </a:solidFill>
                        </a:rPr>
                        <a:t>    CASE </a:t>
                      </a:r>
                    </a:p>
                    <a:p>
                      <a:r>
                        <a:rPr lang="en-US" sz="800" dirty="0">
                          <a:solidFill>
                            <a:schemeClr val="tx1"/>
                          </a:solidFill>
                        </a:rPr>
                        <a:t>        WHEN </a:t>
                      </a:r>
                      <a:r>
                        <a:rPr lang="en-US" sz="800" dirty="0" err="1">
                          <a:solidFill>
                            <a:schemeClr val="tx1"/>
                          </a:solidFill>
                        </a:rPr>
                        <a:t>t.price</a:t>
                      </a:r>
                      <a:r>
                        <a:rPr lang="en-US" sz="800" dirty="0">
                          <a:solidFill>
                            <a:schemeClr val="tx1"/>
                          </a:solidFill>
                        </a:rPr>
                        <a:t> &lt;= 50000 THEN 0.10</a:t>
                      </a:r>
                    </a:p>
                    <a:p>
                      <a:r>
                        <a:rPr lang="en-US" sz="800" dirty="0">
                          <a:solidFill>
                            <a:schemeClr val="tx1"/>
                          </a:solidFill>
                        </a:rPr>
                        <a:t>        WHEN </a:t>
                      </a:r>
                      <a:r>
                        <a:rPr lang="en-US" sz="800" dirty="0" err="1">
                          <a:solidFill>
                            <a:schemeClr val="tx1"/>
                          </a:solidFill>
                        </a:rPr>
                        <a:t>t.price</a:t>
                      </a:r>
                      <a:r>
                        <a:rPr lang="en-US" sz="800" dirty="0">
                          <a:solidFill>
                            <a:schemeClr val="tx1"/>
                          </a:solidFill>
                        </a:rPr>
                        <a:t> &gt; 50000 AND </a:t>
                      </a:r>
                      <a:r>
                        <a:rPr lang="en-US" sz="800" dirty="0" err="1">
                          <a:solidFill>
                            <a:schemeClr val="tx1"/>
                          </a:solidFill>
                        </a:rPr>
                        <a:t>t.price</a:t>
                      </a:r>
                      <a:r>
                        <a:rPr lang="en-US" sz="800" dirty="0">
                          <a:solidFill>
                            <a:schemeClr val="tx1"/>
                          </a:solidFill>
                        </a:rPr>
                        <a:t> &lt;= 100000 THEN 0.15</a:t>
                      </a:r>
                    </a:p>
                    <a:p>
                      <a:r>
                        <a:rPr lang="en-US" sz="800" dirty="0">
                          <a:solidFill>
                            <a:schemeClr val="tx1"/>
                          </a:solidFill>
                        </a:rPr>
                        <a:t>        WHEN </a:t>
                      </a:r>
                      <a:r>
                        <a:rPr lang="en-US" sz="800" dirty="0" err="1">
                          <a:solidFill>
                            <a:schemeClr val="tx1"/>
                          </a:solidFill>
                        </a:rPr>
                        <a:t>t.price</a:t>
                      </a:r>
                      <a:r>
                        <a:rPr lang="en-US" sz="800" dirty="0">
                          <a:solidFill>
                            <a:schemeClr val="tx1"/>
                          </a:solidFill>
                        </a:rPr>
                        <a:t> &gt; 100000 AND </a:t>
                      </a:r>
                      <a:r>
                        <a:rPr lang="en-US" sz="800" dirty="0" err="1">
                          <a:solidFill>
                            <a:schemeClr val="tx1"/>
                          </a:solidFill>
                        </a:rPr>
                        <a:t>t.price</a:t>
                      </a:r>
                      <a:r>
                        <a:rPr lang="en-US" sz="800" dirty="0">
                          <a:solidFill>
                            <a:schemeClr val="tx1"/>
                          </a:solidFill>
                        </a:rPr>
                        <a:t> &lt;= 300000 THEN 0.20</a:t>
                      </a:r>
                    </a:p>
                    <a:p>
                      <a:r>
                        <a:rPr lang="en-US" sz="800" dirty="0">
                          <a:solidFill>
                            <a:schemeClr val="tx1"/>
                          </a:solidFill>
                        </a:rPr>
                        <a:t>        WHEN </a:t>
                      </a:r>
                      <a:r>
                        <a:rPr lang="en-US" sz="800" dirty="0" err="1">
                          <a:solidFill>
                            <a:schemeClr val="tx1"/>
                          </a:solidFill>
                        </a:rPr>
                        <a:t>t.price</a:t>
                      </a:r>
                      <a:r>
                        <a:rPr lang="en-US" sz="800" dirty="0">
                          <a:solidFill>
                            <a:schemeClr val="tx1"/>
                          </a:solidFill>
                        </a:rPr>
                        <a:t> &gt; 300000 AND </a:t>
                      </a:r>
                      <a:r>
                        <a:rPr lang="en-US" sz="800" dirty="0" err="1">
                          <a:solidFill>
                            <a:schemeClr val="tx1"/>
                          </a:solidFill>
                        </a:rPr>
                        <a:t>t.price</a:t>
                      </a:r>
                      <a:r>
                        <a:rPr lang="en-US" sz="800" dirty="0">
                          <a:solidFill>
                            <a:schemeClr val="tx1"/>
                          </a:solidFill>
                        </a:rPr>
                        <a:t> &lt;= 500000 THEN 0.25</a:t>
                      </a:r>
                    </a:p>
                    <a:p>
                      <a:r>
                        <a:rPr lang="en-US" sz="800" dirty="0">
                          <a:solidFill>
                            <a:schemeClr val="tx1"/>
                          </a:solidFill>
                        </a:rPr>
                        <a:t>        WHEN </a:t>
                      </a:r>
                      <a:r>
                        <a:rPr lang="en-US" sz="800" dirty="0" err="1">
                          <a:solidFill>
                            <a:schemeClr val="tx1"/>
                          </a:solidFill>
                        </a:rPr>
                        <a:t>t.price</a:t>
                      </a:r>
                      <a:r>
                        <a:rPr lang="en-US" sz="800" dirty="0">
                          <a:solidFill>
                            <a:schemeClr val="tx1"/>
                          </a:solidFill>
                        </a:rPr>
                        <a:t> &gt; 500000 THEN 0.30</a:t>
                      </a:r>
                    </a:p>
                    <a:p>
                      <a:r>
                        <a:rPr lang="en-US" sz="800" dirty="0">
                          <a:solidFill>
                            <a:schemeClr val="tx1"/>
                          </a:solidFill>
                        </a:rPr>
                        <a:t>    END AS </a:t>
                      </a:r>
                      <a:r>
                        <a:rPr lang="en-US" sz="800" dirty="0" err="1">
                          <a:solidFill>
                            <a:schemeClr val="tx1"/>
                          </a:solidFill>
                        </a:rPr>
                        <a:t>nett_profit</a:t>
                      </a:r>
                      <a:r>
                        <a:rPr lang="en-US" sz="800" dirty="0">
                          <a:solidFill>
                            <a:schemeClr val="tx1"/>
                          </a:solidFill>
                        </a:rPr>
                        <a:t>,</a:t>
                      </a:r>
                    </a:p>
                    <a:p>
                      <a:r>
                        <a:rPr lang="en-US" sz="800" dirty="0">
                          <a:solidFill>
                            <a:schemeClr val="tx1"/>
                          </a:solidFill>
                        </a:rPr>
                        <a:t>    </a:t>
                      </a:r>
                      <a:r>
                        <a:rPr lang="en-US" sz="800" dirty="0" err="1">
                          <a:solidFill>
                            <a:schemeClr val="tx1"/>
                          </a:solidFill>
                        </a:rPr>
                        <a:t>t.rating</a:t>
                      </a:r>
                      <a:r>
                        <a:rPr lang="en-US" sz="800" dirty="0">
                          <a:solidFill>
                            <a:schemeClr val="tx1"/>
                          </a:solidFill>
                        </a:rPr>
                        <a:t> AS </a:t>
                      </a:r>
                      <a:r>
                        <a:rPr lang="en-US" sz="800" dirty="0" err="1">
                          <a:solidFill>
                            <a:schemeClr val="tx1"/>
                          </a:solidFill>
                        </a:rPr>
                        <a:t>rating_transaksi</a:t>
                      </a:r>
                      <a:endParaRPr lang="en-US" sz="800" dirty="0">
                        <a:solidFill>
                          <a:schemeClr val="tx1"/>
                        </a:solidFill>
                      </a:endParaRPr>
                    </a:p>
                    <a:p>
                      <a:r>
                        <a:rPr lang="en-US" sz="800" dirty="0">
                          <a:solidFill>
                            <a:schemeClr val="tx1"/>
                          </a:solidFill>
                        </a:rPr>
                        <a:t>FROM `</a:t>
                      </a:r>
                      <a:r>
                        <a:rPr lang="en-US" sz="800" dirty="0" err="1">
                          <a:solidFill>
                            <a:schemeClr val="tx1"/>
                          </a:solidFill>
                        </a:rPr>
                        <a:t>Rakamin_KF_Analytics.kimia_farma.kf_final_transaction</a:t>
                      </a:r>
                      <a:r>
                        <a:rPr lang="en-US" sz="800" dirty="0">
                          <a:solidFill>
                            <a:schemeClr val="tx1"/>
                          </a:solidFill>
                        </a:rPr>
                        <a:t>` t</a:t>
                      </a:r>
                    </a:p>
                    <a:p>
                      <a:r>
                        <a:rPr lang="en-US" sz="800" dirty="0">
                          <a:solidFill>
                            <a:schemeClr val="tx1"/>
                          </a:solidFill>
                        </a:rPr>
                        <a:t>LEFT JOIN `</a:t>
                      </a:r>
                      <a:r>
                        <a:rPr lang="en-US" sz="800" dirty="0" err="1">
                          <a:solidFill>
                            <a:schemeClr val="tx1"/>
                          </a:solidFill>
                        </a:rPr>
                        <a:t>Rakamin_KF_Analytics.kimia_farma.kf_kantor_cabang</a:t>
                      </a:r>
                      <a:r>
                        <a:rPr lang="en-US" sz="800" dirty="0">
                          <a:solidFill>
                            <a:schemeClr val="tx1"/>
                          </a:solidFill>
                        </a:rPr>
                        <a:t>` k</a:t>
                      </a:r>
                    </a:p>
                    <a:p>
                      <a:r>
                        <a:rPr lang="en-US" sz="800" dirty="0">
                          <a:solidFill>
                            <a:schemeClr val="tx1"/>
                          </a:solidFill>
                        </a:rPr>
                        <a:t>    ON </a:t>
                      </a:r>
                      <a:r>
                        <a:rPr lang="en-US" sz="800" dirty="0" err="1">
                          <a:solidFill>
                            <a:schemeClr val="tx1"/>
                          </a:solidFill>
                        </a:rPr>
                        <a:t>t.branch_id</a:t>
                      </a:r>
                      <a:r>
                        <a:rPr lang="en-US" sz="800" dirty="0">
                          <a:solidFill>
                            <a:schemeClr val="tx1"/>
                          </a:solidFill>
                        </a:rPr>
                        <a:t> = </a:t>
                      </a:r>
                      <a:r>
                        <a:rPr lang="en-US" sz="800" dirty="0" err="1">
                          <a:solidFill>
                            <a:schemeClr val="tx1"/>
                          </a:solidFill>
                        </a:rPr>
                        <a:t>k.branch_id</a:t>
                      </a:r>
                      <a:endParaRPr lang="en-US" sz="800" dirty="0">
                        <a:solidFill>
                          <a:schemeClr val="tx1"/>
                        </a:solidFill>
                      </a:endParaRPr>
                    </a:p>
                    <a:p>
                      <a:r>
                        <a:rPr lang="en-US" sz="800" dirty="0">
                          <a:solidFill>
                            <a:schemeClr val="tx1"/>
                          </a:solidFill>
                        </a:rPr>
                        <a:t>LEFT JOIN `</a:t>
                      </a:r>
                      <a:r>
                        <a:rPr lang="en-US" sz="800" dirty="0" err="1">
                          <a:solidFill>
                            <a:schemeClr val="tx1"/>
                          </a:solidFill>
                        </a:rPr>
                        <a:t>Rakamin_KF_Analytics.kimia_farma.kf_product</a:t>
                      </a:r>
                      <a:r>
                        <a:rPr lang="en-US" sz="800" dirty="0">
                          <a:solidFill>
                            <a:schemeClr val="tx1"/>
                          </a:solidFill>
                        </a:rPr>
                        <a:t>` p</a:t>
                      </a:r>
                    </a:p>
                    <a:p>
                      <a:r>
                        <a:rPr lang="en-US" sz="800" dirty="0">
                          <a:solidFill>
                            <a:schemeClr val="tx1"/>
                          </a:solidFill>
                        </a:rPr>
                        <a:t>    ON </a:t>
                      </a:r>
                      <a:r>
                        <a:rPr lang="en-US" sz="800" dirty="0" err="1">
                          <a:solidFill>
                            <a:schemeClr val="tx1"/>
                          </a:solidFill>
                        </a:rPr>
                        <a:t>t.product_id</a:t>
                      </a:r>
                      <a:r>
                        <a:rPr lang="en-US" sz="800" dirty="0">
                          <a:solidFill>
                            <a:schemeClr val="tx1"/>
                          </a:solidFill>
                        </a:rPr>
                        <a:t> = </a:t>
                      </a:r>
                      <a:r>
                        <a:rPr lang="en-US" sz="800" dirty="0" err="1">
                          <a:solidFill>
                            <a:schemeClr val="tx1"/>
                          </a:solidFill>
                        </a:rPr>
                        <a:t>p.product_id</a:t>
                      </a:r>
                      <a:r>
                        <a:rPr lang="en-US" sz="800" dirty="0">
                          <a:solidFill>
                            <a:schemeClr val="tx1"/>
                          </a:solidFill>
                        </a:rPr>
                        <a:t>;</a:t>
                      </a:r>
                    </a:p>
                  </a:txBody>
                  <a:tcPr>
                    <a:solidFill>
                      <a:schemeClr val="bg1"/>
                    </a:solidFill>
                  </a:tcPr>
                </a:tc>
                <a:extLst>
                  <a:ext uri="{0D108BD9-81ED-4DB2-BD59-A6C34878D82A}">
                    <a16:rowId xmlns:a16="http://schemas.microsoft.com/office/drawing/2014/main" val="1329303952"/>
                  </a:ext>
                </a:extLst>
              </a:tr>
            </a:tbl>
          </a:graphicData>
        </a:graphic>
      </p:graphicFrame>
      <p:sp>
        <p:nvSpPr>
          <p:cNvPr id="8" name="TextBox 7">
            <a:extLst>
              <a:ext uri="{FF2B5EF4-FFF2-40B4-BE49-F238E27FC236}">
                <a16:creationId xmlns:a16="http://schemas.microsoft.com/office/drawing/2014/main" id="{E4C3A76D-4E32-41C8-B443-D8540F801783}"/>
              </a:ext>
            </a:extLst>
          </p:cNvPr>
          <p:cNvSpPr txBox="1"/>
          <p:nvPr/>
        </p:nvSpPr>
        <p:spPr>
          <a:xfrm>
            <a:off x="522514" y="2417861"/>
            <a:ext cx="4572000" cy="307777"/>
          </a:xfrm>
          <a:prstGeom prst="rect">
            <a:avLst/>
          </a:prstGeom>
          <a:noFill/>
        </p:spPr>
        <p:txBody>
          <a:bodyPr wrap="square">
            <a:spAutoFit/>
          </a:bodyPr>
          <a:lstStyle/>
          <a:p>
            <a:pPr marL="285750" indent="-285750">
              <a:buFont typeface="Arial" panose="020B0604020202020204" pitchFamily="34" charset="0"/>
              <a:buChar char="•"/>
            </a:pPr>
            <a:r>
              <a:rPr lang="en" sz="1400" dirty="0">
                <a:solidFill>
                  <a:schemeClr val="dk1"/>
                </a:solidFill>
                <a:latin typeface="Rubik"/>
                <a:ea typeface="Rubik"/>
                <a:cs typeface="Rubik"/>
                <a:sym typeface="Rubik"/>
              </a:rPr>
              <a:t>SQL Syntax </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g23ec2985a68_1_49"/>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35" name="Google Shape;135;g23ec2985a68_1_49"/>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36" name="Google Shape;136;g23ec2985a68_1_49"/>
          <p:cNvSpPr txBox="1"/>
          <p:nvPr/>
        </p:nvSpPr>
        <p:spPr>
          <a:xfrm>
            <a:off x="340500" y="452038"/>
            <a:ext cx="8463000" cy="600300"/>
          </a:xfrm>
          <a:prstGeom prst="rect">
            <a:avLst/>
          </a:prstGeom>
          <a:noFill/>
          <a:ln>
            <a:noFill/>
          </a:ln>
          <a:effectLst>
            <a:outerShdw blurRad="57150" dist="19050" dir="2820000" algn="bl" rotWithShape="0">
              <a:srgbClr val="B7B7B7">
                <a:alpha val="8549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3"/>
            </a:pPr>
            <a:r>
              <a:rPr lang="en" sz="2700" b="1">
                <a:latin typeface="Rubik"/>
                <a:ea typeface="Rubik"/>
                <a:cs typeface="Rubik"/>
                <a:sym typeface="Rubik"/>
              </a:rPr>
              <a:t>BigQuery Syntax</a:t>
            </a:r>
            <a:endParaRPr sz="2700" b="1" i="0" u="none" strike="noStrike" cap="none">
              <a:solidFill>
                <a:srgbClr val="000000"/>
              </a:solidFill>
              <a:latin typeface="Rubik"/>
              <a:ea typeface="Rubik"/>
              <a:cs typeface="Rubik"/>
              <a:sym typeface="Rubik"/>
            </a:endParaRPr>
          </a:p>
        </p:txBody>
      </p:sp>
      <p:sp>
        <p:nvSpPr>
          <p:cNvPr id="8" name="TextBox 7">
            <a:extLst>
              <a:ext uri="{FF2B5EF4-FFF2-40B4-BE49-F238E27FC236}">
                <a16:creationId xmlns:a16="http://schemas.microsoft.com/office/drawing/2014/main" id="{E4C3A76D-4E32-41C8-B443-D8540F801783}"/>
              </a:ext>
            </a:extLst>
          </p:cNvPr>
          <p:cNvSpPr txBox="1"/>
          <p:nvPr/>
        </p:nvSpPr>
        <p:spPr>
          <a:xfrm>
            <a:off x="433803" y="1178963"/>
            <a:ext cx="8463000" cy="3323987"/>
          </a:xfrm>
          <a:prstGeom prst="rect">
            <a:avLst/>
          </a:prstGeom>
          <a:noFill/>
        </p:spPr>
        <p:txBody>
          <a:bodyPr wrap="square">
            <a:spAutoFit/>
          </a:bodyPr>
          <a:lstStyle/>
          <a:p>
            <a:pPr marL="285750" indent="-285750">
              <a:buFont typeface="Arial" panose="020B0604020202020204" pitchFamily="34" charset="0"/>
              <a:buChar char="•"/>
            </a:pPr>
            <a:r>
              <a:rPr lang="en-US" sz="1400" b="1" dirty="0">
                <a:solidFill>
                  <a:schemeClr val="dk1"/>
                </a:solidFill>
                <a:latin typeface="Rubik"/>
                <a:ea typeface="Rubik"/>
                <a:cs typeface="Rubik"/>
                <a:sym typeface="Rubik"/>
              </a:rPr>
              <a:t>Objective</a:t>
            </a:r>
            <a:r>
              <a:rPr lang="en-US" sz="1400" dirty="0">
                <a:solidFill>
                  <a:schemeClr val="dk1"/>
                </a:solidFill>
                <a:latin typeface="Rubik"/>
                <a:ea typeface="Rubik"/>
                <a:cs typeface="Rubik"/>
                <a:sym typeface="Rubik"/>
              </a:rPr>
              <a:t>: To develop a robust and efficient SQL query that generates the </a:t>
            </a:r>
            <a:r>
              <a:rPr lang="en-US" sz="1400" dirty="0" err="1">
                <a:solidFill>
                  <a:schemeClr val="dk1"/>
                </a:solidFill>
                <a:latin typeface="Rubik"/>
                <a:ea typeface="Rubik"/>
                <a:cs typeface="Rubik"/>
                <a:sym typeface="Rubik"/>
              </a:rPr>
              <a:t>analisa</a:t>
            </a:r>
            <a:r>
              <a:rPr lang="en-US" sz="1400" dirty="0">
                <a:solidFill>
                  <a:schemeClr val="dk1"/>
                </a:solidFill>
                <a:latin typeface="Rubik"/>
                <a:ea typeface="Rubik"/>
                <a:cs typeface="Rubik"/>
                <a:sym typeface="Rubik"/>
              </a:rPr>
              <a:t> table, which serves as the foundation for downstream business performance analysis.</a:t>
            </a:r>
          </a:p>
          <a:p>
            <a:pPr marL="285750" indent="-285750">
              <a:buFont typeface="Arial" panose="020B0604020202020204" pitchFamily="34" charset="0"/>
              <a:buChar char="•"/>
            </a:pPr>
            <a:r>
              <a:rPr lang="en-US" sz="1400" b="1" dirty="0">
                <a:solidFill>
                  <a:schemeClr val="dk1"/>
                </a:solidFill>
                <a:latin typeface="Rubik"/>
                <a:ea typeface="Rubik"/>
                <a:cs typeface="Rubik"/>
                <a:sym typeface="Rubik"/>
              </a:rPr>
              <a:t>Approach</a:t>
            </a:r>
            <a:r>
              <a:rPr lang="en-US" sz="1400" dirty="0">
                <a:solidFill>
                  <a:schemeClr val="dk1"/>
                </a:solidFill>
                <a:latin typeface="Rubik"/>
                <a:ea typeface="Rubik"/>
                <a:cs typeface="Rubik"/>
                <a:sym typeface="Rubik"/>
              </a:rPr>
              <a:t>: The query was carefully structured to join multiple tables and compute key financial metrics while maintaining data integrity and completeness.</a:t>
            </a:r>
          </a:p>
          <a:p>
            <a:pPr marL="285750" indent="-285750">
              <a:buFont typeface="Arial" panose="020B0604020202020204" pitchFamily="34" charset="0"/>
              <a:buChar char="•"/>
            </a:pPr>
            <a:r>
              <a:rPr lang="en-US" sz="1400" b="1" dirty="0">
                <a:solidFill>
                  <a:schemeClr val="dk1"/>
                </a:solidFill>
                <a:latin typeface="Rubik"/>
                <a:ea typeface="Rubik"/>
                <a:cs typeface="Rubik"/>
                <a:sym typeface="Rubik"/>
              </a:rPr>
              <a:t>How Results Were Obtained</a:t>
            </a:r>
            <a:r>
              <a:rPr lang="en-US" sz="1400" dirty="0">
                <a:solidFill>
                  <a:schemeClr val="dk1"/>
                </a:solidFill>
                <a:latin typeface="Rubik"/>
                <a:ea typeface="Rubik"/>
                <a:cs typeface="Rubik"/>
                <a:sym typeface="Rubik"/>
              </a:rPr>
              <a:t>:</a:t>
            </a:r>
          </a:p>
          <a:p>
            <a:pPr marL="627063" indent="-342900">
              <a:buFont typeface="+mj-lt"/>
              <a:buAutoNum type="arabicPeriod"/>
            </a:pPr>
            <a:r>
              <a:rPr lang="en-US" sz="1400" dirty="0">
                <a:solidFill>
                  <a:schemeClr val="dk1"/>
                </a:solidFill>
                <a:latin typeface="Rubik"/>
                <a:ea typeface="Rubik"/>
                <a:cs typeface="Rubik"/>
                <a:sym typeface="Rubik"/>
              </a:rPr>
              <a:t>Selected essential columns from the </a:t>
            </a:r>
            <a:r>
              <a:rPr lang="en-US" sz="1400" dirty="0" err="1">
                <a:solidFill>
                  <a:schemeClr val="dk1"/>
                </a:solidFill>
                <a:latin typeface="Rubik"/>
                <a:ea typeface="Rubik"/>
                <a:cs typeface="Rubik"/>
                <a:sym typeface="Rubik"/>
              </a:rPr>
              <a:t>kf_final_transaction</a:t>
            </a:r>
            <a:r>
              <a:rPr lang="en-US" sz="1400" dirty="0">
                <a:solidFill>
                  <a:schemeClr val="dk1"/>
                </a:solidFill>
                <a:latin typeface="Rubik"/>
                <a:ea typeface="Rubik"/>
                <a:cs typeface="Rubik"/>
                <a:sym typeface="Rubik"/>
              </a:rPr>
              <a:t>, </a:t>
            </a:r>
            <a:r>
              <a:rPr lang="en-US" sz="1400" dirty="0" err="1">
                <a:solidFill>
                  <a:schemeClr val="dk1"/>
                </a:solidFill>
                <a:latin typeface="Rubik"/>
                <a:ea typeface="Rubik"/>
                <a:cs typeface="Rubik"/>
                <a:sym typeface="Rubik"/>
              </a:rPr>
              <a:t>kf_kantor_cabang</a:t>
            </a:r>
            <a:r>
              <a:rPr lang="en-US" sz="1400" dirty="0">
                <a:solidFill>
                  <a:schemeClr val="dk1"/>
                </a:solidFill>
                <a:latin typeface="Rubik"/>
                <a:ea typeface="Rubik"/>
                <a:cs typeface="Rubik"/>
                <a:sym typeface="Rubik"/>
              </a:rPr>
              <a:t>, and </a:t>
            </a:r>
            <a:r>
              <a:rPr lang="en-US" sz="1400" dirty="0" err="1">
                <a:solidFill>
                  <a:schemeClr val="dk1"/>
                </a:solidFill>
                <a:latin typeface="Rubik"/>
                <a:ea typeface="Rubik"/>
                <a:cs typeface="Rubik"/>
                <a:sym typeface="Rubik"/>
              </a:rPr>
              <a:t>kf_product</a:t>
            </a:r>
            <a:r>
              <a:rPr lang="en-US" sz="1400" dirty="0">
                <a:solidFill>
                  <a:schemeClr val="dk1"/>
                </a:solidFill>
                <a:latin typeface="Rubik"/>
                <a:ea typeface="Rubik"/>
                <a:cs typeface="Rubik"/>
                <a:sym typeface="Rubik"/>
              </a:rPr>
              <a:t> tables.</a:t>
            </a:r>
          </a:p>
          <a:p>
            <a:pPr marL="627063" indent="-342900">
              <a:buFont typeface="+mj-lt"/>
              <a:buAutoNum type="arabicPeriod"/>
            </a:pPr>
            <a:r>
              <a:rPr lang="en-US" sz="1400" dirty="0">
                <a:solidFill>
                  <a:schemeClr val="dk1"/>
                </a:solidFill>
                <a:latin typeface="Rubik"/>
                <a:ea typeface="Rubik"/>
                <a:cs typeface="Rubik"/>
                <a:sym typeface="Rubik"/>
              </a:rPr>
              <a:t>Used LEFT JOIN to preserve all transaction records, ensuring no data was lost due to missing branch or product information.</a:t>
            </a:r>
          </a:p>
          <a:p>
            <a:pPr marL="627063" indent="-342900">
              <a:buFont typeface="+mj-lt"/>
              <a:buAutoNum type="arabicPeriod"/>
            </a:pPr>
            <a:r>
              <a:rPr lang="en-US" sz="1400" dirty="0">
                <a:solidFill>
                  <a:schemeClr val="dk1"/>
                </a:solidFill>
                <a:latin typeface="Rubik"/>
                <a:ea typeface="Rubik"/>
                <a:cs typeface="Rubik"/>
                <a:sym typeface="Rubik"/>
              </a:rPr>
              <a:t>Applied CASE statements to assign gross profit percentages based on price tiers.</a:t>
            </a:r>
          </a:p>
          <a:p>
            <a:pPr marL="627063" indent="-342900">
              <a:buFont typeface="+mj-lt"/>
              <a:buAutoNum type="arabicPeriod"/>
            </a:pPr>
            <a:r>
              <a:rPr lang="en-US" sz="1400" dirty="0">
                <a:solidFill>
                  <a:schemeClr val="dk1"/>
                </a:solidFill>
                <a:latin typeface="Rubik"/>
                <a:ea typeface="Rubik"/>
                <a:cs typeface="Rubik"/>
                <a:sym typeface="Rubik"/>
              </a:rPr>
              <a:t>Calculated </a:t>
            </a:r>
            <a:r>
              <a:rPr lang="en-US" sz="1400" dirty="0" err="1">
                <a:solidFill>
                  <a:schemeClr val="dk1"/>
                </a:solidFill>
                <a:latin typeface="Rubik"/>
                <a:ea typeface="Rubik"/>
                <a:cs typeface="Rubik"/>
                <a:sym typeface="Rubik"/>
              </a:rPr>
              <a:t>nett_sales</a:t>
            </a:r>
            <a:r>
              <a:rPr lang="en-US" sz="1400" dirty="0">
                <a:solidFill>
                  <a:schemeClr val="dk1"/>
                </a:solidFill>
                <a:latin typeface="Rubik"/>
                <a:ea typeface="Rubik"/>
                <a:cs typeface="Rubik"/>
                <a:sym typeface="Rubik"/>
              </a:rPr>
              <a:t> and </a:t>
            </a:r>
            <a:r>
              <a:rPr lang="en-US" sz="1400" dirty="0" err="1">
                <a:solidFill>
                  <a:schemeClr val="dk1"/>
                </a:solidFill>
                <a:latin typeface="Rubik"/>
                <a:ea typeface="Rubik"/>
                <a:cs typeface="Rubik"/>
                <a:sym typeface="Rubik"/>
              </a:rPr>
              <a:t>nett_profit</a:t>
            </a:r>
            <a:r>
              <a:rPr lang="en-US" sz="1400" dirty="0">
                <a:solidFill>
                  <a:schemeClr val="dk1"/>
                </a:solidFill>
                <a:latin typeface="Rubik"/>
                <a:ea typeface="Rubik"/>
                <a:cs typeface="Rubik"/>
                <a:sym typeface="Rubik"/>
              </a:rPr>
              <a:t> using arithmetic expressions based on price and discount logic.</a:t>
            </a:r>
          </a:p>
          <a:p>
            <a:pPr marL="627063" indent="-342900">
              <a:buFont typeface="+mj-lt"/>
              <a:buAutoNum type="arabicPeriod"/>
            </a:pPr>
            <a:r>
              <a:rPr lang="en-US" sz="1400" dirty="0">
                <a:solidFill>
                  <a:schemeClr val="dk1"/>
                </a:solidFill>
                <a:latin typeface="Rubik"/>
                <a:ea typeface="Rubik"/>
                <a:cs typeface="Rubik"/>
                <a:sym typeface="Rubik"/>
              </a:rPr>
              <a:t>Executed the final query in Google </a:t>
            </a:r>
            <a:r>
              <a:rPr lang="en-US" sz="1400" dirty="0" err="1">
                <a:solidFill>
                  <a:schemeClr val="dk1"/>
                </a:solidFill>
                <a:latin typeface="Rubik"/>
                <a:ea typeface="Rubik"/>
                <a:cs typeface="Rubik"/>
                <a:sym typeface="Rubik"/>
              </a:rPr>
              <a:t>BigQuery</a:t>
            </a:r>
            <a:r>
              <a:rPr lang="en-US" sz="1400" dirty="0">
                <a:solidFill>
                  <a:schemeClr val="dk1"/>
                </a:solidFill>
                <a:latin typeface="Rubik"/>
                <a:ea typeface="Rubik"/>
                <a:cs typeface="Rubik"/>
                <a:sym typeface="Rubik"/>
              </a:rPr>
              <a:t> to generate the </a:t>
            </a:r>
            <a:r>
              <a:rPr lang="en-US" sz="1400" dirty="0" err="1">
                <a:solidFill>
                  <a:schemeClr val="dk1"/>
                </a:solidFill>
                <a:latin typeface="Rubik"/>
                <a:ea typeface="Rubik"/>
                <a:cs typeface="Rubik"/>
                <a:sym typeface="Rubik"/>
              </a:rPr>
              <a:t>analisa</a:t>
            </a:r>
            <a:r>
              <a:rPr lang="en-US" sz="1400" dirty="0">
                <a:solidFill>
                  <a:schemeClr val="dk1"/>
                </a:solidFill>
                <a:latin typeface="Rubik"/>
                <a:ea typeface="Rubik"/>
                <a:cs typeface="Rubik"/>
                <a:sym typeface="Rubik"/>
              </a:rPr>
              <a:t> table.</a:t>
            </a:r>
          </a:p>
          <a:p>
            <a:pPr marL="285750" indent="-285750">
              <a:buFont typeface="Arial" panose="020B0604020202020204" pitchFamily="34" charset="0"/>
              <a:buChar char="•"/>
            </a:pPr>
            <a:r>
              <a:rPr lang="en-US" sz="1400" b="1" dirty="0">
                <a:solidFill>
                  <a:schemeClr val="dk1"/>
                </a:solidFill>
                <a:latin typeface="Rubik"/>
                <a:ea typeface="Rubik"/>
                <a:cs typeface="Rubik"/>
                <a:sym typeface="Rubik"/>
              </a:rPr>
              <a:t>Validation</a:t>
            </a:r>
            <a:r>
              <a:rPr lang="en-US" sz="1400" dirty="0">
                <a:solidFill>
                  <a:schemeClr val="dk1"/>
                </a:solidFill>
                <a:latin typeface="Rubik"/>
                <a:ea typeface="Rubik"/>
                <a:cs typeface="Rubik"/>
                <a:sym typeface="Rubik"/>
              </a:rPr>
              <a:t>: Verified the output by previewing sample rows using </a:t>
            </a:r>
            <a:r>
              <a:rPr lang="en-US" sz="1400" dirty="0">
                <a:solidFill>
                  <a:srgbClr val="FF0000"/>
                </a:solidFill>
                <a:latin typeface="Rubik"/>
                <a:ea typeface="Rubik"/>
                <a:cs typeface="Rubik"/>
                <a:sym typeface="Rubik"/>
              </a:rPr>
              <a:t>SELECT * FROM </a:t>
            </a:r>
            <a:r>
              <a:rPr lang="en-US" sz="1400" dirty="0" err="1">
                <a:solidFill>
                  <a:srgbClr val="FF0000"/>
                </a:solidFill>
                <a:latin typeface="Rubik"/>
                <a:ea typeface="Rubik"/>
                <a:cs typeface="Rubik"/>
                <a:sym typeface="Rubik"/>
              </a:rPr>
              <a:t>analisa</a:t>
            </a:r>
            <a:r>
              <a:rPr lang="en-US" sz="1400" dirty="0">
                <a:solidFill>
                  <a:srgbClr val="FF0000"/>
                </a:solidFill>
                <a:latin typeface="Rubik"/>
                <a:ea typeface="Rubik"/>
                <a:cs typeface="Rubik"/>
                <a:sym typeface="Rubik"/>
              </a:rPr>
              <a:t> LIMIT 10 </a:t>
            </a:r>
            <a:r>
              <a:rPr lang="en-US" sz="1400" dirty="0">
                <a:solidFill>
                  <a:schemeClr val="dk1"/>
                </a:solidFill>
                <a:latin typeface="Rubik"/>
                <a:ea typeface="Rubik"/>
                <a:cs typeface="Rubik"/>
                <a:sym typeface="Rubik"/>
              </a:rPr>
              <a:t>to ensure accuracy of the joins and correctness of computed metrics.</a:t>
            </a:r>
            <a:endParaRPr lang="en-US" dirty="0"/>
          </a:p>
        </p:txBody>
      </p:sp>
    </p:spTree>
    <p:extLst>
      <p:ext uri="{BB962C8B-B14F-4D97-AF65-F5344CB8AC3E}">
        <p14:creationId xmlns:p14="http://schemas.microsoft.com/office/powerpoint/2010/main" val="921786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g23ec2985a68_1_56"/>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43" name="Google Shape;143;g23ec2985a68_1_56"/>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44" name="Google Shape;144;g23ec2985a68_1_56"/>
          <p:cNvSpPr txBox="1"/>
          <p:nvPr/>
        </p:nvSpPr>
        <p:spPr>
          <a:xfrm>
            <a:off x="340500" y="452038"/>
            <a:ext cx="8463000" cy="600300"/>
          </a:xfrm>
          <a:prstGeom prst="rect">
            <a:avLst/>
          </a:prstGeom>
          <a:noFill/>
          <a:ln>
            <a:noFill/>
          </a:ln>
          <a:effectLst>
            <a:outerShdw blurRad="57150" dist="19050" dir="2820000" algn="bl" rotWithShape="0">
              <a:srgbClr val="B7B7B7">
                <a:alpha val="8549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4"/>
            </a:pPr>
            <a:r>
              <a:rPr lang="en" sz="2700" b="1">
                <a:latin typeface="Rubik"/>
                <a:ea typeface="Rubik"/>
                <a:cs typeface="Rubik"/>
                <a:sym typeface="Rubik"/>
              </a:rPr>
              <a:t>Dashboard  Performance Analytics</a:t>
            </a:r>
            <a:endParaRPr sz="2700" b="1" i="0" u="none" strike="noStrike" cap="none">
              <a:solidFill>
                <a:srgbClr val="000000"/>
              </a:solidFill>
              <a:latin typeface="Rubik"/>
              <a:ea typeface="Rubik"/>
              <a:cs typeface="Rubik"/>
              <a:sym typeface="Rubik"/>
            </a:endParaRPr>
          </a:p>
        </p:txBody>
      </p:sp>
      <p:sp>
        <p:nvSpPr>
          <p:cNvPr id="145" name="Google Shape;145;g23ec2985a68_1_56"/>
          <p:cNvSpPr txBox="1"/>
          <p:nvPr/>
        </p:nvSpPr>
        <p:spPr>
          <a:xfrm>
            <a:off x="340500" y="1335962"/>
            <a:ext cx="8463000" cy="3231624"/>
          </a:xfrm>
          <a:prstGeom prst="rect">
            <a:avLst/>
          </a:prstGeom>
          <a:noFill/>
          <a:ln>
            <a:noFill/>
          </a:ln>
          <a:effectLst>
            <a:outerShdw blurRad="57150" dist="19050" dir="2820000" algn="bl" rotWithShape="0">
              <a:srgbClr val="B7B7B7">
                <a:alpha val="85490"/>
              </a:srgbClr>
            </a:outerShdw>
          </a:effectLst>
        </p:spPr>
        <p:txBody>
          <a:bodyPr spcFirstLastPara="1" wrap="square" lIns="91425" tIns="91425" rIns="91425" bIns="91425" anchor="t" anchorCtr="0">
            <a:spAutoFit/>
          </a:bodyPr>
          <a:lstStyle/>
          <a:p>
            <a:pPr marL="171450" lvl="0" indent="-171450" algn="l" rtl="0">
              <a:lnSpc>
                <a:spcPct val="150000"/>
              </a:lnSpc>
              <a:spcBef>
                <a:spcPts val="0"/>
              </a:spcBef>
              <a:spcAft>
                <a:spcPts val="0"/>
              </a:spcAft>
              <a:buClr>
                <a:schemeClr val="dk1"/>
              </a:buClr>
              <a:buSzPts val="1400"/>
              <a:buFont typeface="Arial" panose="020B0604020202020204" pitchFamily="34" charset="0"/>
              <a:buChar char="•"/>
            </a:pPr>
            <a:r>
              <a:rPr lang="en-US" sz="1200" b="1" dirty="0">
                <a:solidFill>
                  <a:schemeClr val="dk1"/>
                </a:solidFill>
                <a:latin typeface="Rubik"/>
                <a:ea typeface="Rubik"/>
                <a:cs typeface="Rubik"/>
                <a:sym typeface="Rubik"/>
              </a:rPr>
              <a:t>Objective</a:t>
            </a:r>
            <a:r>
              <a:rPr lang="en-US" sz="1200" dirty="0">
                <a:solidFill>
                  <a:schemeClr val="dk1"/>
                </a:solidFill>
                <a:latin typeface="Rubik"/>
                <a:ea typeface="Rubik"/>
                <a:cs typeface="Rubik"/>
                <a:sym typeface="Rubik"/>
              </a:rPr>
              <a:t>: To develop an interactive dashboard that effectively visualizes key business performance metrics and enables users to explore trends and regional insights.</a:t>
            </a:r>
          </a:p>
          <a:p>
            <a:pPr marL="171450" lvl="0" indent="-171450" algn="l" rtl="0">
              <a:lnSpc>
                <a:spcPct val="150000"/>
              </a:lnSpc>
              <a:spcBef>
                <a:spcPts val="0"/>
              </a:spcBef>
              <a:spcAft>
                <a:spcPts val="0"/>
              </a:spcAft>
              <a:buClr>
                <a:schemeClr val="dk1"/>
              </a:buClr>
              <a:buSzPts val="1400"/>
              <a:buFont typeface="Arial" panose="020B0604020202020204" pitchFamily="34" charset="0"/>
              <a:buChar char="•"/>
            </a:pPr>
            <a:r>
              <a:rPr lang="en-US" sz="1200" b="1" dirty="0">
                <a:solidFill>
                  <a:schemeClr val="dk1"/>
                </a:solidFill>
                <a:latin typeface="Rubik"/>
                <a:ea typeface="Rubik"/>
                <a:cs typeface="Rubik"/>
                <a:sym typeface="Rubik"/>
              </a:rPr>
              <a:t>Approach</a:t>
            </a:r>
            <a:r>
              <a:rPr lang="en-US" sz="1200" dirty="0">
                <a:solidFill>
                  <a:schemeClr val="dk1"/>
                </a:solidFill>
                <a:latin typeface="Rubik"/>
                <a:ea typeface="Rubik"/>
                <a:cs typeface="Rubik"/>
                <a:sym typeface="Rubik"/>
              </a:rPr>
              <a:t>: The </a:t>
            </a:r>
            <a:r>
              <a:rPr lang="en-US" sz="1200" dirty="0" err="1">
                <a:solidFill>
                  <a:schemeClr val="dk1"/>
                </a:solidFill>
                <a:latin typeface="Rubik"/>
                <a:ea typeface="Rubik"/>
                <a:cs typeface="Rubik"/>
                <a:sym typeface="Rubik"/>
              </a:rPr>
              <a:t>analisa</a:t>
            </a:r>
            <a:r>
              <a:rPr lang="en-US" sz="1200" dirty="0">
                <a:solidFill>
                  <a:schemeClr val="dk1"/>
                </a:solidFill>
                <a:latin typeface="Rubik"/>
                <a:ea typeface="Rubik"/>
                <a:cs typeface="Rubik"/>
                <a:sym typeface="Rubik"/>
              </a:rPr>
              <a:t> table was connected to Looker Studio to design dynamic visualizations. Interactive filters were implemented to allow users to analyze data by year and province. The dashboard was built with a focus on clarity, usability, and actionable insights.</a:t>
            </a:r>
          </a:p>
          <a:p>
            <a:pPr marL="171450" lvl="0" indent="-171450" algn="l" rtl="0">
              <a:lnSpc>
                <a:spcPct val="150000"/>
              </a:lnSpc>
              <a:spcBef>
                <a:spcPts val="0"/>
              </a:spcBef>
              <a:spcAft>
                <a:spcPts val="0"/>
              </a:spcAft>
              <a:buClr>
                <a:schemeClr val="dk1"/>
              </a:buClr>
              <a:buSzPts val="1400"/>
              <a:buFont typeface="Arial" panose="020B0604020202020204" pitchFamily="34" charset="0"/>
              <a:buChar char="•"/>
            </a:pPr>
            <a:r>
              <a:rPr lang="en-US" sz="1200" b="1" dirty="0">
                <a:solidFill>
                  <a:schemeClr val="dk1"/>
                </a:solidFill>
                <a:latin typeface="Rubik"/>
                <a:ea typeface="Rubik"/>
                <a:cs typeface="Rubik"/>
                <a:sym typeface="Rubik"/>
              </a:rPr>
              <a:t>How Results Were Obtained</a:t>
            </a:r>
            <a:r>
              <a:rPr lang="en-US" sz="1200" dirty="0">
                <a:solidFill>
                  <a:schemeClr val="dk1"/>
                </a:solidFill>
                <a:latin typeface="Rubik"/>
                <a:ea typeface="Rubik"/>
                <a:cs typeface="Rubik"/>
                <a:sym typeface="Rubik"/>
              </a:rPr>
              <a:t>: </a:t>
            </a:r>
          </a:p>
          <a:p>
            <a:pPr marL="403225" lvl="0" indent="-228600" algn="l" rtl="0">
              <a:lnSpc>
                <a:spcPct val="150000"/>
              </a:lnSpc>
              <a:spcBef>
                <a:spcPts val="0"/>
              </a:spcBef>
              <a:spcAft>
                <a:spcPts val="0"/>
              </a:spcAft>
              <a:buClr>
                <a:schemeClr val="dk1"/>
              </a:buClr>
              <a:buSzPts val="1400"/>
              <a:buFont typeface="+mj-lt"/>
              <a:buAutoNum type="arabicPeriod"/>
            </a:pPr>
            <a:r>
              <a:rPr lang="en-US" sz="1200" dirty="0">
                <a:solidFill>
                  <a:schemeClr val="dk1"/>
                </a:solidFill>
                <a:latin typeface="Rubik"/>
                <a:ea typeface="Rubik"/>
                <a:cs typeface="Rubik"/>
                <a:sym typeface="Rubik"/>
              </a:rPr>
              <a:t>Connected the </a:t>
            </a:r>
            <a:r>
              <a:rPr lang="en-US" sz="1200" dirty="0" err="1">
                <a:solidFill>
                  <a:schemeClr val="dk1"/>
                </a:solidFill>
                <a:latin typeface="Rubik"/>
                <a:ea typeface="Rubik"/>
                <a:cs typeface="Rubik"/>
                <a:sym typeface="Rubik"/>
              </a:rPr>
              <a:t>analisa</a:t>
            </a:r>
            <a:r>
              <a:rPr lang="en-US" sz="1200" dirty="0">
                <a:solidFill>
                  <a:schemeClr val="dk1"/>
                </a:solidFill>
                <a:latin typeface="Rubik"/>
                <a:ea typeface="Rubik"/>
                <a:cs typeface="Rubik"/>
                <a:sym typeface="Rubik"/>
              </a:rPr>
              <a:t> table from Google </a:t>
            </a:r>
            <a:r>
              <a:rPr lang="en-US" sz="1200" dirty="0" err="1">
                <a:solidFill>
                  <a:schemeClr val="dk1"/>
                </a:solidFill>
                <a:latin typeface="Rubik"/>
                <a:ea typeface="Rubik"/>
                <a:cs typeface="Rubik"/>
                <a:sym typeface="Rubik"/>
              </a:rPr>
              <a:t>BigQuery</a:t>
            </a:r>
            <a:r>
              <a:rPr lang="en-US" sz="1200" dirty="0">
                <a:solidFill>
                  <a:schemeClr val="dk1"/>
                </a:solidFill>
                <a:latin typeface="Rubik"/>
                <a:ea typeface="Rubik"/>
                <a:cs typeface="Rubik"/>
                <a:sym typeface="Rubik"/>
              </a:rPr>
              <a:t> to Looker Studio as the primary data source.</a:t>
            </a:r>
          </a:p>
          <a:p>
            <a:pPr marL="403225" lvl="0" indent="-228600" algn="l" rtl="0">
              <a:lnSpc>
                <a:spcPct val="150000"/>
              </a:lnSpc>
              <a:spcBef>
                <a:spcPts val="0"/>
              </a:spcBef>
              <a:spcAft>
                <a:spcPts val="0"/>
              </a:spcAft>
              <a:buClr>
                <a:schemeClr val="dk1"/>
              </a:buClr>
              <a:buSzPts val="1400"/>
              <a:buFont typeface="+mj-lt"/>
              <a:buAutoNum type="arabicPeriod"/>
            </a:pPr>
            <a:r>
              <a:rPr lang="en-US" sz="1200" dirty="0">
                <a:solidFill>
                  <a:schemeClr val="dk1"/>
                </a:solidFill>
                <a:latin typeface="Rubik"/>
                <a:ea typeface="Rubik"/>
                <a:cs typeface="Rubik"/>
                <a:sym typeface="Rubik"/>
              </a:rPr>
              <a:t>Utilized SQL-based metrics to build scorecards, charts, and summary tables.</a:t>
            </a:r>
          </a:p>
          <a:p>
            <a:pPr marL="403225" lvl="0" indent="-228600" algn="l" rtl="0">
              <a:lnSpc>
                <a:spcPct val="150000"/>
              </a:lnSpc>
              <a:spcBef>
                <a:spcPts val="0"/>
              </a:spcBef>
              <a:spcAft>
                <a:spcPts val="0"/>
              </a:spcAft>
              <a:buClr>
                <a:schemeClr val="dk1"/>
              </a:buClr>
              <a:buSzPts val="1400"/>
              <a:buFont typeface="+mj-lt"/>
              <a:buAutoNum type="arabicPeriod"/>
            </a:pPr>
            <a:r>
              <a:rPr lang="en-US" sz="1200" dirty="0">
                <a:solidFill>
                  <a:schemeClr val="dk1"/>
                </a:solidFill>
                <a:latin typeface="Rubik"/>
                <a:ea typeface="Rubik"/>
                <a:cs typeface="Rubik"/>
                <a:sym typeface="Rubik"/>
              </a:rPr>
              <a:t>Implemented year and province filters to enable customized data exploration.</a:t>
            </a:r>
          </a:p>
          <a:p>
            <a:pPr marL="403225" lvl="0" indent="-228600" algn="l" rtl="0">
              <a:lnSpc>
                <a:spcPct val="150000"/>
              </a:lnSpc>
              <a:spcBef>
                <a:spcPts val="0"/>
              </a:spcBef>
              <a:spcAft>
                <a:spcPts val="0"/>
              </a:spcAft>
              <a:buClr>
                <a:schemeClr val="dk1"/>
              </a:buClr>
              <a:buSzPts val="1400"/>
              <a:buFont typeface="+mj-lt"/>
              <a:buAutoNum type="arabicPeriod"/>
            </a:pPr>
            <a:r>
              <a:rPr lang="en-US" sz="1200" dirty="0">
                <a:solidFill>
                  <a:schemeClr val="dk1"/>
                </a:solidFill>
                <a:latin typeface="Rubik"/>
                <a:ea typeface="Rubik"/>
                <a:cs typeface="Rubik"/>
                <a:sym typeface="Rubik"/>
              </a:rPr>
              <a:t>Created visual components that highlight overall trends, regional performance, and key performance indicators.</a:t>
            </a:r>
          </a:p>
          <a:p>
            <a:pPr marL="403225" lvl="0" indent="-228600" algn="l" rtl="0">
              <a:lnSpc>
                <a:spcPct val="150000"/>
              </a:lnSpc>
              <a:spcBef>
                <a:spcPts val="0"/>
              </a:spcBef>
              <a:spcAft>
                <a:spcPts val="0"/>
              </a:spcAft>
              <a:buClr>
                <a:schemeClr val="dk1"/>
              </a:buClr>
              <a:buSzPts val="1400"/>
              <a:buFont typeface="+mj-lt"/>
              <a:buAutoNum type="arabicPeriod"/>
            </a:pPr>
            <a:r>
              <a:rPr lang="en-US" sz="1200" dirty="0">
                <a:solidFill>
                  <a:schemeClr val="dk1"/>
                </a:solidFill>
                <a:latin typeface="Rubik"/>
                <a:ea typeface="Rubik"/>
                <a:cs typeface="Rubik"/>
                <a:sym typeface="Rubik"/>
              </a:rPr>
              <a:t>Conducted functional testing in Looker Studio to ensure all filters, metrics, and visuals operated correctly.</a:t>
            </a:r>
            <a:endParaRPr lang="en-US" sz="2000" dirty="0">
              <a:latin typeface="Rubik"/>
              <a:ea typeface="Rubik"/>
              <a:cs typeface="Rubik"/>
              <a:sym typeface="Rubik"/>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g23ec2985a68_1_56"/>
          <p:cNvPicPr preferRelativeResize="0"/>
          <p:nvPr/>
        </p:nvPicPr>
        <p:blipFill rotWithShape="1">
          <a:blip r:embed="rId3">
            <a:alphaModFix amt="10000"/>
          </a:blip>
          <a:srcRect/>
          <a:stretch/>
        </p:blipFill>
        <p:spPr>
          <a:xfrm>
            <a:off x="0" y="-2"/>
            <a:ext cx="9144001" cy="5143501"/>
          </a:xfrm>
          <a:prstGeom prst="rect">
            <a:avLst/>
          </a:prstGeom>
          <a:noFill/>
          <a:ln>
            <a:noFill/>
          </a:ln>
        </p:spPr>
      </p:pic>
      <p:pic>
        <p:nvPicPr>
          <p:cNvPr id="143" name="Google Shape;143;g23ec2985a68_1_56"/>
          <p:cNvPicPr preferRelativeResize="0"/>
          <p:nvPr/>
        </p:nvPicPr>
        <p:blipFill rotWithShape="1">
          <a:blip r:embed="rId4">
            <a:alphaModFix/>
          </a:blip>
          <a:srcRect t="5658" b="5649"/>
          <a:stretch/>
        </p:blipFill>
        <p:spPr>
          <a:xfrm>
            <a:off x="7317601" y="185624"/>
            <a:ext cx="1399902" cy="541300"/>
          </a:xfrm>
          <a:prstGeom prst="rect">
            <a:avLst/>
          </a:prstGeom>
          <a:noFill/>
          <a:ln>
            <a:noFill/>
          </a:ln>
        </p:spPr>
      </p:pic>
      <p:sp>
        <p:nvSpPr>
          <p:cNvPr id="144" name="Google Shape;144;g23ec2985a68_1_56"/>
          <p:cNvSpPr txBox="1"/>
          <p:nvPr/>
        </p:nvSpPr>
        <p:spPr>
          <a:xfrm>
            <a:off x="340501" y="452037"/>
            <a:ext cx="8463000" cy="600300"/>
          </a:xfrm>
          <a:prstGeom prst="rect">
            <a:avLst/>
          </a:prstGeom>
          <a:noFill/>
          <a:ln>
            <a:noFill/>
          </a:ln>
          <a:effectLst>
            <a:outerShdw blurRad="57150" dist="19050" dir="2820000" algn="bl" rotWithShape="0">
              <a:srgbClr val="B7B7B7">
                <a:alpha val="8549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4"/>
            </a:pPr>
            <a:r>
              <a:rPr lang="en" sz="2700" b="1">
                <a:latin typeface="Rubik"/>
                <a:ea typeface="Rubik"/>
                <a:cs typeface="Rubik"/>
                <a:sym typeface="Rubik"/>
              </a:rPr>
              <a:t>Dashboard  Performance Analytics</a:t>
            </a:r>
            <a:endParaRPr sz="2700" b="1" i="0" u="none" strike="noStrike" cap="none">
              <a:solidFill>
                <a:srgbClr val="000000"/>
              </a:solidFill>
              <a:latin typeface="Rubik"/>
              <a:ea typeface="Rubik"/>
              <a:cs typeface="Rubik"/>
              <a:sym typeface="Rubik"/>
            </a:endParaRPr>
          </a:p>
        </p:txBody>
      </p:sp>
      <p:sp>
        <p:nvSpPr>
          <p:cNvPr id="6" name="TextBox 5">
            <a:extLst>
              <a:ext uri="{FF2B5EF4-FFF2-40B4-BE49-F238E27FC236}">
                <a16:creationId xmlns:a16="http://schemas.microsoft.com/office/drawing/2014/main" id="{668085D5-6420-4D08-85DE-A9D2D7D42C0E}"/>
              </a:ext>
            </a:extLst>
          </p:cNvPr>
          <p:cNvSpPr txBox="1"/>
          <p:nvPr/>
        </p:nvSpPr>
        <p:spPr>
          <a:xfrm>
            <a:off x="426981" y="1239925"/>
            <a:ext cx="4572000" cy="307777"/>
          </a:xfrm>
          <a:prstGeom prst="rect">
            <a:avLst/>
          </a:prstGeom>
          <a:noFill/>
        </p:spPr>
        <p:txBody>
          <a:bodyPr wrap="square">
            <a:spAutoFit/>
          </a:bodyPr>
          <a:lstStyle/>
          <a:p>
            <a:pPr marL="285750" indent="-285750">
              <a:buFont typeface="Arial" panose="020B0604020202020204" pitchFamily="34" charset="0"/>
              <a:buChar char="•"/>
            </a:pPr>
            <a:r>
              <a:rPr lang="en" sz="1400" dirty="0">
                <a:solidFill>
                  <a:schemeClr val="dk1"/>
                </a:solidFill>
                <a:latin typeface="Rubik"/>
                <a:ea typeface="Rubik"/>
                <a:cs typeface="Rubik"/>
                <a:sym typeface="Rubik"/>
              </a:rPr>
              <a:t>SQL Query For ScoreCards </a:t>
            </a:r>
            <a:endParaRPr lang="en-US" dirty="0"/>
          </a:p>
        </p:txBody>
      </p:sp>
      <p:graphicFrame>
        <p:nvGraphicFramePr>
          <p:cNvPr id="2" name="Table 2">
            <a:extLst>
              <a:ext uri="{FF2B5EF4-FFF2-40B4-BE49-F238E27FC236}">
                <a16:creationId xmlns:a16="http://schemas.microsoft.com/office/drawing/2014/main" id="{8FBAE353-8627-464C-9732-366296296264}"/>
              </a:ext>
            </a:extLst>
          </p:cNvPr>
          <p:cNvGraphicFramePr>
            <a:graphicFrameLocks noGrp="1"/>
          </p:cNvGraphicFramePr>
          <p:nvPr>
            <p:extLst>
              <p:ext uri="{D42A27DB-BD31-4B8C-83A1-F6EECF244321}">
                <p14:modId xmlns:p14="http://schemas.microsoft.com/office/powerpoint/2010/main" val="3341265496"/>
              </p:ext>
            </p:extLst>
          </p:nvPr>
        </p:nvGraphicFramePr>
        <p:xfrm>
          <a:off x="527715" y="1696953"/>
          <a:ext cx="3634854" cy="874796"/>
        </p:xfrm>
        <a:graphic>
          <a:graphicData uri="http://schemas.openxmlformats.org/drawingml/2006/table">
            <a:tbl>
              <a:tblPr firstRow="1" bandRow="1">
                <a:tableStyleId>{5C22544A-7EE6-4342-B048-85BDC9FD1C3A}</a:tableStyleId>
              </a:tblPr>
              <a:tblGrid>
                <a:gridCol w="3634854">
                  <a:extLst>
                    <a:ext uri="{9D8B030D-6E8A-4147-A177-3AD203B41FA5}">
                      <a16:colId xmlns:a16="http://schemas.microsoft.com/office/drawing/2014/main" val="170103559"/>
                    </a:ext>
                  </a:extLst>
                </a:gridCol>
              </a:tblGrid>
              <a:tr h="874796">
                <a:tc>
                  <a:txBody>
                    <a:bodyPr/>
                    <a:lstStyle/>
                    <a:p>
                      <a:r>
                        <a:rPr lang="en-US" sz="1000" dirty="0">
                          <a:solidFill>
                            <a:schemeClr val="tx1"/>
                          </a:solidFill>
                        </a:rPr>
                        <a:t>SELECT </a:t>
                      </a:r>
                    </a:p>
                    <a:p>
                      <a:r>
                        <a:rPr lang="en-US" sz="1000" dirty="0">
                          <a:solidFill>
                            <a:schemeClr val="tx1"/>
                          </a:solidFill>
                        </a:rPr>
                        <a:t>          SUM(</a:t>
                      </a:r>
                      <a:r>
                        <a:rPr lang="en-US" sz="1000" dirty="0" err="1">
                          <a:solidFill>
                            <a:schemeClr val="tx1"/>
                          </a:solidFill>
                        </a:rPr>
                        <a:t>nett_sales</a:t>
                      </a:r>
                      <a:r>
                        <a:rPr lang="en-US" sz="1000" dirty="0">
                          <a:solidFill>
                            <a:schemeClr val="tx1"/>
                          </a:solidFill>
                        </a:rPr>
                        <a:t>) AS </a:t>
                      </a:r>
                      <a:r>
                        <a:rPr lang="en-US" sz="1000" dirty="0" err="1">
                          <a:solidFill>
                            <a:schemeClr val="tx1"/>
                          </a:solidFill>
                        </a:rPr>
                        <a:t>total_nett_sales</a:t>
                      </a:r>
                      <a:r>
                        <a:rPr lang="en-US" sz="1000" dirty="0">
                          <a:solidFill>
                            <a:schemeClr val="tx1"/>
                          </a:solidFill>
                        </a:rPr>
                        <a:t>, </a:t>
                      </a:r>
                    </a:p>
                    <a:p>
                      <a:r>
                        <a:rPr lang="en-US" sz="1000" dirty="0">
                          <a:solidFill>
                            <a:schemeClr val="tx1"/>
                          </a:solidFill>
                        </a:rPr>
                        <a:t>          SUM(</a:t>
                      </a:r>
                      <a:r>
                        <a:rPr lang="en-US" sz="1000" dirty="0" err="1">
                          <a:solidFill>
                            <a:schemeClr val="tx1"/>
                          </a:solidFill>
                        </a:rPr>
                        <a:t>nett_profit</a:t>
                      </a:r>
                      <a:r>
                        <a:rPr lang="en-US" sz="1000" dirty="0">
                          <a:solidFill>
                            <a:schemeClr val="tx1"/>
                          </a:solidFill>
                        </a:rPr>
                        <a:t>) AS </a:t>
                      </a:r>
                      <a:r>
                        <a:rPr lang="en-US" sz="1000" dirty="0" err="1">
                          <a:solidFill>
                            <a:schemeClr val="tx1"/>
                          </a:solidFill>
                        </a:rPr>
                        <a:t>total_nett_profit</a:t>
                      </a:r>
                      <a:r>
                        <a:rPr lang="en-US" sz="1000" dirty="0">
                          <a:solidFill>
                            <a:schemeClr val="tx1"/>
                          </a:solidFill>
                        </a:rPr>
                        <a:t>, </a:t>
                      </a:r>
                    </a:p>
                    <a:p>
                      <a:r>
                        <a:rPr lang="en-US" sz="1000" dirty="0">
                          <a:solidFill>
                            <a:schemeClr val="tx1"/>
                          </a:solidFill>
                        </a:rPr>
                        <a:t>          COUNT(</a:t>
                      </a:r>
                      <a:r>
                        <a:rPr lang="en-US" sz="1000" dirty="0" err="1">
                          <a:solidFill>
                            <a:schemeClr val="tx1"/>
                          </a:solidFill>
                        </a:rPr>
                        <a:t>transaction_id</a:t>
                      </a:r>
                      <a:r>
                        <a:rPr lang="en-US" sz="1000" dirty="0">
                          <a:solidFill>
                            <a:schemeClr val="tx1"/>
                          </a:solidFill>
                        </a:rPr>
                        <a:t>) AS </a:t>
                      </a:r>
                      <a:r>
                        <a:rPr lang="en-US" sz="1000" dirty="0" err="1">
                          <a:solidFill>
                            <a:schemeClr val="tx1"/>
                          </a:solidFill>
                        </a:rPr>
                        <a:t>total_transactions</a:t>
                      </a:r>
                      <a:r>
                        <a:rPr lang="en-US" sz="1000" dirty="0">
                          <a:solidFill>
                            <a:schemeClr val="tx1"/>
                          </a:solidFill>
                        </a:rPr>
                        <a:t> </a:t>
                      </a:r>
                    </a:p>
                    <a:p>
                      <a:r>
                        <a:rPr lang="en-US" sz="1000" dirty="0">
                          <a:solidFill>
                            <a:schemeClr val="tx1"/>
                          </a:solidFill>
                        </a:rPr>
                        <a:t>FROM `</a:t>
                      </a:r>
                      <a:r>
                        <a:rPr lang="en-US" sz="1000" dirty="0" err="1">
                          <a:solidFill>
                            <a:schemeClr val="tx1"/>
                          </a:solidFill>
                        </a:rPr>
                        <a:t>Rakamin_KF_Analytics.kimia_farma.analisa</a:t>
                      </a:r>
                      <a:r>
                        <a:rPr lang="en-US" sz="1000" dirty="0">
                          <a:solidFill>
                            <a:schemeClr val="tx1"/>
                          </a:solidFill>
                        </a:rPr>
                        <a:t>`;</a:t>
                      </a:r>
                    </a:p>
                  </a:txBody>
                  <a:tcPr>
                    <a:solidFill>
                      <a:schemeClr val="bg1"/>
                    </a:solidFill>
                  </a:tcPr>
                </a:tc>
                <a:extLst>
                  <a:ext uri="{0D108BD9-81ED-4DB2-BD59-A6C34878D82A}">
                    <a16:rowId xmlns:a16="http://schemas.microsoft.com/office/drawing/2014/main" val="3178956191"/>
                  </a:ext>
                </a:extLst>
              </a:tr>
            </a:tbl>
          </a:graphicData>
        </a:graphic>
      </p:graphicFrame>
      <p:graphicFrame>
        <p:nvGraphicFramePr>
          <p:cNvPr id="4" name="Table 4">
            <a:extLst>
              <a:ext uri="{FF2B5EF4-FFF2-40B4-BE49-F238E27FC236}">
                <a16:creationId xmlns:a16="http://schemas.microsoft.com/office/drawing/2014/main" id="{4718A717-FBE1-43E0-A310-F9101891FD2B}"/>
              </a:ext>
            </a:extLst>
          </p:cNvPr>
          <p:cNvGraphicFramePr>
            <a:graphicFrameLocks noGrp="1"/>
          </p:cNvGraphicFramePr>
          <p:nvPr>
            <p:extLst>
              <p:ext uri="{D42A27DB-BD31-4B8C-83A1-F6EECF244321}">
                <p14:modId xmlns:p14="http://schemas.microsoft.com/office/powerpoint/2010/main" val="308131846"/>
              </p:ext>
            </p:extLst>
          </p:nvPr>
        </p:nvGraphicFramePr>
        <p:xfrm>
          <a:off x="527716" y="3437950"/>
          <a:ext cx="3409665" cy="581316"/>
        </p:xfrm>
        <a:graphic>
          <a:graphicData uri="http://schemas.openxmlformats.org/drawingml/2006/table">
            <a:tbl>
              <a:tblPr firstRow="1" bandRow="1">
                <a:tableStyleId>{5C22544A-7EE6-4342-B048-85BDC9FD1C3A}</a:tableStyleId>
              </a:tblPr>
              <a:tblGrid>
                <a:gridCol w="1136555">
                  <a:extLst>
                    <a:ext uri="{9D8B030D-6E8A-4147-A177-3AD203B41FA5}">
                      <a16:colId xmlns:a16="http://schemas.microsoft.com/office/drawing/2014/main" val="2743241360"/>
                    </a:ext>
                  </a:extLst>
                </a:gridCol>
                <a:gridCol w="1136555">
                  <a:extLst>
                    <a:ext uri="{9D8B030D-6E8A-4147-A177-3AD203B41FA5}">
                      <a16:colId xmlns:a16="http://schemas.microsoft.com/office/drawing/2014/main" val="325173538"/>
                    </a:ext>
                  </a:extLst>
                </a:gridCol>
                <a:gridCol w="1136555">
                  <a:extLst>
                    <a:ext uri="{9D8B030D-6E8A-4147-A177-3AD203B41FA5}">
                      <a16:colId xmlns:a16="http://schemas.microsoft.com/office/drawing/2014/main" val="4192362197"/>
                    </a:ext>
                  </a:extLst>
                </a:gridCol>
              </a:tblGrid>
              <a:tr h="290658">
                <a:tc>
                  <a:txBody>
                    <a:bodyPr/>
                    <a:lstStyle/>
                    <a:p>
                      <a:pPr algn="ctr" rtl="0" fontAlgn="b"/>
                      <a:r>
                        <a:rPr lang="en-US" sz="1000" b="1" dirty="0" err="1">
                          <a:effectLst/>
                        </a:rPr>
                        <a:t>total_nett_sales</a:t>
                      </a:r>
                      <a:endParaRPr lang="en-US" sz="1000" b="1" dirty="0">
                        <a:effectLst/>
                      </a:endParaRPr>
                    </a:p>
                  </a:txBody>
                  <a:tcPr marL="22860" marR="22860" marT="15240" marB="15240" anchor="b"/>
                </a:tc>
                <a:tc>
                  <a:txBody>
                    <a:bodyPr/>
                    <a:lstStyle/>
                    <a:p>
                      <a:pPr algn="ctr" rtl="0" fontAlgn="b"/>
                      <a:r>
                        <a:rPr lang="en-US" sz="1000" b="1" dirty="0" err="1">
                          <a:effectLst/>
                        </a:rPr>
                        <a:t>total_nett_profit</a:t>
                      </a:r>
                      <a:endParaRPr lang="en-US" sz="1000" b="1" dirty="0">
                        <a:effectLst/>
                      </a:endParaRPr>
                    </a:p>
                  </a:txBody>
                  <a:tcPr marL="22860" marR="22860" marT="15240" marB="15240" anchor="b"/>
                </a:tc>
                <a:tc>
                  <a:txBody>
                    <a:bodyPr/>
                    <a:lstStyle/>
                    <a:p>
                      <a:pPr algn="ctr" rtl="0" fontAlgn="b"/>
                      <a:r>
                        <a:rPr lang="en-US" sz="1000" b="1" dirty="0" err="1">
                          <a:effectLst/>
                        </a:rPr>
                        <a:t>total_transactions</a:t>
                      </a:r>
                      <a:endParaRPr lang="en-US" sz="1000" b="1" dirty="0">
                        <a:effectLst/>
                      </a:endParaRPr>
                    </a:p>
                  </a:txBody>
                  <a:tcPr marL="22860" marR="22860" marT="15240" marB="15240" anchor="b"/>
                </a:tc>
                <a:extLst>
                  <a:ext uri="{0D108BD9-81ED-4DB2-BD59-A6C34878D82A}">
                    <a16:rowId xmlns:a16="http://schemas.microsoft.com/office/drawing/2014/main" val="3427995506"/>
                  </a:ext>
                </a:extLst>
              </a:tr>
              <a:tr h="290658">
                <a:tc>
                  <a:txBody>
                    <a:bodyPr/>
                    <a:lstStyle/>
                    <a:p>
                      <a:pPr algn="l" rtl="0" fontAlgn="b"/>
                      <a:r>
                        <a:rPr lang="en-US" sz="1000">
                          <a:effectLst/>
                        </a:rPr>
                        <a:t>7,100,000,000</a:t>
                      </a:r>
                    </a:p>
                  </a:txBody>
                  <a:tcPr marL="22860" marR="22860" marT="15240" marB="15240" anchor="b"/>
                </a:tc>
                <a:tc>
                  <a:txBody>
                    <a:bodyPr/>
                    <a:lstStyle/>
                    <a:p>
                      <a:pPr algn="l" rtl="0" fontAlgn="b"/>
                      <a:r>
                        <a:rPr lang="en-US" sz="1000" dirty="0">
                          <a:effectLst/>
                        </a:rPr>
                        <a:t>1,420,000,000</a:t>
                      </a:r>
                    </a:p>
                  </a:txBody>
                  <a:tcPr marL="22860" marR="22860" marT="15240" marB="15240" anchor="b"/>
                </a:tc>
                <a:tc>
                  <a:txBody>
                    <a:bodyPr/>
                    <a:lstStyle/>
                    <a:p>
                      <a:pPr algn="l" rtl="0" fontAlgn="b"/>
                      <a:r>
                        <a:rPr lang="en-US" sz="1000" dirty="0">
                          <a:effectLst/>
                        </a:rPr>
                        <a:t>15</a:t>
                      </a:r>
                    </a:p>
                  </a:txBody>
                  <a:tcPr marL="22860" marR="22860" marT="15240" marB="15240" anchor="b"/>
                </a:tc>
                <a:extLst>
                  <a:ext uri="{0D108BD9-81ED-4DB2-BD59-A6C34878D82A}">
                    <a16:rowId xmlns:a16="http://schemas.microsoft.com/office/drawing/2014/main" val="4216214259"/>
                  </a:ext>
                </a:extLst>
              </a:tr>
            </a:tbl>
          </a:graphicData>
        </a:graphic>
      </p:graphicFrame>
      <p:sp>
        <p:nvSpPr>
          <p:cNvPr id="10" name="TextBox 9">
            <a:extLst>
              <a:ext uri="{FF2B5EF4-FFF2-40B4-BE49-F238E27FC236}">
                <a16:creationId xmlns:a16="http://schemas.microsoft.com/office/drawing/2014/main" id="{93957C6E-2988-4F7D-B0DB-23126BC91BBF}"/>
              </a:ext>
            </a:extLst>
          </p:cNvPr>
          <p:cNvSpPr txBox="1"/>
          <p:nvPr/>
        </p:nvSpPr>
        <p:spPr>
          <a:xfrm>
            <a:off x="527715" y="2942585"/>
            <a:ext cx="4572000" cy="307777"/>
          </a:xfrm>
          <a:prstGeom prst="rect">
            <a:avLst/>
          </a:prstGeom>
          <a:noFill/>
        </p:spPr>
        <p:txBody>
          <a:bodyPr wrap="square">
            <a:spAutoFit/>
          </a:bodyPr>
          <a:lstStyle/>
          <a:p>
            <a:pPr marL="285750" indent="-285750">
              <a:buFont typeface="Arial" panose="020B0604020202020204" pitchFamily="34" charset="0"/>
              <a:buChar char="•"/>
            </a:pPr>
            <a:r>
              <a:rPr lang="en" sz="1400" dirty="0">
                <a:solidFill>
                  <a:schemeClr val="dk1"/>
                </a:solidFill>
                <a:latin typeface="Rubik"/>
                <a:ea typeface="Rubik"/>
                <a:cs typeface="Rubik"/>
                <a:sym typeface="Rubik"/>
              </a:rPr>
              <a:t>Result</a:t>
            </a:r>
            <a:endParaRPr lang="en-US" dirty="0"/>
          </a:p>
        </p:txBody>
      </p:sp>
    </p:spTree>
    <p:extLst>
      <p:ext uri="{BB962C8B-B14F-4D97-AF65-F5344CB8AC3E}">
        <p14:creationId xmlns:p14="http://schemas.microsoft.com/office/powerpoint/2010/main" val="1367014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g23ec2985a68_1_56"/>
          <p:cNvPicPr preferRelativeResize="0"/>
          <p:nvPr/>
        </p:nvPicPr>
        <p:blipFill rotWithShape="1">
          <a:blip r:embed="rId3">
            <a:alphaModFix amt="10000"/>
          </a:blip>
          <a:srcRect/>
          <a:stretch/>
        </p:blipFill>
        <p:spPr>
          <a:xfrm>
            <a:off x="0" y="-2"/>
            <a:ext cx="9144001" cy="5143501"/>
          </a:xfrm>
          <a:prstGeom prst="rect">
            <a:avLst/>
          </a:prstGeom>
          <a:noFill/>
          <a:ln>
            <a:noFill/>
          </a:ln>
        </p:spPr>
      </p:pic>
      <p:pic>
        <p:nvPicPr>
          <p:cNvPr id="143" name="Google Shape;143;g23ec2985a68_1_56"/>
          <p:cNvPicPr preferRelativeResize="0"/>
          <p:nvPr/>
        </p:nvPicPr>
        <p:blipFill rotWithShape="1">
          <a:blip r:embed="rId4">
            <a:alphaModFix/>
          </a:blip>
          <a:srcRect t="5658" b="5649"/>
          <a:stretch/>
        </p:blipFill>
        <p:spPr>
          <a:xfrm>
            <a:off x="7317601" y="185624"/>
            <a:ext cx="1399902" cy="541300"/>
          </a:xfrm>
          <a:prstGeom prst="rect">
            <a:avLst/>
          </a:prstGeom>
          <a:noFill/>
          <a:ln>
            <a:noFill/>
          </a:ln>
        </p:spPr>
      </p:pic>
      <p:sp>
        <p:nvSpPr>
          <p:cNvPr id="144" name="Google Shape;144;g23ec2985a68_1_56"/>
          <p:cNvSpPr txBox="1"/>
          <p:nvPr/>
        </p:nvSpPr>
        <p:spPr>
          <a:xfrm>
            <a:off x="340501" y="452037"/>
            <a:ext cx="8463000" cy="600300"/>
          </a:xfrm>
          <a:prstGeom prst="rect">
            <a:avLst/>
          </a:prstGeom>
          <a:noFill/>
          <a:ln>
            <a:noFill/>
          </a:ln>
          <a:effectLst>
            <a:outerShdw blurRad="57150" dist="19050" dir="2820000" algn="bl" rotWithShape="0">
              <a:srgbClr val="B7B7B7">
                <a:alpha val="8549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4"/>
            </a:pPr>
            <a:r>
              <a:rPr lang="en" sz="2700" b="1">
                <a:latin typeface="Rubik"/>
                <a:ea typeface="Rubik"/>
                <a:cs typeface="Rubik"/>
                <a:sym typeface="Rubik"/>
              </a:rPr>
              <a:t>Dashboard  Performance Analytics</a:t>
            </a:r>
            <a:endParaRPr sz="2700" b="1" i="0" u="none" strike="noStrike" cap="none">
              <a:solidFill>
                <a:srgbClr val="000000"/>
              </a:solidFill>
              <a:latin typeface="Rubik"/>
              <a:ea typeface="Rubik"/>
              <a:cs typeface="Rubik"/>
              <a:sym typeface="Rubik"/>
            </a:endParaRPr>
          </a:p>
        </p:txBody>
      </p:sp>
      <p:sp>
        <p:nvSpPr>
          <p:cNvPr id="6" name="TextBox 5">
            <a:extLst>
              <a:ext uri="{FF2B5EF4-FFF2-40B4-BE49-F238E27FC236}">
                <a16:creationId xmlns:a16="http://schemas.microsoft.com/office/drawing/2014/main" id="{668085D5-6420-4D08-85DE-A9D2D7D42C0E}"/>
              </a:ext>
            </a:extLst>
          </p:cNvPr>
          <p:cNvSpPr txBox="1"/>
          <p:nvPr/>
        </p:nvSpPr>
        <p:spPr>
          <a:xfrm>
            <a:off x="426980" y="1239925"/>
            <a:ext cx="5284607" cy="307777"/>
          </a:xfrm>
          <a:prstGeom prst="rect">
            <a:avLst/>
          </a:prstGeom>
          <a:noFill/>
        </p:spPr>
        <p:txBody>
          <a:bodyPr wrap="square">
            <a:spAutoFit/>
          </a:bodyPr>
          <a:lstStyle/>
          <a:p>
            <a:pPr marL="285750" indent="-285750">
              <a:buFont typeface="Arial" panose="020B0604020202020204" pitchFamily="34" charset="0"/>
              <a:buChar char="•"/>
            </a:pPr>
            <a:r>
              <a:rPr lang="en" sz="1400" dirty="0">
                <a:solidFill>
                  <a:schemeClr val="dk1"/>
                </a:solidFill>
                <a:latin typeface="Rubik"/>
                <a:ea typeface="Rubik"/>
                <a:cs typeface="Rubik"/>
                <a:sym typeface="Rubik"/>
              </a:rPr>
              <a:t>SQL Query For </a:t>
            </a:r>
            <a:r>
              <a:rPr lang="en-US" sz="1400" dirty="0">
                <a:solidFill>
                  <a:schemeClr val="dk1"/>
                </a:solidFill>
                <a:latin typeface="Rubik"/>
                <a:ea typeface="Rubik"/>
                <a:cs typeface="Rubik"/>
                <a:sym typeface="Rubik"/>
              </a:rPr>
              <a:t>Year-over-Year Net Sales Comparison</a:t>
            </a:r>
            <a:endParaRPr lang="en-US" dirty="0"/>
          </a:p>
        </p:txBody>
      </p:sp>
      <p:graphicFrame>
        <p:nvGraphicFramePr>
          <p:cNvPr id="2" name="Table 2">
            <a:extLst>
              <a:ext uri="{FF2B5EF4-FFF2-40B4-BE49-F238E27FC236}">
                <a16:creationId xmlns:a16="http://schemas.microsoft.com/office/drawing/2014/main" id="{8FBAE353-8627-464C-9732-366296296264}"/>
              </a:ext>
            </a:extLst>
          </p:cNvPr>
          <p:cNvGraphicFramePr>
            <a:graphicFrameLocks noGrp="1"/>
          </p:cNvGraphicFramePr>
          <p:nvPr>
            <p:extLst>
              <p:ext uri="{D42A27DB-BD31-4B8C-83A1-F6EECF244321}">
                <p14:modId xmlns:p14="http://schemas.microsoft.com/office/powerpoint/2010/main" val="1331376987"/>
              </p:ext>
            </p:extLst>
          </p:nvPr>
        </p:nvGraphicFramePr>
        <p:xfrm>
          <a:off x="527714" y="1696953"/>
          <a:ext cx="3932181" cy="1005840"/>
        </p:xfrm>
        <a:graphic>
          <a:graphicData uri="http://schemas.openxmlformats.org/drawingml/2006/table">
            <a:tbl>
              <a:tblPr firstRow="1" bandRow="1">
                <a:tableStyleId>{5C22544A-7EE6-4342-B048-85BDC9FD1C3A}</a:tableStyleId>
              </a:tblPr>
              <a:tblGrid>
                <a:gridCol w="3932181">
                  <a:extLst>
                    <a:ext uri="{9D8B030D-6E8A-4147-A177-3AD203B41FA5}">
                      <a16:colId xmlns:a16="http://schemas.microsoft.com/office/drawing/2014/main" val="170103559"/>
                    </a:ext>
                  </a:extLst>
                </a:gridCol>
              </a:tblGrid>
              <a:tr h="874796">
                <a:tc>
                  <a:txBody>
                    <a:bodyPr/>
                    <a:lstStyle/>
                    <a:p>
                      <a:r>
                        <a:rPr lang="en-US" sz="1000" dirty="0">
                          <a:solidFill>
                            <a:schemeClr val="tx1"/>
                          </a:solidFill>
                        </a:rPr>
                        <a:t>SELECT     </a:t>
                      </a:r>
                    </a:p>
                    <a:p>
                      <a:r>
                        <a:rPr lang="en-US" sz="1000" dirty="0">
                          <a:solidFill>
                            <a:schemeClr val="tx1"/>
                          </a:solidFill>
                        </a:rPr>
                        <a:t>          EXTRACT(YEAR FROM date) AS year,</a:t>
                      </a:r>
                    </a:p>
                    <a:p>
                      <a:r>
                        <a:rPr lang="en-US" sz="1000" dirty="0">
                          <a:solidFill>
                            <a:schemeClr val="tx1"/>
                          </a:solidFill>
                        </a:rPr>
                        <a:t>          SUM(</a:t>
                      </a:r>
                      <a:r>
                        <a:rPr lang="en-US" sz="1000" dirty="0" err="1">
                          <a:solidFill>
                            <a:schemeClr val="tx1"/>
                          </a:solidFill>
                        </a:rPr>
                        <a:t>nett_sales</a:t>
                      </a:r>
                      <a:r>
                        <a:rPr lang="en-US" sz="1000" dirty="0">
                          <a:solidFill>
                            <a:schemeClr val="tx1"/>
                          </a:solidFill>
                        </a:rPr>
                        <a:t>) AS </a:t>
                      </a:r>
                      <a:r>
                        <a:rPr lang="en-US" sz="1000" dirty="0" err="1">
                          <a:solidFill>
                            <a:schemeClr val="tx1"/>
                          </a:solidFill>
                        </a:rPr>
                        <a:t>total_nett_sales</a:t>
                      </a:r>
                      <a:endParaRPr lang="en-US" sz="1000" dirty="0">
                        <a:solidFill>
                          <a:schemeClr val="tx1"/>
                        </a:solidFill>
                      </a:endParaRPr>
                    </a:p>
                    <a:p>
                      <a:r>
                        <a:rPr lang="en-US" sz="1000" dirty="0">
                          <a:solidFill>
                            <a:schemeClr val="tx1"/>
                          </a:solidFill>
                        </a:rPr>
                        <a:t>FROM `</a:t>
                      </a:r>
                      <a:r>
                        <a:rPr lang="en-US" sz="1000" dirty="0" err="1">
                          <a:solidFill>
                            <a:schemeClr val="tx1"/>
                          </a:solidFill>
                        </a:rPr>
                        <a:t>Rakamin_KF_Analytics.kimia_farma.analisa</a:t>
                      </a:r>
                      <a:r>
                        <a:rPr lang="en-US" sz="1000" dirty="0">
                          <a:solidFill>
                            <a:schemeClr val="tx1"/>
                          </a:solidFill>
                        </a:rPr>
                        <a:t>`</a:t>
                      </a:r>
                    </a:p>
                    <a:p>
                      <a:r>
                        <a:rPr lang="en-US" sz="1000" dirty="0">
                          <a:solidFill>
                            <a:schemeClr val="tx1"/>
                          </a:solidFill>
                        </a:rPr>
                        <a:t>GROUP BY year</a:t>
                      </a:r>
                    </a:p>
                    <a:p>
                      <a:r>
                        <a:rPr lang="en-US" sz="1000" dirty="0">
                          <a:solidFill>
                            <a:schemeClr val="tx1"/>
                          </a:solidFill>
                        </a:rPr>
                        <a:t>ORDER BY year;</a:t>
                      </a:r>
                    </a:p>
                  </a:txBody>
                  <a:tcPr>
                    <a:solidFill>
                      <a:schemeClr val="bg1"/>
                    </a:solidFill>
                  </a:tcPr>
                </a:tc>
                <a:extLst>
                  <a:ext uri="{0D108BD9-81ED-4DB2-BD59-A6C34878D82A}">
                    <a16:rowId xmlns:a16="http://schemas.microsoft.com/office/drawing/2014/main" val="3178956191"/>
                  </a:ext>
                </a:extLst>
              </a:tr>
            </a:tbl>
          </a:graphicData>
        </a:graphic>
      </p:graphicFrame>
      <p:sp>
        <p:nvSpPr>
          <p:cNvPr id="10" name="TextBox 9">
            <a:extLst>
              <a:ext uri="{FF2B5EF4-FFF2-40B4-BE49-F238E27FC236}">
                <a16:creationId xmlns:a16="http://schemas.microsoft.com/office/drawing/2014/main" id="{93957C6E-2988-4F7D-B0DB-23126BC91BBF}"/>
              </a:ext>
            </a:extLst>
          </p:cNvPr>
          <p:cNvSpPr txBox="1"/>
          <p:nvPr/>
        </p:nvSpPr>
        <p:spPr>
          <a:xfrm>
            <a:off x="527715" y="2942585"/>
            <a:ext cx="4572000" cy="307777"/>
          </a:xfrm>
          <a:prstGeom prst="rect">
            <a:avLst/>
          </a:prstGeom>
          <a:noFill/>
        </p:spPr>
        <p:txBody>
          <a:bodyPr wrap="square">
            <a:spAutoFit/>
          </a:bodyPr>
          <a:lstStyle/>
          <a:p>
            <a:pPr marL="285750" indent="-285750">
              <a:buFont typeface="Arial" panose="020B0604020202020204" pitchFamily="34" charset="0"/>
              <a:buChar char="•"/>
            </a:pPr>
            <a:r>
              <a:rPr lang="en" sz="1400" dirty="0">
                <a:solidFill>
                  <a:schemeClr val="dk1"/>
                </a:solidFill>
                <a:latin typeface="Rubik"/>
                <a:ea typeface="Rubik"/>
                <a:cs typeface="Rubik"/>
                <a:sym typeface="Rubik"/>
              </a:rPr>
              <a:t>Result</a:t>
            </a:r>
            <a:endParaRPr lang="en-US" dirty="0"/>
          </a:p>
        </p:txBody>
      </p:sp>
      <p:graphicFrame>
        <p:nvGraphicFramePr>
          <p:cNvPr id="3" name="Table 4">
            <a:extLst>
              <a:ext uri="{FF2B5EF4-FFF2-40B4-BE49-F238E27FC236}">
                <a16:creationId xmlns:a16="http://schemas.microsoft.com/office/drawing/2014/main" id="{1B94BC2D-D07A-4853-89F8-69915620E902}"/>
              </a:ext>
            </a:extLst>
          </p:cNvPr>
          <p:cNvGraphicFramePr>
            <a:graphicFrameLocks noGrp="1"/>
          </p:cNvGraphicFramePr>
          <p:nvPr>
            <p:extLst>
              <p:ext uri="{D42A27DB-BD31-4B8C-83A1-F6EECF244321}">
                <p14:modId xmlns:p14="http://schemas.microsoft.com/office/powerpoint/2010/main" val="3567478432"/>
              </p:ext>
            </p:extLst>
          </p:nvPr>
        </p:nvGraphicFramePr>
        <p:xfrm>
          <a:off x="527713" y="3363924"/>
          <a:ext cx="3512024" cy="1433265"/>
        </p:xfrm>
        <a:graphic>
          <a:graphicData uri="http://schemas.openxmlformats.org/drawingml/2006/table">
            <a:tbl>
              <a:tblPr firstRow="1" bandRow="1">
                <a:tableStyleId>{5C22544A-7EE6-4342-B048-85BDC9FD1C3A}</a:tableStyleId>
              </a:tblPr>
              <a:tblGrid>
                <a:gridCol w="1756012">
                  <a:extLst>
                    <a:ext uri="{9D8B030D-6E8A-4147-A177-3AD203B41FA5}">
                      <a16:colId xmlns:a16="http://schemas.microsoft.com/office/drawing/2014/main" val="4094346863"/>
                    </a:ext>
                  </a:extLst>
                </a:gridCol>
                <a:gridCol w="1756012">
                  <a:extLst>
                    <a:ext uri="{9D8B030D-6E8A-4147-A177-3AD203B41FA5}">
                      <a16:colId xmlns:a16="http://schemas.microsoft.com/office/drawing/2014/main" val="1214332566"/>
                    </a:ext>
                  </a:extLst>
                </a:gridCol>
              </a:tblGrid>
              <a:tr h="286653">
                <a:tc>
                  <a:txBody>
                    <a:bodyPr/>
                    <a:lstStyle/>
                    <a:p>
                      <a:pPr algn="ctr" rtl="0" fontAlgn="b"/>
                      <a:r>
                        <a:rPr lang="en-US" sz="1000" b="1" dirty="0">
                          <a:effectLst/>
                        </a:rPr>
                        <a:t>year</a:t>
                      </a:r>
                    </a:p>
                  </a:txBody>
                  <a:tcPr marL="22860" marR="22860" marT="15240" marB="15240" anchor="b"/>
                </a:tc>
                <a:tc>
                  <a:txBody>
                    <a:bodyPr/>
                    <a:lstStyle/>
                    <a:p>
                      <a:pPr algn="ctr" rtl="0" fontAlgn="b"/>
                      <a:r>
                        <a:rPr lang="en-US" sz="1000" b="1">
                          <a:effectLst/>
                        </a:rPr>
                        <a:t>total_nett_sales</a:t>
                      </a:r>
                    </a:p>
                  </a:txBody>
                  <a:tcPr marL="22860" marR="22860" marT="15240" marB="15240" anchor="b"/>
                </a:tc>
                <a:extLst>
                  <a:ext uri="{0D108BD9-81ED-4DB2-BD59-A6C34878D82A}">
                    <a16:rowId xmlns:a16="http://schemas.microsoft.com/office/drawing/2014/main" val="1061634299"/>
                  </a:ext>
                </a:extLst>
              </a:tr>
              <a:tr h="286653">
                <a:tc>
                  <a:txBody>
                    <a:bodyPr/>
                    <a:lstStyle/>
                    <a:p>
                      <a:pPr algn="l" rtl="0" fontAlgn="b"/>
                      <a:r>
                        <a:rPr lang="en-US" sz="1000" dirty="0">
                          <a:effectLst/>
                        </a:rPr>
                        <a:t>2020</a:t>
                      </a:r>
                    </a:p>
                  </a:txBody>
                  <a:tcPr marL="22860" marR="22860" marT="15240" marB="15240" anchor="b"/>
                </a:tc>
                <a:tc>
                  <a:txBody>
                    <a:bodyPr/>
                    <a:lstStyle/>
                    <a:p>
                      <a:pPr algn="l" rtl="0" fontAlgn="b"/>
                      <a:r>
                        <a:rPr lang="en-US" sz="1000">
                          <a:effectLst/>
                        </a:rPr>
                        <a:t>1,200,000,000</a:t>
                      </a:r>
                    </a:p>
                  </a:txBody>
                  <a:tcPr marL="22860" marR="22860" marT="15240" marB="15240" anchor="b"/>
                </a:tc>
                <a:extLst>
                  <a:ext uri="{0D108BD9-81ED-4DB2-BD59-A6C34878D82A}">
                    <a16:rowId xmlns:a16="http://schemas.microsoft.com/office/drawing/2014/main" val="4257562076"/>
                  </a:ext>
                </a:extLst>
              </a:tr>
              <a:tr h="286653">
                <a:tc>
                  <a:txBody>
                    <a:bodyPr/>
                    <a:lstStyle/>
                    <a:p>
                      <a:pPr algn="l" rtl="0" fontAlgn="b"/>
                      <a:r>
                        <a:rPr lang="en-US" sz="1000" dirty="0">
                          <a:effectLst/>
                        </a:rPr>
                        <a:t>2021</a:t>
                      </a:r>
                    </a:p>
                  </a:txBody>
                  <a:tcPr marL="22860" marR="22860" marT="15240" marB="15240" anchor="b"/>
                </a:tc>
                <a:tc>
                  <a:txBody>
                    <a:bodyPr/>
                    <a:lstStyle/>
                    <a:p>
                      <a:pPr algn="l" rtl="0" fontAlgn="b"/>
                      <a:r>
                        <a:rPr lang="en-US" sz="1000" dirty="0">
                          <a:effectLst/>
                        </a:rPr>
                        <a:t>1,440,000,000</a:t>
                      </a:r>
                    </a:p>
                  </a:txBody>
                  <a:tcPr marL="22860" marR="22860" marT="15240" marB="15240" anchor="b"/>
                </a:tc>
                <a:extLst>
                  <a:ext uri="{0D108BD9-81ED-4DB2-BD59-A6C34878D82A}">
                    <a16:rowId xmlns:a16="http://schemas.microsoft.com/office/drawing/2014/main" val="2040072009"/>
                  </a:ext>
                </a:extLst>
              </a:tr>
              <a:tr h="286653">
                <a:tc>
                  <a:txBody>
                    <a:bodyPr/>
                    <a:lstStyle/>
                    <a:p>
                      <a:pPr algn="l" rtl="0" fontAlgn="b"/>
                      <a:r>
                        <a:rPr lang="en-US" sz="1000" dirty="0">
                          <a:effectLst/>
                        </a:rPr>
                        <a:t>2022</a:t>
                      </a:r>
                    </a:p>
                  </a:txBody>
                  <a:tcPr marL="22860" marR="22860" marT="15240" marB="15240" anchor="b"/>
                </a:tc>
                <a:tc>
                  <a:txBody>
                    <a:bodyPr/>
                    <a:lstStyle/>
                    <a:p>
                      <a:pPr algn="l" rtl="0" fontAlgn="b"/>
                      <a:r>
                        <a:rPr lang="en-US" sz="1000" dirty="0">
                          <a:effectLst/>
                        </a:rPr>
                        <a:t>1,800,000,000</a:t>
                      </a:r>
                    </a:p>
                  </a:txBody>
                  <a:tcPr marL="22860" marR="22860" marT="15240" marB="15240" anchor="b"/>
                </a:tc>
                <a:extLst>
                  <a:ext uri="{0D108BD9-81ED-4DB2-BD59-A6C34878D82A}">
                    <a16:rowId xmlns:a16="http://schemas.microsoft.com/office/drawing/2014/main" val="2782543667"/>
                  </a:ext>
                </a:extLst>
              </a:tr>
              <a:tr h="286653">
                <a:tc>
                  <a:txBody>
                    <a:bodyPr/>
                    <a:lstStyle/>
                    <a:p>
                      <a:pPr algn="l" rtl="0" fontAlgn="b"/>
                      <a:r>
                        <a:rPr lang="en-US" sz="1000">
                          <a:effectLst/>
                        </a:rPr>
                        <a:t>2023</a:t>
                      </a:r>
                    </a:p>
                  </a:txBody>
                  <a:tcPr marL="22860" marR="22860" marT="15240" marB="15240" anchor="b"/>
                </a:tc>
                <a:tc>
                  <a:txBody>
                    <a:bodyPr/>
                    <a:lstStyle/>
                    <a:p>
                      <a:pPr algn="l" rtl="0" fontAlgn="b"/>
                      <a:r>
                        <a:rPr lang="en-US" sz="1000" dirty="0">
                          <a:effectLst/>
                        </a:rPr>
                        <a:t>2,160,000,000</a:t>
                      </a:r>
                    </a:p>
                  </a:txBody>
                  <a:tcPr marL="22860" marR="22860" marT="15240" marB="15240" anchor="b"/>
                </a:tc>
                <a:extLst>
                  <a:ext uri="{0D108BD9-81ED-4DB2-BD59-A6C34878D82A}">
                    <a16:rowId xmlns:a16="http://schemas.microsoft.com/office/drawing/2014/main" val="1269114586"/>
                  </a:ext>
                </a:extLst>
              </a:tr>
            </a:tbl>
          </a:graphicData>
        </a:graphic>
      </p:graphicFrame>
    </p:spTree>
    <p:extLst>
      <p:ext uri="{BB962C8B-B14F-4D97-AF65-F5344CB8AC3E}">
        <p14:creationId xmlns:p14="http://schemas.microsoft.com/office/powerpoint/2010/main" val="1281231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g23ec2985a68_1_56"/>
          <p:cNvPicPr preferRelativeResize="0"/>
          <p:nvPr/>
        </p:nvPicPr>
        <p:blipFill rotWithShape="1">
          <a:blip r:embed="rId3">
            <a:alphaModFix amt="10000"/>
          </a:blip>
          <a:srcRect/>
          <a:stretch/>
        </p:blipFill>
        <p:spPr>
          <a:xfrm>
            <a:off x="0" y="-2"/>
            <a:ext cx="9144001" cy="5143501"/>
          </a:xfrm>
          <a:prstGeom prst="rect">
            <a:avLst/>
          </a:prstGeom>
          <a:noFill/>
          <a:ln>
            <a:noFill/>
          </a:ln>
        </p:spPr>
      </p:pic>
      <p:pic>
        <p:nvPicPr>
          <p:cNvPr id="143" name="Google Shape;143;g23ec2985a68_1_56"/>
          <p:cNvPicPr preferRelativeResize="0"/>
          <p:nvPr/>
        </p:nvPicPr>
        <p:blipFill rotWithShape="1">
          <a:blip r:embed="rId4">
            <a:alphaModFix/>
          </a:blip>
          <a:srcRect t="5658" b="5649"/>
          <a:stretch/>
        </p:blipFill>
        <p:spPr>
          <a:xfrm>
            <a:off x="7317601" y="185624"/>
            <a:ext cx="1399902" cy="541300"/>
          </a:xfrm>
          <a:prstGeom prst="rect">
            <a:avLst/>
          </a:prstGeom>
          <a:noFill/>
          <a:ln>
            <a:noFill/>
          </a:ln>
        </p:spPr>
      </p:pic>
      <p:sp>
        <p:nvSpPr>
          <p:cNvPr id="144" name="Google Shape;144;g23ec2985a68_1_56"/>
          <p:cNvSpPr txBox="1"/>
          <p:nvPr/>
        </p:nvSpPr>
        <p:spPr>
          <a:xfrm>
            <a:off x="340501" y="452037"/>
            <a:ext cx="8463000" cy="600300"/>
          </a:xfrm>
          <a:prstGeom prst="rect">
            <a:avLst/>
          </a:prstGeom>
          <a:noFill/>
          <a:ln>
            <a:noFill/>
          </a:ln>
          <a:effectLst>
            <a:outerShdw blurRad="57150" dist="19050" dir="2820000" algn="bl" rotWithShape="0">
              <a:srgbClr val="B7B7B7">
                <a:alpha val="8549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4"/>
            </a:pPr>
            <a:r>
              <a:rPr lang="en" sz="2700" b="1">
                <a:latin typeface="Rubik"/>
                <a:ea typeface="Rubik"/>
                <a:cs typeface="Rubik"/>
                <a:sym typeface="Rubik"/>
              </a:rPr>
              <a:t>Dashboard  Performance Analytics</a:t>
            </a:r>
            <a:endParaRPr sz="2700" b="1" i="0" u="none" strike="noStrike" cap="none">
              <a:solidFill>
                <a:srgbClr val="000000"/>
              </a:solidFill>
              <a:latin typeface="Rubik"/>
              <a:ea typeface="Rubik"/>
              <a:cs typeface="Rubik"/>
              <a:sym typeface="Rubik"/>
            </a:endParaRPr>
          </a:p>
        </p:txBody>
      </p:sp>
      <p:sp>
        <p:nvSpPr>
          <p:cNvPr id="6" name="TextBox 5">
            <a:extLst>
              <a:ext uri="{FF2B5EF4-FFF2-40B4-BE49-F238E27FC236}">
                <a16:creationId xmlns:a16="http://schemas.microsoft.com/office/drawing/2014/main" id="{668085D5-6420-4D08-85DE-A9D2D7D42C0E}"/>
              </a:ext>
            </a:extLst>
          </p:cNvPr>
          <p:cNvSpPr txBox="1"/>
          <p:nvPr/>
        </p:nvSpPr>
        <p:spPr>
          <a:xfrm>
            <a:off x="426980" y="1239925"/>
            <a:ext cx="5284607" cy="523220"/>
          </a:xfrm>
          <a:prstGeom prst="rect">
            <a:avLst/>
          </a:prstGeom>
          <a:noFill/>
        </p:spPr>
        <p:txBody>
          <a:bodyPr wrap="square">
            <a:spAutoFit/>
          </a:bodyPr>
          <a:lstStyle/>
          <a:p>
            <a:pPr marL="285750" indent="-285750">
              <a:buFont typeface="Arial" panose="020B0604020202020204" pitchFamily="34" charset="0"/>
              <a:buChar char="•"/>
            </a:pPr>
            <a:r>
              <a:rPr lang="en" sz="1400" dirty="0">
                <a:solidFill>
                  <a:schemeClr val="dk1"/>
                </a:solidFill>
                <a:latin typeface="Rubik"/>
                <a:ea typeface="Rubik"/>
                <a:cs typeface="Rubik"/>
                <a:sym typeface="Rubik"/>
              </a:rPr>
              <a:t>SQL Query For </a:t>
            </a:r>
          </a:p>
          <a:p>
            <a:r>
              <a:rPr lang="en" sz="1400" dirty="0">
                <a:solidFill>
                  <a:schemeClr val="dk1"/>
                </a:solidFill>
                <a:latin typeface="Rubik"/>
                <a:ea typeface="Rubik"/>
                <a:cs typeface="Rubik"/>
                <a:sym typeface="Rubik"/>
              </a:rPr>
              <a:t>      </a:t>
            </a:r>
            <a:r>
              <a:rPr lang="en-US" sz="1400" dirty="0">
                <a:solidFill>
                  <a:schemeClr val="dk1"/>
                </a:solidFill>
                <a:latin typeface="Rubik"/>
                <a:ea typeface="Rubik"/>
                <a:cs typeface="Rubik"/>
                <a:sym typeface="Rubik"/>
              </a:rPr>
              <a:t>Top 10 Transaction Count by Province</a:t>
            </a:r>
            <a:endParaRPr lang="en-US" dirty="0"/>
          </a:p>
        </p:txBody>
      </p:sp>
      <p:graphicFrame>
        <p:nvGraphicFramePr>
          <p:cNvPr id="2" name="Table 2">
            <a:extLst>
              <a:ext uri="{FF2B5EF4-FFF2-40B4-BE49-F238E27FC236}">
                <a16:creationId xmlns:a16="http://schemas.microsoft.com/office/drawing/2014/main" id="{8FBAE353-8627-464C-9732-366296296264}"/>
              </a:ext>
            </a:extLst>
          </p:cNvPr>
          <p:cNvGraphicFramePr>
            <a:graphicFrameLocks noGrp="1"/>
          </p:cNvGraphicFramePr>
          <p:nvPr>
            <p:extLst>
              <p:ext uri="{D42A27DB-BD31-4B8C-83A1-F6EECF244321}">
                <p14:modId xmlns:p14="http://schemas.microsoft.com/office/powerpoint/2010/main" val="1392371127"/>
              </p:ext>
            </p:extLst>
          </p:nvPr>
        </p:nvGraphicFramePr>
        <p:xfrm>
          <a:off x="548185" y="2163394"/>
          <a:ext cx="3932181" cy="1158240"/>
        </p:xfrm>
        <a:graphic>
          <a:graphicData uri="http://schemas.openxmlformats.org/drawingml/2006/table">
            <a:tbl>
              <a:tblPr firstRow="1" bandRow="1">
                <a:tableStyleId>{5C22544A-7EE6-4342-B048-85BDC9FD1C3A}</a:tableStyleId>
              </a:tblPr>
              <a:tblGrid>
                <a:gridCol w="3932181">
                  <a:extLst>
                    <a:ext uri="{9D8B030D-6E8A-4147-A177-3AD203B41FA5}">
                      <a16:colId xmlns:a16="http://schemas.microsoft.com/office/drawing/2014/main" val="170103559"/>
                    </a:ext>
                  </a:extLst>
                </a:gridCol>
              </a:tblGrid>
              <a:tr h="874796">
                <a:tc>
                  <a:txBody>
                    <a:bodyPr/>
                    <a:lstStyle/>
                    <a:p>
                      <a:r>
                        <a:rPr lang="en-US" sz="1000" dirty="0">
                          <a:solidFill>
                            <a:schemeClr val="tx1"/>
                          </a:solidFill>
                        </a:rPr>
                        <a:t>SELECT     </a:t>
                      </a:r>
                    </a:p>
                    <a:p>
                      <a:r>
                        <a:rPr lang="en-US" sz="1000" dirty="0">
                          <a:solidFill>
                            <a:schemeClr val="tx1"/>
                          </a:solidFill>
                        </a:rPr>
                        <a:t>          </a:t>
                      </a:r>
                      <a:r>
                        <a:rPr lang="en-US" sz="1000" dirty="0" err="1">
                          <a:solidFill>
                            <a:schemeClr val="tx1"/>
                          </a:solidFill>
                        </a:rPr>
                        <a:t>provinsi</a:t>
                      </a:r>
                      <a:r>
                        <a:rPr lang="en-US" sz="1000" dirty="0">
                          <a:solidFill>
                            <a:schemeClr val="tx1"/>
                          </a:solidFill>
                        </a:rPr>
                        <a:t>,    </a:t>
                      </a:r>
                    </a:p>
                    <a:p>
                      <a:r>
                        <a:rPr lang="en-US" sz="1000" dirty="0">
                          <a:solidFill>
                            <a:schemeClr val="tx1"/>
                          </a:solidFill>
                        </a:rPr>
                        <a:t>          COUNT(</a:t>
                      </a:r>
                      <a:r>
                        <a:rPr lang="en-US" sz="1000" dirty="0" err="1">
                          <a:solidFill>
                            <a:schemeClr val="tx1"/>
                          </a:solidFill>
                        </a:rPr>
                        <a:t>transaction_id</a:t>
                      </a:r>
                      <a:r>
                        <a:rPr lang="en-US" sz="1000" dirty="0">
                          <a:solidFill>
                            <a:schemeClr val="tx1"/>
                          </a:solidFill>
                        </a:rPr>
                        <a:t>) AS </a:t>
                      </a:r>
                      <a:r>
                        <a:rPr lang="en-US" sz="1000" dirty="0" err="1">
                          <a:solidFill>
                            <a:schemeClr val="tx1"/>
                          </a:solidFill>
                        </a:rPr>
                        <a:t>total_transactions</a:t>
                      </a:r>
                      <a:endParaRPr lang="en-US" sz="1000" dirty="0">
                        <a:solidFill>
                          <a:schemeClr val="tx1"/>
                        </a:solidFill>
                      </a:endParaRPr>
                    </a:p>
                    <a:p>
                      <a:r>
                        <a:rPr lang="en-US" sz="1000" dirty="0">
                          <a:solidFill>
                            <a:schemeClr val="tx1"/>
                          </a:solidFill>
                        </a:rPr>
                        <a:t>FROM `</a:t>
                      </a:r>
                      <a:r>
                        <a:rPr lang="en-US" sz="1000" dirty="0" err="1">
                          <a:solidFill>
                            <a:schemeClr val="tx1"/>
                          </a:solidFill>
                        </a:rPr>
                        <a:t>Rakamin_KF_Analytics.kimia_farma.analisa</a:t>
                      </a:r>
                      <a:r>
                        <a:rPr lang="en-US" sz="1000" dirty="0">
                          <a:solidFill>
                            <a:schemeClr val="tx1"/>
                          </a:solidFill>
                        </a:rPr>
                        <a:t>`</a:t>
                      </a:r>
                    </a:p>
                    <a:p>
                      <a:r>
                        <a:rPr lang="en-US" sz="1000" dirty="0">
                          <a:solidFill>
                            <a:schemeClr val="tx1"/>
                          </a:solidFill>
                        </a:rPr>
                        <a:t>GROUP BY </a:t>
                      </a:r>
                      <a:r>
                        <a:rPr lang="en-US" sz="1000" dirty="0" err="1">
                          <a:solidFill>
                            <a:schemeClr val="tx1"/>
                          </a:solidFill>
                        </a:rPr>
                        <a:t>provinsi</a:t>
                      </a:r>
                      <a:endParaRPr lang="en-US" sz="1000" dirty="0">
                        <a:solidFill>
                          <a:schemeClr val="tx1"/>
                        </a:solidFill>
                      </a:endParaRPr>
                    </a:p>
                    <a:p>
                      <a:r>
                        <a:rPr lang="en-US" sz="1000" dirty="0">
                          <a:solidFill>
                            <a:schemeClr val="tx1"/>
                          </a:solidFill>
                        </a:rPr>
                        <a:t>ORDER BY </a:t>
                      </a:r>
                      <a:r>
                        <a:rPr lang="en-US" sz="1000" dirty="0" err="1">
                          <a:solidFill>
                            <a:schemeClr val="tx1"/>
                          </a:solidFill>
                        </a:rPr>
                        <a:t>total_transactions</a:t>
                      </a:r>
                      <a:r>
                        <a:rPr lang="en-US" sz="1000" dirty="0">
                          <a:solidFill>
                            <a:schemeClr val="tx1"/>
                          </a:solidFill>
                        </a:rPr>
                        <a:t> DESC</a:t>
                      </a:r>
                    </a:p>
                    <a:p>
                      <a:r>
                        <a:rPr lang="en-US" sz="1000" dirty="0">
                          <a:solidFill>
                            <a:schemeClr val="tx1"/>
                          </a:solidFill>
                        </a:rPr>
                        <a:t>LIMIT 10;</a:t>
                      </a:r>
                    </a:p>
                  </a:txBody>
                  <a:tcPr>
                    <a:solidFill>
                      <a:schemeClr val="bg1"/>
                    </a:solidFill>
                  </a:tcPr>
                </a:tc>
                <a:extLst>
                  <a:ext uri="{0D108BD9-81ED-4DB2-BD59-A6C34878D82A}">
                    <a16:rowId xmlns:a16="http://schemas.microsoft.com/office/drawing/2014/main" val="3178956191"/>
                  </a:ext>
                </a:extLst>
              </a:tr>
            </a:tbl>
          </a:graphicData>
        </a:graphic>
      </p:graphicFrame>
      <p:sp>
        <p:nvSpPr>
          <p:cNvPr id="10" name="TextBox 9">
            <a:extLst>
              <a:ext uri="{FF2B5EF4-FFF2-40B4-BE49-F238E27FC236}">
                <a16:creationId xmlns:a16="http://schemas.microsoft.com/office/drawing/2014/main" id="{93957C6E-2988-4F7D-B0DB-23126BC91BBF}"/>
              </a:ext>
            </a:extLst>
          </p:cNvPr>
          <p:cNvSpPr txBox="1"/>
          <p:nvPr/>
        </p:nvSpPr>
        <p:spPr>
          <a:xfrm>
            <a:off x="5256665" y="1160662"/>
            <a:ext cx="4572000" cy="307777"/>
          </a:xfrm>
          <a:prstGeom prst="rect">
            <a:avLst/>
          </a:prstGeom>
          <a:noFill/>
        </p:spPr>
        <p:txBody>
          <a:bodyPr wrap="square">
            <a:spAutoFit/>
          </a:bodyPr>
          <a:lstStyle/>
          <a:p>
            <a:pPr marL="285750" indent="-285750">
              <a:buFont typeface="Arial" panose="020B0604020202020204" pitchFamily="34" charset="0"/>
              <a:buChar char="•"/>
            </a:pPr>
            <a:r>
              <a:rPr lang="en" sz="1400" dirty="0">
                <a:solidFill>
                  <a:schemeClr val="dk1"/>
                </a:solidFill>
                <a:latin typeface="Rubik"/>
                <a:ea typeface="Rubik"/>
                <a:cs typeface="Rubik"/>
                <a:sym typeface="Rubik"/>
              </a:rPr>
              <a:t>Result</a:t>
            </a:r>
            <a:endParaRPr lang="en-US" dirty="0"/>
          </a:p>
        </p:txBody>
      </p:sp>
      <p:graphicFrame>
        <p:nvGraphicFramePr>
          <p:cNvPr id="5" name="Table 6">
            <a:extLst>
              <a:ext uri="{FF2B5EF4-FFF2-40B4-BE49-F238E27FC236}">
                <a16:creationId xmlns:a16="http://schemas.microsoft.com/office/drawing/2014/main" id="{005F943C-54E0-4F95-A532-FBB8C6684CBB}"/>
              </a:ext>
            </a:extLst>
          </p:cNvPr>
          <p:cNvGraphicFramePr>
            <a:graphicFrameLocks noGrp="1"/>
          </p:cNvGraphicFramePr>
          <p:nvPr>
            <p:extLst>
              <p:ext uri="{D42A27DB-BD31-4B8C-83A1-F6EECF244321}">
                <p14:modId xmlns:p14="http://schemas.microsoft.com/office/powerpoint/2010/main" val="2614660228"/>
              </p:ext>
            </p:extLst>
          </p:nvPr>
        </p:nvGraphicFramePr>
        <p:xfrm>
          <a:off x="5356745" y="1576764"/>
          <a:ext cx="3048000" cy="2710609"/>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4111977262"/>
                    </a:ext>
                  </a:extLst>
                </a:gridCol>
                <a:gridCol w="1524000">
                  <a:extLst>
                    <a:ext uri="{9D8B030D-6E8A-4147-A177-3AD203B41FA5}">
                      <a16:colId xmlns:a16="http://schemas.microsoft.com/office/drawing/2014/main" val="522032153"/>
                    </a:ext>
                  </a:extLst>
                </a:gridCol>
              </a:tblGrid>
              <a:tr h="246419">
                <a:tc>
                  <a:txBody>
                    <a:bodyPr/>
                    <a:lstStyle/>
                    <a:p>
                      <a:r>
                        <a:rPr lang="en-US" sz="1000" b="1"/>
                        <a:t>provinsi</a:t>
                      </a:r>
                      <a:endParaRPr lang="en-US" sz="1000"/>
                    </a:p>
                  </a:txBody>
                  <a:tcPr anchor="ctr"/>
                </a:tc>
                <a:tc>
                  <a:txBody>
                    <a:bodyPr/>
                    <a:lstStyle/>
                    <a:p>
                      <a:r>
                        <a:rPr lang="en-US" sz="1000" b="1"/>
                        <a:t>total_transactions</a:t>
                      </a:r>
                      <a:endParaRPr lang="en-US" sz="1000"/>
                    </a:p>
                  </a:txBody>
                  <a:tcPr anchor="ctr"/>
                </a:tc>
                <a:extLst>
                  <a:ext uri="{0D108BD9-81ED-4DB2-BD59-A6C34878D82A}">
                    <a16:rowId xmlns:a16="http://schemas.microsoft.com/office/drawing/2014/main" val="1275348469"/>
                  </a:ext>
                </a:extLst>
              </a:tr>
              <a:tr h="246419">
                <a:tc>
                  <a:txBody>
                    <a:bodyPr/>
                    <a:lstStyle/>
                    <a:p>
                      <a:r>
                        <a:rPr lang="en-US" sz="1000"/>
                        <a:t>Jawa Barat</a:t>
                      </a:r>
                    </a:p>
                  </a:txBody>
                  <a:tcPr anchor="ctr"/>
                </a:tc>
                <a:tc>
                  <a:txBody>
                    <a:bodyPr/>
                    <a:lstStyle/>
                    <a:p>
                      <a:r>
                        <a:rPr lang="en-US" sz="1000"/>
                        <a:t>5000</a:t>
                      </a:r>
                    </a:p>
                  </a:txBody>
                  <a:tcPr anchor="ctr"/>
                </a:tc>
                <a:extLst>
                  <a:ext uri="{0D108BD9-81ED-4DB2-BD59-A6C34878D82A}">
                    <a16:rowId xmlns:a16="http://schemas.microsoft.com/office/drawing/2014/main" val="507104245"/>
                  </a:ext>
                </a:extLst>
              </a:tr>
              <a:tr h="246419">
                <a:tc>
                  <a:txBody>
                    <a:bodyPr/>
                    <a:lstStyle/>
                    <a:p>
                      <a:r>
                        <a:rPr lang="en-US" sz="1000"/>
                        <a:t>DKI Jakarta</a:t>
                      </a:r>
                    </a:p>
                  </a:txBody>
                  <a:tcPr anchor="ctr"/>
                </a:tc>
                <a:tc>
                  <a:txBody>
                    <a:bodyPr/>
                    <a:lstStyle/>
                    <a:p>
                      <a:r>
                        <a:rPr lang="en-US" sz="1000" dirty="0"/>
                        <a:t>4000</a:t>
                      </a:r>
                    </a:p>
                  </a:txBody>
                  <a:tcPr anchor="ctr"/>
                </a:tc>
                <a:extLst>
                  <a:ext uri="{0D108BD9-81ED-4DB2-BD59-A6C34878D82A}">
                    <a16:rowId xmlns:a16="http://schemas.microsoft.com/office/drawing/2014/main" val="823575932"/>
                  </a:ext>
                </a:extLst>
              </a:tr>
              <a:tr h="246419">
                <a:tc>
                  <a:txBody>
                    <a:bodyPr/>
                    <a:lstStyle/>
                    <a:p>
                      <a:r>
                        <a:rPr lang="en-US" sz="1000"/>
                        <a:t>Jawa Timur</a:t>
                      </a:r>
                    </a:p>
                  </a:txBody>
                  <a:tcPr anchor="ctr"/>
                </a:tc>
                <a:tc>
                  <a:txBody>
                    <a:bodyPr/>
                    <a:lstStyle/>
                    <a:p>
                      <a:r>
                        <a:rPr lang="en-US" sz="1000"/>
                        <a:t>3000</a:t>
                      </a:r>
                    </a:p>
                  </a:txBody>
                  <a:tcPr anchor="ctr"/>
                </a:tc>
                <a:extLst>
                  <a:ext uri="{0D108BD9-81ED-4DB2-BD59-A6C34878D82A}">
                    <a16:rowId xmlns:a16="http://schemas.microsoft.com/office/drawing/2014/main" val="1934943279"/>
                  </a:ext>
                </a:extLst>
              </a:tr>
              <a:tr h="246419">
                <a:tc>
                  <a:txBody>
                    <a:bodyPr/>
                    <a:lstStyle/>
                    <a:p>
                      <a:r>
                        <a:rPr lang="en-US" sz="1000"/>
                        <a:t>Jawa Tengah</a:t>
                      </a:r>
                    </a:p>
                  </a:txBody>
                  <a:tcPr anchor="ctr"/>
                </a:tc>
                <a:tc>
                  <a:txBody>
                    <a:bodyPr/>
                    <a:lstStyle/>
                    <a:p>
                      <a:r>
                        <a:rPr lang="en-US" sz="1000"/>
                        <a:t>2000</a:t>
                      </a:r>
                    </a:p>
                  </a:txBody>
                  <a:tcPr anchor="ctr"/>
                </a:tc>
                <a:extLst>
                  <a:ext uri="{0D108BD9-81ED-4DB2-BD59-A6C34878D82A}">
                    <a16:rowId xmlns:a16="http://schemas.microsoft.com/office/drawing/2014/main" val="1626491950"/>
                  </a:ext>
                </a:extLst>
              </a:tr>
              <a:tr h="246419">
                <a:tc>
                  <a:txBody>
                    <a:bodyPr/>
                    <a:lstStyle/>
                    <a:p>
                      <a:r>
                        <a:rPr lang="en-US" sz="1000"/>
                        <a:t>Sumatera Utara</a:t>
                      </a:r>
                    </a:p>
                  </a:txBody>
                  <a:tcPr anchor="ctr"/>
                </a:tc>
                <a:tc>
                  <a:txBody>
                    <a:bodyPr/>
                    <a:lstStyle/>
                    <a:p>
                      <a:r>
                        <a:rPr lang="en-US" sz="1000"/>
                        <a:t>1500</a:t>
                      </a:r>
                    </a:p>
                  </a:txBody>
                  <a:tcPr anchor="ctr"/>
                </a:tc>
                <a:extLst>
                  <a:ext uri="{0D108BD9-81ED-4DB2-BD59-A6C34878D82A}">
                    <a16:rowId xmlns:a16="http://schemas.microsoft.com/office/drawing/2014/main" val="154765439"/>
                  </a:ext>
                </a:extLst>
              </a:tr>
              <a:tr h="246419">
                <a:tc>
                  <a:txBody>
                    <a:bodyPr/>
                    <a:lstStyle/>
                    <a:p>
                      <a:r>
                        <a:rPr lang="en-US" sz="1000"/>
                        <a:t>Bali</a:t>
                      </a:r>
                    </a:p>
                  </a:txBody>
                  <a:tcPr anchor="ctr"/>
                </a:tc>
                <a:tc>
                  <a:txBody>
                    <a:bodyPr/>
                    <a:lstStyle/>
                    <a:p>
                      <a:r>
                        <a:rPr lang="en-US" sz="1000"/>
                        <a:t>1200</a:t>
                      </a:r>
                    </a:p>
                  </a:txBody>
                  <a:tcPr anchor="ctr"/>
                </a:tc>
                <a:extLst>
                  <a:ext uri="{0D108BD9-81ED-4DB2-BD59-A6C34878D82A}">
                    <a16:rowId xmlns:a16="http://schemas.microsoft.com/office/drawing/2014/main" val="1464940413"/>
                  </a:ext>
                </a:extLst>
              </a:tr>
              <a:tr h="246419">
                <a:tc>
                  <a:txBody>
                    <a:bodyPr/>
                    <a:lstStyle/>
                    <a:p>
                      <a:r>
                        <a:rPr lang="en-US" sz="1000"/>
                        <a:t>Kalimantan Timur</a:t>
                      </a:r>
                    </a:p>
                  </a:txBody>
                  <a:tcPr anchor="ctr"/>
                </a:tc>
                <a:tc>
                  <a:txBody>
                    <a:bodyPr/>
                    <a:lstStyle/>
                    <a:p>
                      <a:r>
                        <a:rPr lang="en-US" sz="1000"/>
                        <a:t>1000</a:t>
                      </a:r>
                    </a:p>
                  </a:txBody>
                  <a:tcPr anchor="ctr"/>
                </a:tc>
                <a:extLst>
                  <a:ext uri="{0D108BD9-81ED-4DB2-BD59-A6C34878D82A}">
                    <a16:rowId xmlns:a16="http://schemas.microsoft.com/office/drawing/2014/main" val="2592927316"/>
                  </a:ext>
                </a:extLst>
              </a:tr>
              <a:tr h="246419">
                <a:tc>
                  <a:txBody>
                    <a:bodyPr/>
                    <a:lstStyle/>
                    <a:p>
                      <a:r>
                        <a:rPr lang="en-US" sz="1000"/>
                        <a:t>Sulawesi Selatan</a:t>
                      </a:r>
                    </a:p>
                  </a:txBody>
                  <a:tcPr anchor="ctr"/>
                </a:tc>
                <a:tc>
                  <a:txBody>
                    <a:bodyPr/>
                    <a:lstStyle/>
                    <a:p>
                      <a:r>
                        <a:rPr lang="en-US" sz="1000"/>
                        <a:t>900</a:t>
                      </a:r>
                    </a:p>
                  </a:txBody>
                  <a:tcPr anchor="ctr"/>
                </a:tc>
                <a:extLst>
                  <a:ext uri="{0D108BD9-81ED-4DB2-BD59-A6C34878D82A}">
                    <a16:rowId xmlns:a16="http://schemas.microsoft.com/office/drawing/2014/main" val="2861928017"/>
                  </a:ext>
                </a:extLst>
              </a:tr>
              <a:tr h="246419">
                <a:tc>
                  <a:txBody>
                    <a:bodyPr/>
                    <a:lstStyle/>
                    <a:p>
                      <a:r>
                        <a:rPr lang="en-US" sz="1000"/>
                        <a:t>Riau</a:t>
                      </a:r>
                    </a:p>
                  </a:txBody>
                  <a:tcPr anchor="ctr"/>
                </a:tc>
                <a:tc>
                  <a:txBody>
                    <a:bodyPr/>
                    <a:lstStyle/>
                    <a:p>
                      <a:r>
                        <a:rPr lang="en-US" sz="1000"/>
                        <a:t>800</a:t>
                      </a:r>
                    </a:p>
                  </a:txBody>
                  <a:tcPr anchor="ctr"/>
                </a:tc>
                <a:extLst>
                  <a:ext uri="{0D108BD9-81ED-4DB2-BD59-A6C34878D82A}">
                    <a16:rowId xmlns:a16="http://schemas.microsoft.com/office/drawing/2014/main" val="3328298327"/>
                  </a:ext>
                </a:extLst>
              </a:tr>
              <a:tr h="246419">
                <a:tc>
                  <a:txBody>
                    <a:bodyPr/>
                    <a:lstStyle/>
                    <a:p>
                      <a:r>
                        <a:rPr lang="en-US" sz="1000" dirty="0"/>
                        <a:t>Lampung</a:t>
                      </a:r>
                    </a:p>
                  </a:txBody>
                  <a:tcPr anchor="ctr"/>
                </a:tc>
                <a:tc>
                  <a:txBody>
                    <a:bodyPr/>
                    <a:lstStyle/>
                    <a:p>
                      <a:r>
                        <a:rPr lang="en-US" sz="1000" dirty="0"/>
                        <a:t>700</a:t>
                      </a:r>
                    </a:p>
                  </a:txBody>
                  <a:tcPr anchor="ctr"/>
                </a:tc>
                <a:extLst>
                  <a:ext uri="{0D108BD9-81ED-4DB2-BD59-A6C34878D82A}">
                    <a16:rowId xmlns:a16="http://schemas.microsoft.com/office/drawing/2014/main" val="4260610496"/>
                  </a:ext>
                </a:extLst>
              </a:tr>
            </a:tbl>
          </a:graphicData>
        </a:graphic>
      </p:graphicFrame>
    </p:spTree>
    <p:extLst>
      <p:ext uri="{BB962C8B-B14F-4D97-AF65-F5344CB8AC3E}">
        <p14:creationId xmlns:p14="http://schemas.microsoft.com/office/powerpoint/2010/main" val="42089538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g23ec2985a68_1_56"/>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43" name="Google Shape;143;g23ec2985a68_1_56"/>
          <p:cNvPicPr preferRelativeResize="0"/>
          <p:nvPr/>
        </p:nvPicPr>
        <p:blipFill rotWithShape="1">
          <a:blip r:embed="rId4">
            <a:alphaModFix/>
          </a:blip>
          <a:srcRect t="5658" b="5649"/>
          <a:stretch/>
        </p:blipFill>
        <p:spPr>
          <a:xfrm>
            <a:off x="7317601" y="185624"/>
            <a:ext cx="1399902" cy="541300"/>
          </a:xfrm>
          <a:prstGeom prst="rect">
            <a:avLst/>
          </a:prstGeom>
          <a:noFill/>
          <a:ln>
            <a:noFill/>
          </a:ln>
        </p:spPr>
      </p:pic>
      <p:sp>
        <p:nvSpPr>
          <p:cNvPr id="144" name="Google Shape;144;g23ec2985a68_1_56"/>
          <p:cNvSpPr txBox="1"/>
          <p:nvPr/>
        </p:nvSpPr>
        <p:spPr>
          <a:xfrm>
            <a:off x="340501" y="452037"/>
            <a:ext cx="8463000" cy="600300"/>
          </a:xfrm>
          <a:prstGeom prst="rect">
            <a:avLst/>
          </a:prstGeom>
          <a:noFill/>
          <a:ln>
            <a:noFill/>
          </a:ln>
          <a:effectLst>
            <a:outerShdw blurRad="57150" dist="19050" dir="2820000" algn="bl" rotWithShape="0">
              <a:srgbClr val="B7B7B7">
                <a:alpha val="8549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4"/>
            </a:pPr>
            <a:r>
              <a:rPr lang="en" sz="2700" b="1">
                <a:latin typeface="Rubik"/>
                <a:ea typeface="Rubik"/>
                <a:cs typeface="Rubik"/>
                <a:sym typeface="Rubik"/>
              </a:rPr>
              <a:t>Dashboard  Performance Analytics</a:t>
            </a:r>
            <a:endParaRPr sz="2700" b="1" i="0" u="none" strike="noStrike" cap="none">
              <a:solidFill>
                <a:srgbClr val="000000"/>
              </a:solidFill>
              <a:latin typeface="Rubik"/>
              <a:ea typeface="Rubik"/>
              <a:cs typeface="Rubik"/>
              <a:sym typeface="Rubik"/>
            </a:endParaRPr>
          </a:p>
        </p:txBody>
      </p:sp>
      <p:sp>
        <p:nvSpPr>
          <p:cNvPr id="6" name="TextBox 5">
            <a:extLst>
              <a:ext uri="{FF2B5EF4-FFF2-40B4-BE49-F238E27FC236}">
                <a16:creationId xmlns:a16="http://schemas.microsoft.com/office/drawing/2014/main" id="{668085D5-6420-4D08-85DE-A9D2D7D42C0E}"/>
              </a:ext>
            </a:extLst>
          </p:cNvPr>
          <p:cNvSpPr txBox="1"/>
          <p:nvPr/>
        </p:nvSpPr>
        <p:spPr>
          <a:xfrm>
            <a:off x="426980" y="1239925"/>
            <a:ext cx="5284607" cy="523220"/>
          </a:xfrm>
          <a:prstGeom prst="rect">
            <a:avLst/>
          </a:prstGeom>
          <a:noFill/>
        </p:spPr>
        <p:txBody>
          <a:bodyPr wrap="square">
            <a:spAutoFit/>
          </a:bodyPr>
          <a:lstStyle/>
          <a:p>
            <a:pPr marL="285750" indent="-285750">
              <a:buFont typeface="Arial" panose="020B0604020202020204" pitchFamily="34" charset="0"/>
              <a:buChar char="•"/>
            </a:pPr>
            <a:r>
              <a:rPr lang="en" sz="1400" dirty="0">
                <a:solidFill>
                  <a:schemeClr val="dk1"/>
                </a:solidFill>
                <a:latin typeface="Rubik"/>
                <a:ea typeface="Rubik"/>
                <a:cs typeface="Rubik"/>
                <a:sym typeface="Rubik"/>
              </a:rPr>
              <a:t>SQL Query For </a:t>
            </a:r>
          </a:p>
          <a:p>
            <a:r>
              <a:rPr lang="en-US" sz="1400" dirty="0">
                <a:solidFill>
                  <a:schemeClr val="dk1"/>
                </a:solidFill>
                <a:latin typeface="Rubik"/>
                <a:ea typeface="Rubik"/>
                <a:cs typeface="Rubik"/>
                <a:sym typeface="Rubik"/>
              </a:rPr>
              <a:t>      Top 10 Net Sales by Province</a:t>
            </a:r>
            <a:endParaRPr lang="en-US" dirty="0"/>
          </a:p>
        </p:txBody>
      </p:sp>
      <p:graphicFrame>
        <p:nvGraphicFramePr>
          <p:cNvPr id="2" name="Table 2">
            <a:extLst>
              <a:ext uri="{FF2B5EF4-FFF2-40B4-BE49-F238E27FC236}">
                <a16:creationId xmlns:a16="http://schemas.microsoft.com/office/drawing/2014/main" id="{8FBAE353-8627-464C-9732-366296296264}"/>
              </a:ext>
            </a:extLst>
          </p:cNvPr>
          <p:cNvGraphicFramePr>
            <a:graphicFrameLocks noGrp="1"/>
          </p:cNvGraphicFramePr>
          <p:nvPr>
            <p:extLst>
              <p:ext uri="{D42A27DB-BD31-4B8C-83A1-F6EECF244321}">
                <p14:modId xmlns:p14="http://schemas.microsoft.com/office/powerpoint/2010/main" val="895178643"/>
              </p:ext>
            </p:extLst>
          </p:nvPr>
        </p:nvGraphicFramePr>
        <p:xfrm>
          <a:off x="548185" y="2163394"/>
          <a:ext cx="3932181" cy="1158240"/>
        </p:xfrm>
        <a:graphic>
          <a:graphicData uri="http://schemas.openxmlformats.org/drawingml/2006/table">
            <a:tbl>
              <a:tblPr firstRow="1" bandRow="1">
                <a:tableStyleId>{5C22544A-7EE6-4342-B048-85BDC9FD1C3A}</a:tableStyleId>
              </a:tblPr>
              <a:tblGrid>
                <a:gridCol w="3932181">
                  <a:extLst>
                    <a:ext uri="{9D8B030D-6E8A-4147-A177-3AD203B41FA5}">
                      <a16:colId xmlns:a16="http://schemas.microsoft.com/office/drawing/2014/main" val="170103559"/>
                    </a:ext>
                  </a:extLst>
                </a:gridCol>
              </a:tblGrid>
              <a:tr h="0">
                <a:tc>
                  <a:txBody>
                    <a:bodyPr/>
                    <a:lstStyle/>
                    <a:p>
                      <a:r>
                        <a:rPr lang="en-US" sz="1000" dirty="0">
                          <a:solidFill>
                            <a:schemeClr val="tx1"/>
                          </a:solidFill>
                        </a:rPr>
                        <a:t>SELECT     </a:t>
                      </a:r>
                    </a:p>
                    <a:p>
                      <a:r>
                        <a:rPr lang="en-US" sz="1000" dirty="0">
                          <a:solidFill>
                            <a:schemeClr val="tx1"/>
                          </a:solidFill>
                        </a:rPr>
                        <a:t>          </a:t>
                      </a:r>
                      <a:r>
                        <a:rPr lang="en-US" sz="1000" dirty="0" err="1">
                          <a:solidFill>
                            <a:schemeClr val="tx1"/>
                          </a:solidFill>
                        </a:rPr>
                        <a:t>provinsi</a:t>
                      </a:r>
                      <a:r>
                        <a:rPr lang="en-US" sz="1000" dirty="0">
                          <a:solidFill>
                            <a:schemeClr val="tx1"/>
                          </a:solidFill>
                        </a:rPr>
                        <a:t>,    </a:t>
                      </a:r>
                    </a:p>
                    <a:p>
                      <a:r>
                        <a:rPr lang="en-US" sz="1000" dirty="0">
                          <a:solidFill>
                            <a:schemeClr val="tx1"/>
                          </a:solidFill>
                        </a:rPr>
                        <a:t>          SUM(</a:t>
                      </a:r>
                      <a:r>
                        <a:rPr lang="en-US" sz="1000" dirty="0" err="1">
                          <a:solidFill>
                            <a:schemeClr val="tx1"/>
                          </a:solidFill>
                        </a:rPr>
                        <a:t>nett_sales</a:t>
                      </a:r>
                      <a:r>
                        <a:rPr lang="en-US" sz="1000" dirty="0">
                          <a:solidFill>
                            <a:schemeClr val="tx1"/>
                          </a:solidFill>
                        </a:rPr>
                        <a:t>) AS </a:t>
                      </a:r>
                      <a:r>
                        <a:rPr lang="en-US" sz="1000" dirty="0" err="1">
                          <a:solidFill>
                            <a:schemeClr val="tx1"/>
                          </a:solidFill>
                        </a:rPr>
                        <a:t>total_nett_sales</a:t>
                      </a:r>
                      <a:endParaRPr lang="en-US" sz="1000" dirty="0">
                        <a:solidFill>
                          <a:schemeClr val="tx1"/>
                        </a:solidFill>
                      </a:endParaRPr>
                    </a:p>
                    <a:p>
                      <a:r>
                        <a:rPr lang="en-US" sz="1000" dirty="0">
                          <a:solidFill>
                            <a:schemeClr val="tx1"/>
                          </a:solidFill>
                        </a:rPr>
                        <a:t>FROM `</a:t>
                      </a:r>
                      <a:r>
                        <a:rPr lang="en-US" sz="1000" dirty="0" err="1">
                          <a:solidFill>
                            <a:schemeClr val="tx1"/>
                          </a:solidFill>
                        </a:rPr>
                        <a:t>Rakamin_KF_Analytics.kimia_farma.analisa</a:t>
                      </a:r>
                      <a:r>
                        <a:rPr lang="en-US" sz="1000" dirty="0">
                          <a:solidFill>
                            <a:schemeClr val="tx1"/>
                          </a:solidFill>
                        </a:rPr>
                        <a:t>`</a:t>
                      </a:r>
                    </a:p>
                    <a:p>
                      <a:r>
                        <a:rPr lang="en-US" sz="1000" dirty="0">
                          <a:solidFill>
                            <a:schemeClr val="tx1"/>
                          </a:solidFill>
                        </a:rPr>
                        <a:t>GROUP BY </a:t>
                      </a:r>
                      <a:r>
                        <a:rPr lang="en-US" sz="1000" dirty="0" err="1">
                          <a:solidFill>
                            <a:schemeClr val="tx1"/>
                          </a:solidFill>
                        </a:rPr>
                        <a:t>provinsi</a:t>
                      </a:r>
                      <a:endParaRPr lang="en-US" sz="1000" dirty="0">
                        <a:solidFill>
                          <a:schemeClr val="tx1"/>
                        </a:solidFill>
                      </a:endParaRPr>
                    </a:p>
                    <a:p>
                      <a:r>
                        <a:rPr lang="en-US" sz="1000" dirty="0">
                          <a:solidFill>
                            <a:schemeClr val="tx1"/>
                          </a:solidFill>
                        </a:rPr>
                        <a:t>ORDER BY </a:t>
                      </a:r>
                      <a:r>
                        <a:rPr lang="en-US" sz="1000" dirty="0" err="1">
                          <a:solidFill>
                            <a:schemeClr val="tx1"/>
                          </a:solidFill>
                        </a:rPr>
                        <a:t>total_nett_sales</a:t>
                      </a:r>
                      <a:r>
                        <a:rPr lang="en-US" sz="1000" dirty="0">
                          <a:solidFill>
                            <a:schemeClr val="tx1"/>
                          </a:solidFill>
                        </a:rPr>
                        <a:t> DESC</a:t>
                      </a:r>
                    </a:p>
                    <a:p>
                      <a:r>
                        <a:rPr lang="en-US" sz="1000" dirty="0">
                          <a:solidFill>
                            <a:schemeClr val="tx1"/>
                          </a:solidFill>
                        </a:rPr>
                        <a:t>LIMIT 10;</a:t>
                      </a:r>
                    </a:p>
                  </a:txBody>
                  <a:tcPr>
                    <a:solidFill>
                      <a:schemeClr val="bg1"/>
                    </a:solidFill>
                  </a:tcPr>
                </a:tc>
                <a:extLst>
                  <a:ext uri="{0D108BD9-81ED-4DB2-BD59-A6C34878D82A}">
                    <a16:rowId xmlns:a16="http://schemas.microsoft.com/office/drawing/2014/main" val="3178956191"/>
                  </a:ext>
                </a:extLst>
              </a:tr>
            </a:tbl>
          </a:graphicData>
        </a:graphic>
      </p:graphicFrame>
      <p:sp>
        <p:nvSpPr>
          <p:cNvPr id="10" name="TextBox 9">
            <a:extLst>
              <a:ext uri="{FF2B5EF4-FFF2-40B4-BE49-F238E27FC236}">
                <a16:creationId xmlns:a16="http://schemas.microsoft.com/office/drawing/2014/main" id="{93957C6E-2988-4F7D-B0DB-23126BC91BBF}"/>
              </a:ext>
            </a:extLst>
          </p:cNvPr>
          <p:cNvSpPr txBox="1"/>
          <p:nvPr/>
        </p:nvSpPr>
        <p:spPr>
          <a:xfrm>
            <a:off x="5256665" y="1160662"/>
            <a:ext cx="4572000" cy="307777"/>
          </a:xfrm>
          <a:prstGeom prst="rect">
            <a:avLst/>
          </a:prstGeom>
          <a:noFill/>
        </p:spPr>
        <p:txBody>
          <a:bodyPr wrap="square">
            <a:spAutoFit/>
          </a:bodyPr>
          <a:lstStyle/>
          <a:p>
            <a:pPr marL="285750" indent="-285750">
              <a:buFont typeface="Arial" panose="020B0604020202020204" pitchFamily="34" charset="0"/>
              <a:buChar char="•"/>
            </a:pPr>
            <a:r>
              <a:rPr lang="en" sz="1400" dirty="0">
                <a:solidFill>
                  <a:schemeClr val="dk1"/>
                </a:solidFill>
                <a:latin typeface="Rubik"/>
                <a:ea typeface="Rubik"/>
                <a:cs typeface="Rubik"/>
                <a:sym typeface="Rubik"/>
              </a:rPr>
              <a:t>Result</a:t>
            </a:r>
            <a:endParaRPr lang="en-US" dirty="0"/>
          </a:p>
        </p:txBody>
      </p:sp>
      <p:graphicFrame>
        <p:nvGraphicFramePr>
          <p:cNvPr id="5" name="Table 6">
            <a:extLst>
              <a:ext uri="{FF2B5EF4-FFF2-40B4-BE49-F238E27FC236}">
                <a16:creationId xmlns:a16="http://schemas.microsoft.com/office/drawing/2014/main" id="{005F943C-54E0-4F95-A532-FBB8C6684CBB}"/>
              </a:ext>
            </a:extLst>
          </p:cNvPr>
          <p:cNvGraphicFramePr>
            <a:graphicFrameLocks noGrp="1"/>
          </p:cNvGraphicFramePr>
          <p:nvPr>
            <p:extLst>
              <p:ext uri="{D42A27DB-BD31-4B8C-83A1-F6EECF244321}">
                <p14:modId xmlns:p14="http://schemas.microsoft.com/office/powerpoint/2010/main" val="3674714870"/>
              </p:ext>
            </p:extLst>
          </p:nvPr>
        </p:nvGraphicFramePr>
        <p:xfrm>
          <a:off x="5356745" y="1576764"/>
          <a:ext cx="3048000" cy="2710609"/>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4111977262"/>
                    </a:ext>
                  </a:extLst>
                </a:gridCol>
                <a:gridCol w="1524000">
                  <a:extLst>
                    <a:ext uri="{9D8B030D-6E8A-4147-A177-3AD203B41FA5}">
                      <a16:colId xmlns:a16="http://schemas.microsoft.com/office/drawing/2014/main" val="522032153"/>
                    </a:ext>
                  </a:extLst>
                </a:gridCol>
              </a:tblGrid>
              <a:tr h="246419">
                <a:tc>
                  <a:txBody>
                    <a:bodyPr/>
                    <a:lstStyle/>
                    <a:p>
                      <a:pPr rtl="0"/>
                      <a:r>
                        <a:rPr lang="en-US" sz="1000" dirty="0" err="1"/>
                        <a:t>provinsi</a:t>
                      </a:r>
                      <a:endParaRPr lang="en-US" sz="1000" dirty="0"/>
                    </a:p>
                  </a:txBody>
                  <a:tcPr anchor="ctr"/>
                </a:tc>
                <a:tc>
                  <a:txBody>
                    <a:bodyPr/>
                    <a:lstStyle/>
                    <a:p>
                      <a:pPr rtl="0"/>
                      <a:r>
                        <a:rPr lang="en-US" sz="1000"/>
                        <a:t>total_nett_sales</a:t>
                      </a:r>
                    </a:p>
                  </a:txBody>
                  <a:tcPr anchor="ctr"/>
                </a:tc>
                <a:extLst>
                  <a:ext uri="{0D108BD9-81ED-4DB2-BD59-A6C34878D82A}">
                    <a16:rowId xmlns:a16="http://schemas.microsoft.com/office/drawing/2014/main" val="1275348469"/>
                  </a:ext>
                </a:extLst>
              </a:tr>
              <a:tr h="246419">
                <a:tc>
                  <a:txBody>
                    <a:bodyPr/>
                    <a:lstStyle/>
                    <a:p>
                      <a:pPr rtl="0"/>
                      <a:r>
                        <a:rPr lang="en-US" sz="1000"/>
                        <a:t>DKI Jakarta</a:t>
                      </a:r>
                    </a:p>
                  </a:txBody>
                  <a:tcPr anchor="ctr"/>
                </a:tc>
                <a:tc>
                  <a:txBody>
                    <a:bodyPr/>
                    <a:lstStyle/>
                    <a:p>
                      <a:r>
                        <a:rPr lang="en-US" sz="1000"/>
                        <a:t>2,000,000,000</a:t>
                      </a:r>
                    </a:p>
                  </a:txBody>
                  <a:tcPr anchor="ctr"/>
                </a:tc>
                <a:extLst>
                  <a:ext uri="{0D108BD9-81ED-4DB2-BD59-A6C34878D82A}">
                    <a16:rowId xmlns:a16="http://schemas.microsoft.com/office/drawing/2014/main" val="507104245"/>
                  </a:ext>
                </a:extLst>
              </a:tr>
              <a:tr h="246419">
                <a:tc>
                  <a:txBody>
                    <a:bodyPr/>
                    <a:lstStyle/>
                    <a:p>
                      <a:pPr rtl="0"/>
                      <a:r>
                        <a:rPr lang="en-US" sz="1000"/>
                        <a:t>Jawa Barat</a:t>
                      </a:r>
                    </a:p>
                  </a:txBody>
                  <a:tcPr anchor="ctr"/>
                </a:tc>
                <a:tc>
                  <a:txBody>
                    <a:bodyPr/>
                    <a:lstStyle/>
                    <a:p>
                      <a:r>
                        <a:rPr lang="en-US" sz="1000"/>
                        <a:t>1,800,000,000</a:t>
                      </a:r>
                    </a:p>
                  </a:txBody>
                  <a:tcPr anchor="ctr"/>
                </a:tc>
                <a:extLst>
                  <a:ext uri="{0D108BD9-81ED-4DB2-BD59-A6C34878D82A}">
                    <a16:rowId xmlns:a16="http://schemas.microsoft.com/office/drawing/2014/main" val="823575932"/>
                  </a:ext>
                </a:extLst>
              </a:tr>
              <a:tr h="246419">
                <a:tc>
                  <a:txBody>
                    <a:bodyPr/>
                    <a:lstStyle/>
                    <a:p>
                      <a:pPr rtl="0"/>
                      <a:r>
                        <a:rPr lang="en-US" sz="1000"/>
                        <a:t>Jawa Timur</a:t>
                      </a:r>
                    </a:p>
                  </a:txBody>
                  <a:tcPr anchor="ctr"/>
                </a:tc>
                <a:tc>
                  <a:txBody>
                    <a:bodyPr/>
                    <a:lstStyle/>
                    <a:p>
                      <a:r>
                        <a:rPr lang="en-US" sz="1000"/>
                        <a:t>1,500,000,000</a:t>
                      </a:r>
                    </a:p>
                  </a:txBody>
                  <a:tcPr anchor="ctr"/>
                </a:tc>
                <a:extLst>
                  <a:ext uri="{0D108BD9-81ED-4DB2-BD59-A6C34878D82A}">
                    <a16:rowId xmlns:a16="http://schemas.microsoft.com/office/drawing/2014/main" val="1934943279"/>
                  </a:ext>
                </a:extLst>
              </a:tr>
              <a:tr h="246419">
                <a:tc>
                  <a:txBody>
                    <a:bodyPr/>
                    <a:lstStyle/>
                    <a:p>
                      <a:pPr rtl="0"/>
                      <a:r>
                        <a:rPr lang="en-US" sz="1000"/>
                        <a:t>Jawa Tengah</a:t>
                      </a:r>
                    </a:p>
                  </a:txBody>
                  <a:tcPr anchor="ctr"/>
                </a:tc>
                <a:tc>
                  <a:txBody>
                    <a:bodyPr/>
                    <a:lstStyle/>
                    <a:p>
                      <a:r>
                        <a:rPr lang="en-US" sz="1000"/>
                        <a:t>1,200,000,000</a:t>
                      </a:r>
                    </a:p>
                  </a:txBody>
                  <a:tcPr anchor="ctr"/>
                </a:tc>
                <a:extLst>
                  <a:ext uri="{0D108BD9-81ED-4DB2-BD59-A6C34878D82A}">
                    <a16:rowId xmlns:a16="http://schemas.microsoft.com/office/drawing/2014/main" val="1626491950"/>
                  </a:ext>
                </a:extLst>
              </a:tr>
              <a:tr h="246419">
                <a:tc>
                  <a:txBody>
                    <a:bodyPr/>
                    <a:lstStyle/>
                    <a:p>
                      <a:pPr rtl="0"/>
                      <a:r>
                        <a:rPr lang="en-US" sz="1000"/>
                        <a:t>Sumatera Utara</a:t>
                      </a:r>
                    </a:p>
                  </a:txBody>
                  <a:tcPr anchor="ctr"/>
                </a:tc>
                <a:tc>
                  <a:txBody>
                    <a:bodyPr/>
                    <a:lstStyle/>
                    <a:p>
                      <a:r>
                        <a:rPr lang="en-US" sz="1000"/>
                        <a:t>900,000,000</a:t>
                      </a:r>
                    </a:p>
                  </a:txBody>
                  <a:tcPr anchor="ctr"/>
                </a:tc>
                <a:extLst>
                  <a:ext uri="{0D108BD9-81ED-4DB2-BD59-A6C34878D82A}">
                    <a16:rowId xmlns:a16="http://schemas.microsoft.com/office/drawing/2014/main" val="154765439"/>
                  </a:ext>
                </a:extLst>
              </a:tr>
              <a:tr h="246419">
                <a:tc>
                  <a:txBody>
                    <a:bodyPr/>
                    <a:lstStyle/>
                    <a:p>
                      <a:pPr rtl="0"/>
                      <a:r>
                        <a:rPr lang="en-US" sz="1000"/>
                        <a:t>Bali</a:t>
                      </a:r>
                    </a:p>
                  </a:txBody>
                  <a:tcPr anchor="ctr"/>
                </a:tc>
                <a:tc>
                  <a:txBody>
                    <a:bodyPr/>
                    <a:lstStyle/>
                    <a:p>
                      <a:r>
                        <a:rPr lang="en-US" sz="1000"/>
                        <a:t>700,000,000</a:t>
                      </a:r>
                    </a:p>
                  </a:txBody>
                  <a:tcPr anchor="ctr"/>
                </a:tc>
                <a:extLst>
                  <a:ext uri="{0D108BD9-81ED-4DB2-BD59-A6C34878D82A}">
                    <a16:rowId xmlns:a16="http://schemas.microsoft.com/office/drawing/2014/main" val="1464940413"/>
                  </a:ext>
                </a:extLst>
              </a:tr>
              <a:tr h="246419">
                <a:tc>
                  <a:txBody>
                    <a:bodyPr/>
                    <a:lstStyle/>
                    <a:p>
                      <a:pPr rtl="0"/>
                      <a:r>
                        <a:rPr lang="en-US" sz="1000"/>
                        <a:t>Kalimantan Timur</a:t>
                      </a:r>
                    </a:p>
                  </a:txBody>
                  <a:tcPr anchor="ctr"/>
                </a:tc>
                <a:tc>
                  <a:txBody>
                    <a:bodyPr/>
                    <a:lstStyle/>
                    <a:p>
                      <a:r>
                        <a:rPr lang="en-US" sz="1000"/>
                        <a:t>600,000,000</a:t>
                      </a:r>
                    </a:p>
                  </a:txBody>
                  <a:tcPr anchor="ctr"/>
                </a:tc>
                <a:extLst>
                  <a:ext uri="{0D108BD9-81ED-4DB2-BD59-A6C34878D82A}">
                    <a16:rowId xmlns:a16="http://schemas.microsoft.com/office/drawing/2014/main" val="2592927316"/>
                  </a:ext>
                </a:extLst>
              </a:tr>
              <a:tr h="246419">
                <a:tc>
                  <a:txBody>
                    <a:bodyPr/>
                    <a:lstStyle/>
                    <a:p>
                      <a:pPr rtl="0"/>
                      <a:r>
                        <a:rPr lang="en-US" sz="1000"/>
                        <a:t>Sulawesi Selatan</a:t>
                      </a:r>
                    </a:p>
                  </a:txBody>
                  <a:tcPr anchor="ctr"/>
                </a:tc>
                <a:tc>
                  <a:txBody>
                    <a:bodyPr/>
                    <a:lstStyle/>
                    <a:p>
                      <a:r>
                        <a:rPr lang="en-US" sz="1000"/>
                        <a:t>500,000,000</a:t>
                      </a:r>
                    </a:p>
                  </a:txBody>
                  <a:tcPr anchor="ctr"/>
                </a:tc>
                <a:extLst>
                  <a:ext uri="{0D108BD9-81ED-4DB2-BD59-A6C34878D82A}">
                    <a16:rowId xmlns:a16="http://schemas.microsoft.com/office/drawing/2014/main" val="2861928017"/>
                  </a:ext>
                </a:extLst>
              </a:tr>
              <a:tr h="246419">
                <a:tc>
                  <a:txBody>
                    <a:bodyPr/>
                    <a:lstStyle/>
                    <a:p>
                      <a:pPr rtl="0"/>
                      <a:r>
                        <a:rPr lang="en-US" sz="1000"/>
                        <a:t>Riau</a:t>
                      </a:r>
                    </a:p>
                  </a:txBody>
                  <a:tcPr anchor="ctr"/>
                </a:tc>
                <a:tc>
                  <a:txBody>
                    <a:bodyPr/>
                    <a:lstStyle/>
                    <a:p>
                      <a:r>
                        <a:rPr lang="en-US" sz="1000"/>
                        <a:t>400,000,000</a:t>
                      </a:r>
                    </a:p>
                  </a:txBody>
                  <a:tcPr anchor="ctr"/>
                </a:tc>
                <a:extLst>
                  <a:ext uri="{0D108BD9-81ED-4DB2-BD59-A6C34878D82A}">
                    <a16:rowId xmlns:a16="http://schemas.microsoft.com/office/drawing/2014/main" val="3328298327"/>
                  </a:ext>
                </a:extLst>
              </a:tr>
              <a:tr h="246419">
                <a:tc>
                  <a:txBody>
                    <a:bodyPr/>
                    <a:lstStyle/>
                    <a:p>
                      <a:pPr rtl="0"/>
                      <a:r>
                        <a:rPr lang="en-US" sz="1000"/>
                        <a:t>Lampung</a:t>
                      </a:r>
                    </a:p>
                  </a:txBody>
                  <a:tcPr anchor="ctr"/>
                </a:tc>
                <a:tc>
                  <a:txBody>
                    <a:bodyPr/>
                    <a:lstStyle/>
                    <a:p>
                      <a:r>
                        <a:rPr lang="en-US" sz="1000" dirty="0"/>
                        <a:t>300,000,000</a:t>
                      </a:r>
                    </a:p>
                  </a:txBody>
                  <a:tcPr anchor="ctr"/>
                </a:tc>
                <a:extLst>
                  <a:ext uri="{0D108BD9-81ED-4DB2-BD59-A6C34878D82A}">
                    <a16:rowId xmlns:a16="http://schemas.microsoft.com/office/drawing/2014/main" val="4260610496"/>
                  </a:ext>
                </a:extLst>
              </a:tr>
            </a:tbl>
          </a:graphicData>
        </a:graphic>
      </p:graphicFrame>
    </p:spTree>
    <p:extLst>
      <p:ext uri="{BB962C8B-B14F-4D97-AF65-F5344CB8AC3E}">
        <p14:creationId xmlns:p14="http://schemas.microsoft.com/office/powerpoint/2010/main" val="41659996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g23ec2985a68_1_56"/>
          <p:cNvPicPr preferRelativeResize="0"/>
          <p:nvPr/>
        </p:nvPicPr>
        <p:blipFill rotWithShape="1">
          <a:blip r:embed="rId3">
            <a:alphaModFix amt="10000"/>
          </a:blip>
          <a:srcRect/>
          <a:stretch/>
        </p:blipFill>
        <p:spPr>
          <a:xfrm>
            <a:off x="-1" y="0"/>
            <a:ext cx="9144001" cy="5143501"/>
          </a:xfrm>
          <a:prstGeom prst="rect">
            <a:avLst/>
          </a:prstGeom>
          <a:noFill/>
          <a:ln>
            <a:noFill/>
          </a:ln>
        </p:spPr>
      </p:pic>
      <p:pic>
        <p:nvPicPr>
          <p:cNvPr id="143" name="Google Shape;143;g23ec2985a68_1_56"/>
          <p:cNvPicPr preferRelativeResize="0"/>
          <p:nvPr/>
        </p:nvPicPr>
        <p:blipFill rotWithShape="1">
          <a:blip r:embed="rId4">
            <a:alphaModFix/>
          </a:blip>
          <a:srcRect t="5658" b="5649"/>
          <a:stretch/>
        </p:blipFill>
        <p:spPr>
          <a:xfrm>
            <a:off x="7317601" y="185624"/>
            <a:ext cx="1399902" cy="541300"/>
          </a:xfrm>
          <a:prstGeom prst="rect">
            <a:avLst/>
          </a:prstGeom>
          <a:noFill/>
          <a:ln>
            <a:noFill/>
          </a:ln>
        </p:spPr>
      </p:pic>
      <p:sp>
        <p:nvSpPr>
          <p:cNvPr id="144" name="Google Shape;144;g23ec2985a68_1_56"/>
          <p:cNvSpPr txBox="1"/>
          <p:nvPr/>
        </p:nvSpPr>
        <p:spPr>
          <a:xfrm>
            <a:off x="340501" y="452037"/>
            <a:ext cx="8463000" cy="600300"/>
          </a:xfrm>
          <a:prstGeom prst="rect">
            <a:avLst/>
          </a:prstGeom>
          <a:noFill/>
          <a:ln>
            <a:noFill/>
          </a:ln>
          <a:effectLst>
            <a:outerShdw blurRad="57150" dist="19050" dir="2820000" algn="bl" rotWithShape="0">
              <a:srgbClr val="B7B7B7">
                <a:alpha val="8549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4"/>
            </a:pPr>
            <a:r>
              <a:rPr lang="en" sz="2700" b="1">
                <a:latin typeface="Rubik"/>
                <a:ea typeface="Rubik"/>
                <a:cs typeface="Rubik"/>
                <a:sym typeface="Rubik"/>
              </a:rPr>
              <a:t>Dashboard  Performance Analytics</a:t>
            </a:r>
            <a:endParaRPr sz="2700" b="1" i="0" u="none" strike="noStrike" cap="none">
              <a:solidFill>
                <a:srgbClr val="000000"/>
              </a:solidFill>
              <a:latin typeface="Rubik"/>
              <a:ea typeface="Rubik"/>
              <a:cs typeface="Rubik"/>
              <a:sym typeface="Rubik"/>
            </a:endParaRPr>
          </a:p>
        </p:txBody>
      </p:sp>
      <p:sp>
        <p:nvSpPr>
          <p:cNvPr id="6" name="TextBox 5">
            <a:extLst>
              <a:ext uri="{FF2B5EF4-FFF2-40B4-BE49-F238E27FC236}">
                <a16:creationId xmlns:a16="http://schemas.microsoft.com/office/drawing/2014/main" id="{668085D5-6420-4D08-85DE-A9D2D7D42C0E}"/>
              </a:ext>
            </a:extLst>
          </p:cNvPr>
          <p:cNvSpPr txBox="1"/>
          <p:nvPr/>
        </p:nvSpPr>
        <p:spPr>
          <a:xfrm>
            <a:off x="426980" y="1239925"/>
            <a:ext cx="5284607" cy="738664"/>
          </a:xfrm>
          <a:prstGeom prst="rect">
            <a:avLst/>
          </a:prstGeom>
          <a:noFill/>
        </p:spPr>
        <p:txBody>
          <a:bodyPr wrap="square">
            <a:spAutoFit/>
          </a:bodyPr>
          <a:lstStyle/>
          <a:p>
            <a:pPr marL="285750" indent="-285750">
              <a:buFont typeface="Arial" panose="020B0604020202020204" pitchFamily="34" charset="0"/>
              <a:buChar char="•"/>
            </a:pPr>
            <a:r>
              <a:rPr lang="en" sz="1400" dirty="0">
                <a:solidFill>
                  <a:schemeClr val="dk1"/>
                </a:solidFill>
                <a:latin typeface="Rubik"/>
                <a:ea typeface="Rubik"/>
                <a:cs typeface="Rubik"/>
                <a:sym typeface="Rubik"/>
              </a:rPr>
              <a:t>SQL Query For </a:t>
            </a:r>
          </a:p>
          <a:p>
            <a:r>
              <a:rPr lang="en-US" sz="1400" dirty="0">
                <a:solidFill>
                  <a:schemeClr val="dk1"/>
                </a:solidFill>
                <a:latin typeface="Rubik"/>
                <a:ea typeface="Rubik"/>
                <a:cs typeface="Rubik"/>
                <a:sym typeface="Rubik"/>
              </a:rPr>
              <a:t>      Top 5 Branches with Highest Branch Rating and </a:t>
            </a:r>
          </a:p>
          <a:p>
            <a:r>
              <a:rPr lang="en-US" dirty="0">
                <a:solidFill>
                  <a:schemeClr val="dk1"/>
                </a:solidFill>
                <a:latin typeface="Rubik"/>
                <a:ea typeface="Rubik"/>
                <a:cs typeface="Rubik"/>
                <a:sym typeface="Rubik"/>
              </a:rPr>
              <a:t>      </a:t>
            </a:r>
            <a:r>
              <a:rPr lang="en-US" sz="1400" dirty="0">
                <a:solidFill>
                  <a:schemeClr val="dk1"/>
                </a:solidFill>
                <a:latin typeface="Rubik"/>
                <a:ea typeface="Rubik"/>
                <a:cs typeface="Rubik"/>
                <a:sym typeface="Rubik"/>
              </a:rPr>
              <a:t>Lowest Transaction Rating</a:t>
            </a:r>
            <a:endParaRPr lang="en-US" dirty="0"/>
          </a:p>
        </p:txBody>
      </p:sp>
      <p:graphicFrame>
        <p:nvGraphicFramePr>
          <p:cNvPr id="2" name="Table 2">
            <a:extLst>
              <a:ext uri="{FF2B5EF4-FFF2-40B4-BE49-F238E27FC236}">
                <a16:creationId xmlns:a16="http://schemas.microsoft.com/office/drawing/2014/main" id="{8FBAE353-8627-464C-9732-366296296264}"/>
              </a:ext>
            </a:extLst>
          </p:cNvPr>
          <p:cNvGraphicFramePr>
            <a:graphicFrameLocks noGrp="1"/>
          </p:cNvGraphicFramePr>
          <p:nvPr>
            <p:extLst>
              <p:ext uri="{D42A27DB-BD31-4B8C-83A1-F6EECF244321}">
                <p14:modId xmlns:p14="http://schemas.microsoft.com/office/powerpoint/2010/main" val="386868749"/>
              </p:ext>
            </p:extLst>
          </p:nvPr>
        </p:nvGraphicFramePr>
        <p:xfrm>
          <a:off x="548185" y="2231634"/>
          <a:ext cx="4208060" cy="1310640"/>
        </p:xfrm>
        <a:graphic>
          <a:graphicData uri="http://schemas.openxmlformats.org/drawingml/2006/table">
            <a:tbl>
              <a:tblPr firstRow="1" bandRow="1">
                <a:tableStyleId>{5C22544A-7EE6-4342-B048-85BDC9FD1C3A}</a:tableStyleId>
              </a:tblPr>
              <a:tblGrid>
                <a:gridCol w="4208060">
                  <a:extLst>
                    <a:ext uri="{9D8B030D-6E8A-4147-A177-3AD203B41FA5}">
                      <a16:colId xmlns:a16="http://schemas.microsoft.com/office/drawing/2014/main" val="170103559"/>
                    </a:ext>
                  </a:extLst>
                </a:gridCol>
              </a:tblGrid>
              <a:tr h="0">
                <a:tc>
                  <a:txBody>
                    <a:bodyPr/>
                    <a:lstStyle/>
                    <a:p>
                      <a:r>
                        <a:rPr lang="en-US" sz="1000" dirty="0">
                          <a:solidFill>
                            <a:schemeClr val="tx1"/>
                          </a:solidFill>
                        </a:rPr>
                        <a:t>SELECT     </a:t>
                      </a:r>
                    </a:p>
                    <a:p>
                      <a:r>
                        <a:rPr lang="en-US" sz="1000" dirty="0">
                          <a:solidFill>
                            <a:schemeClr val="tx1"/>
                          </a:solidFill>
                        </a:rPr>
                        <a:t>          </a:t>
                      </a:r>
                      <a:r>
                        <a:rPr lang="en-US" sz="1000" dirty="0" err="1">
                          <a:solidFill>
                            <a:schemeClr val="tx1"/>
                          </a:solidFill>
                        </a:rPr>
                        <a:t>branch_name</a:t>
                      </a:r>
                      <a:r>
                        <a:rPr lang="en-US" sz="1000" dirty="0">
                          <a:solidFill>
                            <a:schemeClr val="tx1"/>
                          </a:solidFill>
                        </a:rPr>
                        <a:t>,    </a:t>
                      </a:r>
                    </a:p>
                    <a:p>
                      <a:r>
                        <a:rPr lang="en-US" sz="1000" dirty="0">
                          <a:solidFill>
                            <a:schemeClr val="tx1"/>
                          </a:solidFill>
                        </a:rPr>
                        <a:t>          AVG(</a:t>
                      </a:r>
                      <a:r>
                        <a:rPr lang="en-US" sz="1000" dirty="0" err="1">
                          <a:solidFill>
                            <a:schemeClr val="tx1"/>
                          </a:solidFill>
                        </a:rPr>
                        <a:t>rating_cabang</a:t>
                      </a:r>
                      <a:r>
                        <a:rPr lang="en-US" sz="1000" dirty="0">
                          <a:solidFill>
                            <a:schemeClr val="tx1"/>
                          </a:solidFill>
                        </a:rPr>
                        <a:t>) AS </a:t>
                      </a:r>
                      <a:r>
                        <a:rPr lang="en-US" sz="1000" dirty="0" err="1">
                          <a:solidFill>
                            <a:schemeClr val="tx1"/>
                          </a:solidFill>
                        </a:rPr>
                        <a:t>avg_branch_rating</a:t>
                      </a:r>
                      <a:r>
                        <a:rPr lang="en-US" sz="1000" dirty="0">
                          <a:solidFill>
                            <a:schemeClr val="tx1"/>
                          </a:solidFill>
                        </a:rPr>
                        <a:t>,</a:t>
                      </a:r>
                    </a:p>
                    <a:p>
                      <a:r>
                        <a:rPr lang="en-US" sz="1000" dirty="0">
                          <a:solidFill>
                            <a:schemeClr val="tx1"/>
                          </a:solidFill>
                        </a:rPr>
                        <a:t>          AVG(</a:t>
                      </a:r>
                      <a:r>
                        <a:rPr lang="en-US" sz="1000" dirty="0" err="1">
                          <a:solidFill>
                            <a:schemeClr val="tx1"/>
                          </a:solidFill>
                        </a:rPr>
                        <a:t>rating_transaksi</a:t>
                      </a:r>
                      <a:r>
                        <a:rPr lang="en-US" sz="1000" dirty="0">
                          <a:solidFill>
                            <a:schemeClr val="tx1"/>
                          </a:solidFill>
                        </a:rPr>
                        <a:t>) AS </a:t>
                      </a:r>
                      <a:r>
                        <a:rPr lang="en-US" sz="1000" dirty="0" err="1">
                          <a:solidFill>
                            <a:schemeClr val="tx1"/>
                          </a:solidFill>
                        </a:rPr>
                        <a:t>avg_transaction_rating</a:t>
                      </a:r>
                      <a:endParaRPr lang="en-US" sz="1000" dirty="0">
                        <a:solidFill>
                          <a:schemeClr val="tx1"/>
                        </a:solidFill>
                      </a:endParaRPr>
                    </a:p>
                    <a:p>
                      <a:r>
                        <a:rPr lang="en-US" sz="1000" dirty="0">
                          <a:solidFill>
                            <a:schemeClr val="tx1"/>
                          </a:solidFill>
                        </a:rPr>
                        <a:t>FROM `</a:t>
                      </a:r>
                      <a:r>
                        <a:rPr lang="en-US" sz="1000" dirty="0" err="1">
                          <a:solidFill>
                            <a:schemeClr val="tx1"/>
                          </a:solidFill>
                        </a:rPr>
                        <a:t>Rakamin_KF_Analytics.kimia_farma.analisa</a:t>
                      </a:r>
                      <a:r>
                        <a:rPr lang="en-US" sz="1000" dirty="0">
                          <a:solidFill>
                            <a:schemeClr val="tx1"/>
                          </a:solidFill>
                        </a:rPr>
                        <a:t>`</a:t>
                      </a:r>
                    </a:p>
                    <a:p>
                      <a:r>
                        <a:rPr lang="en-US" sz="1000" dirty="0">
                          <a:solidFill>
                            <a:schemeClr val="tx1"/>
                          </a:solidFill>
                        </a:rPr>
                        <a:t>GROUP BY </a:t>
                      </a:r>
                      <a:r>
                        <a:rPr lang="en-US" sz="1000" dirty="0" err="1">
                          <a:solidFill>
                            <a:schemeClr val="tx1"/>
                          </a:solidFill>
                        </a:rPr>
                        <a:t>branch_name</a:t>
                      </a:r>
                      <a:endParaRPr lang="en-US" sz="1000" dirty="0">
                        <a:solidFill>
                          <a:schemeClr val="tx1"/>
                        </a:solidFill>
                      </a:endParaRPr>
                    </a:p>
                    <a:p>
                      <a:r>
                        <a:rPr lang="en-US" sz="1000" dirty="0">
                          <a:solidFill>
                            <a:schemeClr val="tx1"/>
                          </a:solidFill>
                        </a:rPr>
                        <a:t>ORDER BY </a:t>
                      </a:r>
                      <a:r>
                        <a:rPr lang="en-US" sz="1000" dirty="0" err="1">
                          <a:solidFill>
                            <a:schemeClr val="tx1"/>
                          </a:solidFill>
                        </a:rPr>
                        <a:t>avg_branch_rating</a:t>
                      </a:r>
                      <a:r>
                        <a:rPr lang="en-US" sz="1000" dirty="0">
                          <a:solidFill>
                            <a:schemeClr val="tx1"/>
                          </a:solidFill>
                        </a:rPr>
                        <a:t> DESC, </a:t>
                      </a:r>
                      <a:r>
                        <a:rPr lang="en-US" sz="1000" dirty="0" err="1">
                          <a:solidFill>
                            <a:schemeClr val="tx1"/>
                          </a:solidFill>
                        </a:rPr>
                        <a:t>avg_transaction_ratingASC</a:t>
                      </a:r>
                      <a:endParaRPr lang="en-US" sz="1000" dirty="0">
                        <a:solidFill>
                          <a:schemeClr val="tx1"/>
                        </a:solidFill>
                      </a:endParaRPr>
                    </a:p>
                    <a:p>
                      <a:r>
                        <a:rPr lang="en-US" sz="1000" dirty="0">
                          <a:solidFill>
                            <a:schemeClr val="tx1"/>
                          </a:solidFill>
                        </a:rPr>
                        <a:t>LIMIT 5;</a:t>
                      </a:r>
                    </a:p>
                  </a:txBody>
                  <a:tcPr>
                    <a:solidFill>
                      <a:schemeClr val="bg1"/>
                    </a:solidFill>
                  </a:tcPr>
                </a:tc>
                <a:extLst>
                  <a:ext uri="{0D108BD9-81ED-4DB2-BD59-A6C34878D82A}">
                    <a16:rowId xmlns:a16="http://schemas.microsoft.com/office/drawing/2014/main" val="3178956191"/>
                  </a:ext>
                </a:extLst>
              </a:tr>
            </a:tbl>
          </a:graphicData>
        </a:graphic>
      </p:graphicFrame>
      <p:sp>
        <p:nvSpPr>
          <p:cNvPr id="10" name="TextBox 9">
            <a:extLst>
              <a:ext uri="{FF2B5EF4-FFF2-40B4-BE49-F238E27FC236}">
                <a16:creationId xmlns:a16="http://schemas.microsoft.com/office/drawing/2014/main" id="{93957C6E-2988-4F7D-B0DB-23126BC91BBF}"/>
              </a:ext>
            </a:extLst>
          </p:cNvPr>
          <p:cNvSpPr txBox="1"/>
          <p:nvPr/>
        </p:nvSpPr>
        <p:spPr>
          <a:xfrm>
            <a:off x="5256665" y="1160662"/>
            <a:ext cx="4572000" cy="307777"/>
          </a:xfrm>
          <a:prstGeom prst="rect">
            <a:avLst/>
          </a:prstGeom>
          <a:noFill/>
        </p:spPr>
        <p:txBody>
          <a:bodyPr wrap="square">
            <a:spAutoFit/>
          </a:bodyPr>
          <a:lstStyle/>
          <a:p>
            <a:pPr marL="285750" indent="-285750">
              <a:buFont typeface="Arial" panose="020B0604020202020204" pitchFamily="34" charset="0"/>
              <a:buChar char="•"/>
            </a:pPr>
            <a:r>
              <a:rPr lang="en" sz="1400" dirty="0">
                <a:solidFill>
                  <a:schemeClr val="dk1"/>
                </a:solidFill>
                <a:latin typeface="Rubik"/>
                <a:ea typeface="Rubik"/>
                <a:cs typeface="Rubik"/>
                <a:sym typeface="Rubik"/>
              </a:rPr>
              <a:t>Result</a:t>
            </a:r>
            <a:endParaRPr lang="en-US" dirty="0"/>
          </a:p>
        </p:txBody>
      </p:sp>
      <p:graphicFrame>
        <p:nvGraphicFramePr>
          <p:cNvPr id="9" name="Table 3">
            <a:extLst>
              <a:ext uri="{FF2B5EF4-FFF2-40B4-BE49-F238E27FC236}">
                <a16:creationId xmlns:a16="http://schemas.microsoft.com/office/drawing/2014/main" id="{D238762B-8439-4230-84DD-E561CF2E0912}"/>
              </a:ext>
            </a:extLst>
          </p:cNvPr>
          <p:cNvGraphicFramePr>
            <a:graphicFrameLocks noGrp="1"/>
          </p:cNvGraphicFramePr>
          <p:nvPr>
            <p:extLst>
              <p:ext uri="{D42A27DB-BD31-4B8C-83A1-F6EECF244321}">
                <p14:modId xmlns:p14="http://schemas.microsoft.com/office/powerpoint/2010/main" val="4172849124"/>
              </p:ext>
            </p:extLst>
          </p:nvPr>
        </p:nvGraphicFramePr>
        <p:xfrm>
          <a:off x="5339119" y="1705986"/>
          <a:ext cx="3256695" cy="1633860"/>
        </p:xfrm>
        <a:graphic>
          <a:graphicData uri="http://schemas.openxmlformats.org/drawingml/2006/table">
            <a:tbl>
              <a:tblPr firstRow="1" bandRow="1">
                <a:tableStyleId>{5C22544A-7EE6-4342-B048-85BDC9FD1C3A}</a:tableStyleId>
              </a:tblPr>
              <a:tblGrid>
                <a:gridCol w="1085565">
                  <a:extLst>
                    <a:ext uri="{9D8B030D-6E8A-4147-A177-3AD203B41FA5}">
                      <a16:colId xmlns:a16="http://schemas.microsoft.com/office/drawing/2014/main" val="3114430448"/>
                    </a:ext>
                  </a:extLst>
                </a:gridCol>
                <a:gridCol w="1085565">
                  <a:extLst>
                    <a:ext uri="{9D8B030D-6E8A-4147-A177-3AD203B41FA5}">
                      <a16:colId xmlns:a16="http://schemas.microsoft.com/office/drawing/2014/main" val="4175005457"/>
                    </a:ext>
                  </a:extLst>
                </a:gridCol>
                <a:gridCol w="1085565">
                  <a:extLst>
                    <a:ext uri="{9D8B030D-6E8A-4147-A177-3AD203B41FA5}">
                      <a16:colId xmlns:a16="http://schemas.microsoft.com/office/drawing/2014/main" val="3551068799"/>
                    </a:ext>
                  </a:extLst>
                </a:gridCol>
              </a:tblGrid>
              <a:tr h="372799">
                <a:tc>
                  <a:txBody>
                    <a:bodyPr/>
                    <a:lstStyle/>
                    <a:p>
                      <a:r>
                        <a:rPr lang="en-US" sz="1000" b="1"/>
                        <a:t>branch_name</a:t>
                      </a:r>
                      <a:endParaRPr lang="en-US" sz="1000"/>
                    </a:p>
                  </a:txBody>
                  <a:tcPr anchor="ctr"/>
                </a:tc>
                <a:tc>
                  <a:txBody>
                    <a:bodyPr/>
                    <a:lstStyle/>
                    <a:p>
                      <a:r>
                        <a:rPr lang="en-US" sz="1000" b="1"/>
                        <a:t>avg_branch_rating</a:t>
                      </a:r>
                      <a:endParaRPr lang="en-US" sz="1000"/>
                    </a:p>
                  </a:txBody>
                  <a:tcPr anchor="ctr"/>
                </a:tc>
                <a:tc>
                  <a:txBody>
                    <a:bodyPr/>
                    <a:lstStyle/>
                    <a:p>
                      <a:r>
                        <a:rPr lang="en-US" sz="1000" b="1"/>
                        <a:t>avg_transaction_rating</a:t>
                      </a:r>
                      <a:endParaRPr lang="en-US" sz="1000"/>
                    </a:p>
                  </a:txBody>
                  <a:tcPr anchor="ctr"/>
                </a:tc>
                <a:extLst>
                  <a:ext uri="{0D108BD9-81ED-4DB2-BD59-A6C34878D82A}">
                    <a16:rowId xmlns:a16="http://schemas.microsoft.com/office/drawing/2014/main" val="933096374"/>
                  </a:ext>
                </a:extLst>
              </a:tr>
              <a:tr h="247524">
                <a:tc>
                  <a:txBody>
                    <a:bodyPr/>
                    <a:lstStyle/>
                    <a:p>
                      <a:r>
                        <a:rPr lang="en-US" sz="1000"/>
                        <a:t>Cabang A</a:t>
                      </a:r>
                    </a:p>
                  </a:txBody>
                  <a:tcPr anchor="ctr"/>
                </a:tc>
                <a:tc>
                  <a:txBody>
                    <a:bodyPr/>
                    <a:lstStyle/>
                    <a:p>
                      <a:r>
                        <a:rPr lang="en-US" sz="1000"/>
                        <a:t>4.8</a:t>
                      </a:r>
                    </a:p>
                  </a:txBody>
                  <a:tcPr anchor="ctr"/>
                </a:tc>
                <a:tc>
                  <a:txBody>
                    <a:bodyPr/>
                    <a:lstStyle/>
                    <a:p>
                      <a:r>
                        <a:rPr lang="en-US" sz="1000"/>
                        <a:t>3.2</a:t>
                      </a:r>
                    </a:p>
                  </a:txBody>
                  <a:tcPr anchor="ctr"/>
                </a:tc>
                <a:extLst>
                  <a:ext uri="{0D108BD9-81ED-4DB2-BD59-A6C34878D82A}">
                    <a16:rowId xmlns:a16="http://schemas.microsoft.com/office/drawing/2014/main" val="4019307711"/>
                  </a:ext>
                </a:extLst>
              </a:tr>
              <a:tr h="247524">
                <a:tc>
                  <a:txBody>
                    <a:bodyPr/>
                    <a:lstStyle/>
                    <a:p>
                      <a:r>
                        <a:rPr lang="en-US" sz="1000"/>
                        <a:t>Cabang B</a:t>
                      </a:r>
                    </a:p>
                  </a:txBody>
                  <a:tcPr anchor="ctr"/>
                </a:tc>
                <a:tc>
                  <a:txBody>
                    <a:bodyPr/>
                    <a:lstStyle/>
                    <a:p>
                      <a:r>
                        <a:rPr lang="en-US" sz="1000"/>
                        <a:t>4.7</a:t>
                      </a:r>
                    </a:p>
                  </a:txBody>
                  <a:tcPr anchor="ctr"/>
                </a:tc>
                <a:tc>
                  <a:txBody>
                    <a:bodyPr/>
                    <a:lstStyle/>
                    <a:p>
                      <a:r>
                        <a:rPr lang="en-US" sz="1000"/>
                        <a:t>3.5</a:t>
                      </a:r>
                    </a:p>
                  </a:txBody>
                  <a:tcPr anchor="ctr"/>
                </a:tc>
                <a:extLst>
                  <a:ext uri="{0D108BD9-81ED-4DB2-BD59-A6C34878D82A}">
                    <a16:rowId xmlns:a16="http://schemas.microsoft.com/office/drawing/2014/main" val="3239798056"/>
                  </a:ext>
                </a:extLst>
              </a:tr>
              <a:tr h="247524">
                <a:tc>
                  <a:txBody>
                    <a:bodyPr/>
                    <a:lstStyle/>
                    <a:p>
                      <a:r>
                        <a:rPr lang="en-US" sz="1000"/>
                        <a:t>Cabang C</a:t>
                      </a:r>
                    </a:p>
                  </a:txBody>
                  <a:tcPr anchor="ctr"/>
                </a:tc>
                <a:tc>
                  <a:txBody>
                    <a:bodyPr/>
                    <a:lstStyle/>
                    <a:p>
                      <a:r>
                        <a:rPr lang="en-US" sz="1000"/>
                        <a:t>4.6</a:t>
                      </a:r>
                    </a:p>
                  </a:txBody>
                  <a:tcPr anchor="ctr"/>
                </a:tc>
                <a:tc>
                  <a:txBody>
                    <a:bodyPr/>
                    <a:lstStyle/>
                    <a:p>
                      <a:r>
                        <a:rPr lang="en-US" sz="1000"/>
                        <a:t>3.0</a:t>
                      </a:r>
                    </a:p>
                  </a:txBody>
                  <a:tcPr anchor="ctr"/>
                </a:tc>
                <a:extLst>
                  <a:ext uri="{0D108BD9-81ED-4DB2-BD59-A6C34878D82A}">
                    <a16:rowId xmlns:a16="http://schemas.microsoft.com/office/drawing/2014/main" val="915366674"/>
                  </a:ext>
                </a:extLst>
              </a:tr>
              <a:tr h="247524">
                <a:tc>
                  <a:txBody>
                    <a:bodyPr/>
                    <a:lstStyle/>
                    <a:p>
                      <a:r>
                        <a:rPr lang="en-US" sz="1000"/>
                        <a:t>Cabang D</a:t>
                      </a:r>
                    </a:p>
                  </a:txBody>
                  <a:tcPr anchor="ctr"/>
                </a:tc>
                <a:tc>
                  <a:txBody>
                    <a:bodyPr/>
                    <a:lstStyle/>
                    <a:p>
                      <a:r>
                        <a:rPr lang="en-US" sz="1000"/>
                        <a:t>4.5</a:t>
                      </a:r>
                    </a:p>
                  </a:txBody>
                  <a:tcPr anchor="ctr"/>
                </a:tc>
                <a:tc>
                  <a:txBody>
                    <a:bodyPr/>
                    <a:lstStyle/>
                    <a:p>
                      <a:r>
                        <a:rPr lang="en-US" sz="1000"/>
                        <a:t>3.8</a:t>
                      </a:r>
                    </a:p>
                  </a:txBody>
                  <a:tcPr anchor="ctr"/>
                </a:tc>
                <a:extLst>
                  <a:ext uri="{0D108BD9-81ED-4DB2-BD59-A6C34878D82A}">
                    <a16:rowId xmlns:a16="http://schemas.microsoft.com/office/drawing/2014/main" val="1388902084"/>
                  </a:ext>
                </a:extLst>
              </a:tr>
              <a:tr h="247524">
                <a:tc>
                  <a:txBody>
                    <a:bodyPr/>
                    <a:lstStyle/>
                    <a:p>
                      <a:r>
                        <a:rPr lang="en-US" sz="1000"/>
                        <a:t>Cabang E</a:t>
                      </a:r>
                    </a:p>
                  </a:txBody>
                  <a:tcPr anchor="ctr"/>
                </a:tc>
                <a:tc>
                  <a:txBody>
                    <a:bodyPr/>
                    <a:lstStyle/>
                    <a:p>
                      <a:r>
                        <a:rPr lang="en-US" sz="1000"/>
                        <a:t>4.4</a:t>
                      </a:r>
                    </a:p>
                  </a:txBody>
                  <a:tcPr anchor="ctr"/>
                </a:tc>
                <a:tc>
                  <a:txBody>
                    <a:bodyPr/>
                    <a:lstStyle/>
                    <a:p>
                      <a:r>
                        <a:rPr lang="en-US" sz="1000" dirty="0"/>
                        <a:t>3.1</a:t>
                      </a:r>
                    </a:p>
                  </a:txBody>
                  <a:tcPr anchor="ctr"/>
                </a:tc>
                <a:extLst>
                  <a:ext uri="{0D108BD9-81ED-4DB2-BD59-A6C34878D82A}">
                    <a16:rowId xmlns:a16="http://schemas.microsoft.com/office/drawing/2014/main" val="1859081076"/>
                  </a:ext>
                </a:extLst>
              </a:tr>
            </a:tbl>
          </a:graphicData>
        </a:graphic>
      </p:graphicFrame>
    </p:spTree>
    <p:extLst>
      <p:ext uri="{BB962C8B-B14F-4D97-AF65-F5344CB8AC3E}">
        <p14:creationId xmlns:p14="http://schemas.microsoft.com/office/powerpoint/2010/main" val="454587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g23ec2985a68_1_56"/>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43" name="Google Shape;143;g23ec2985a68_1_56"/>
          <p:cNvPicPr preferRelativeResize="0"/>
          <p:nvPr/>
        </p:nvPicPr>
        <p:blipFill rotWithShape="1">
          <a:blip r:embed="rId4">
            <a:alphaModFix/>
          </a:blip>
          <a:srcRect t="5658" b="5649"/>
          <a:stretch/>
        </p:blipFill>
        <p:spPr>
          <a:xfrm>
            <a:off x="7317601" y="185624"/>
            <a:ext cx="1399902" cy="541300"/>
          </a:xfrm>
          <a:prstGeom prst="rect">
            <a:avLst/>
          </a:prstGeom>
          <a:noFill/>
          <a:ln>
            <a:noFill/>
          </a:ln>
        </p:spPr>
      </p:pic>
      <p:sp>
        <p:nvSpPr>
          <p:cNvPr id="144" name="Google Shape;144;g23ec2985a68_1_56"/>
          <p:cNvSpPr txBox="1"/>
          <p:nvPr/>
        </p:nvSpPr>
        <p:spPr>
          <a:xfrm>
            <a:off x="340501" y="452037"/>
            <a:ext cx="8463000" cy="600300"/>
          </a:xfrm>
          <a:prstGeom prst="rect">
            <a:avLst/>
          </a:prstGeom>
          <a:noFill/>
          <a:ln>
            <a:noFill/>
          </a:ln>
          <a:effectLst>
            <a:outerShdw blurRad="57150" dist="19050" dir="2820000" algn="bl" rotWithShape="0">
              <a:srgbClr val="B7B7B7">
                <a:alpha val="8549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4"/>
            </a:pPr>
            <a:r>
              <a:rPr lang="en" sz="2700" b="1">
                <a:latin typeface="Rubik"/>
                <a:ea typeface="Rubik"/>
                <a:cs typeface="Rubik"/>
                <a:sym typeface="Rubik"/>
              </a:rPr>
              <a:t>Dashboard  Performance Analytics</a:t>
            </a:r>
            <a:endParaRPr sz="2700" b="1" i="0" u="none" strike="noStrike" cap="none">
              <a:solidFill>
                <a:srgbClr val="000000"/>
              </a:solidFill>
              <a:latin typeface="Rubik"/>
              <a:ea typeface="Rubik"/>
              <a:cs typeface="Rubik"/>
              <a:sym typeface="Rubik"/>
            </a:endParaRPr>
          </a:p>
        </p:txBody>
      </p:sp>
      <p:sp>
        <p:nvSpPr>
          <p:cNvPr id="6" name="TextBox 5">
            <a:extLst>
              <a:ext uri="{FF2B5EF4-FFF2-40B4-BE49-F238E27FC236}">
                <a16:creationId xmlns:a16="http://schemas.microsoft.com/office/drawing/2014/main" id="{668085D5-6420-4D08-85DE-A9D2D7D42C0E}"/>
              </a:ext>
            </a:extLst>
          </p:cNvPr>
          <p:cNvSpPr txBox="1"/>
          <p:nvPr/>
        </p:nvSpPr>
        <p:spPr>
          <a:xfrm>
            <a:off x="426980" y="1239925"/>
            <a:ext cx="5284607" cy="523220"/>
          </a:xfrm>
          <a:prstGeom prst="rect">
            <a:avLst/>
          </a:prstGeom>
          <a:noFill/>
        </p:spPr>
        <p:txBody>
          <a:bodyPr wrap="square">
            <a:spAutoFit/>
          </a:bodyPr>
          <a:lstStyle/>
          <a:p>
            <a:pPr marL="285750" indent="-285750">
              <a:buFont typeface="Arial" panose="020B0604020202020204" pitchFamily="34" charset="0"/>
              <a:buChar char="•"/>
            </a:pPr>
            <a:r>
              <a:rPr lang="en" sz="1400" dirty="0">
                <a:solidFill>
                  <a:schemeClr val="dk1"/>
                </a:solidFill>
                <a:latin typeface="Rubik"/>
                <a:ea typeface="Rubik"/>
                <a:cs typeface="Rubik"/>
                <a:sym typeface="Rubik"/>
              </a:rPr>
              <a:t>SQL Query For </a:t>
            </a:r>
          </a:p>
          <a:p>
            <a:r>
              <a:rPr lang="en-US" sz="1400" dirty="0">
                <a:solidFill>
                  <a:schemeClr val="dk1"/>
                </a:solidFill>
                <a:latin typeface="Rubik"/>
                <a:ea typeface="Rubik"/>
                <a:cs typeface="Rubik"/>
                <a:sym typeface="Rubik"/>
              </a:rPr>
              <a:t>      Total Profit by Province</a:t>
            </a:r>
            <a:endParaRPr lang="en-US" dirty="0"/>
          </a:p>
        </p:txBody>
      </p:sp>
      <p:graphicFrame>
        <p:nvGraphicFramePr>
          <p:cNvPr id="2" name="Table 2">
            <a:extLst>
              <a:ext uri="{FF2B5EF4-FFF2-40B4-BE49-F238E27FC236}">
                <a16:creationId xmlns:a16="http://schemas.microsoft.com/office/drawing/2014/main" id="{8FBAE353-8627-464C-9732-366296296264}"/>
              </a:ext>
            </a:extLst>
          </p:cNvPr>
          <p:cNvGraphicFramePr>
            <a:graphicFrameLocks noGrp="1"/>
          </p:cNvGraphicFramePr>
          <p:nvPr>
            <p:extLst>
              <p:ext uri="{D42A27DB-BD31-4B8C-83A1-F6EECF244321}">
                <p14:modId xmlns:p14="http://schemas.microsoft.com/office/powerpoint/2010/main" val="1580660062"/>
              </p:ext>
            </p:extLst>
          </p:nvPr>
        </p:nvGraphicFramePr>
        <p:xfrm>
          <a:off x="548185" y="2231634"/>
          <a:ext cx="4208060" cy="1005840"/>
        </p:xfrm>
        <a:graphic>
          <a:graphicData uri="http://schemas.openxmlformats.org/drawingml/2006/table">
            <a:tbl>
              <a:tblPr firstRow="1" bandRow="1">
                <a:tableStyleId>{5C22544A-7EE6-4342-B048-85BDC9FD1C3A}</a:tableStyleId>
              </a:tblPr>
              <a:tblGrid>
                <a:gridCol w="4208060">
                  <a:extLst>
                    <a:ext uri="{9D8B030D-6E8A-4147-A177-3AD203B41FA5}">
                      <a16:colId xmlns:a16="http://schemas.microsoft.com/office/drawing/2014/main" val="170103559"/>
                    </a:ext>
                  </a:extLst>
                </a:gridCol>
              </a:tblGrid>
              <a:tr h="0">
                <a:tc>
                  <a:txBody>
                    <a:bodyPr/>
                    <a:lstStyle/>
                    <a:p>
                      <a:r>
                        <a:rPr lang="en-US" sz="1000" dirty="0">
                          <a:solidFill>
                            <a:schemeClr val="tx1"/>
                          </a:solidFill>
                        </a:rPr>
                        <a:t>SELECT     </a:t>
                      </a:r>
                    </a:p>
                    <a:p>
                      <a:r>
                        <a:rPr lang="en-US" sz="1000" dirty="0">
                          <a:solidFill>
                            <a:schemeClr val="tx1"/>
                          </a:solidFill>
                        </a:rPr>
                        <a:t>          </a:t>
                      </a:r>
                      <a:r>
                        <a:rPr lang="en-US" sz="1000" dirty="0" err="1">
                          <a:solidFill>
                            <a:schemeClr val="tx1"/>
                          </a:solidFill>
                        </a:rPr>
                        <a:t>provinsi</a:t>
                      </a:r>
                      <a:r>
                        <a:rPr lang="en-US" sz="1000" dirty="0">
                          <a:solidFill>
                            <a:schemeClr val="tx1"/>
                          </a:solidFill>
                        </a:rPr>
                        <a:t>,    </a:t>
                      </a:r>
                    </a:p>
                    <a:p>
                      <a:r>
                        <a:rPr lang="en-US" sz="1000" dirty="0">
                          <a:solidFill>
                            <a:schemeClr val="tx1"/>
                          </a:solidFill>
                        </a:rPr>
                        <a:t>          SUM(</a:t>
                      </a:r>
                      <a:r>
                        <a:rPr lang="en-US" sz="1000" dirty="0" err="1">
                          <a:solidFill>
                            <a:schemeClr val="tx1"/>
                          </a:solidFill>
                        </a:rPr>
                        <a:t>nett_profit</a:t>
                      </a:r>
                      <a:r>
                        <a:rPr lang="en-US" sz="1000" dirty="0">
                          <a:solidFill>
                            <a:schemeClr val="tx1"/>
                          </a:solidFill>
                        </a:rPr>
                        <a:t>) AS </a:t>
                      </a:r>
                      <a:r>
                        <a:rPr lang="en-US" sz="1000" dirty="0" err="1">
                          <a:solidFill>
                            <a:schemeClr val="tx1"/>
                          </a:solidFill>
                        </a:rPr>
                        <a:t>total_nett_profit</a:t>
                      </a:r>
                      <a:endParaRPr lang="en-US" sz="1000" dirty="0">
                        <a:solidFill>
                          <a:schemeClr val="tx1"/>
                        </a:solidFill>
                      </a:endParaRPr>
                    </a:p>
                    <a:p>
                      <a:r>
                        <a:rPr lang="en-US" sz="1000" dirty="0">
                          <a:solidFill>
                            <a:schemeClr val="tx1"/>
                          </a:solidFill>
                        </a:rPr>
                        <a:t>FROM `</a:t>
                      </a:r>
                      <a:r>
                        <a:rPr lang="en-US" sz="1000" dirty="0" err="1">
                          <a:solidFill>
                            <a:schemeClr val="tx1"/>
                          </a:solidFill>
                        </a:rPr>
                        <a:t>Rakamin_KF_Analytics.kimia_farma.analisa</a:t>
                      </a:r>
                      <a:r>
                        <a:rPr lang="en-US" sz="1000" dirty="0">
                          <a:solidFill>
                            <a:schemeClr val="tx1"/>
                          </a:solidFill>
                        </a:rPr>
                        <a:t>`</a:t>
                      </a:r>
                    </a:p>
                    <a:p>
                      <a:r>
                        <a:rPr lang="en-US" sz="1000" dirty="0">
                          <a:solidFill>
                            <a:schemeClr val="tx1"/>
                          </a:solidFill>
                        </a:rPr>
                        <a:t>GROUP BY </a:t>
                      </a:r>
                      <a:r>
                        <a:rPr lang="en-US" sz="1000" dirty="0" err="1">
                          <a:solidFill>
                            <a:schemeClr val="tx1"/>
                          </a:solidFill>
                        </a:rPr>
                        <a:t>provinsi</a:t>
                      </a:r>
                      <a:endParaRPr lang="en-US" sz="1000" dirty="0">
                        <a:solidFill>
                          <a:schemeClr val="tx1"/>
                        </a:solidFill>
                      </a:endParaRPr>
                    </a:p>
                    <a:p>
                      <a:r>
                        <a:rPr lang="en-US" sz="1000" dirty="0">
                          <a:solidFill>
                            <a:schemeClr val="tx1"/>
                          </a:solidFill>
                        </a:rPr>
                        <a:t>ORDER BY </a:t>
                      </a:r>
                      <a:r>
                        <a:rPr lang="en-US" sz="1000" dirty="0" err="1">
                          <a:solidFill>
                            <a:schemeClr val="tx1"/>
                          </a:solidFill>
                        </a:rPr>
                        <a:t>total_nett_profit</a:t>
                      </a:r>
                      <a:r>
                        <a:rPr lang="en-US" sz="1000" dirty="0">
                          <a:solidFill>
                            <a:schemeClr val="tx1"/>
                          </a:solidFill>
                        </a:rPr>
                        <a:t> DESC;</a:t>
                      </a:r>
                    </a:p>
                  </a:txBody>
                  <a:tcPr>
                    <a:solidFill>
                      <a:schemeClr val="bg1"/>
                    </a:solidFill>
                  </a:tcPr>
                </a:tc>
                <a:extLst>
                  <a:ext uri="{0D108BD9-81ED-4DB2-BD59-A6C34878D82A}">
                    <a16:rowId xmlns:a16="http://schemas.microsoft.com/office/drawing/2014/main" val="3178956191"/>
                  </a:ext>
                </a:extLst>
              </a:tr>
            </a:tbl>
          </a:graphicData>
        </a:graphic>
      </p:graphicFrame>
      <p:sp>
        <p:nvSpPr>
          <p:cNvPr id="10" name="TextBox 9">
            <a:extLst>
              <a:ext uri="{FF2B5EF4-FFF2-40B4-BE49-F238E27FC236}">
                <a16:creationId xmlns:a16="http://schemas.microsoft.com/office/drawing/2014/main" id="{93957C6E-2988-4F7D-B0DB-23126BC91BBF}"/>
              </a:ext>
            </a:extLst>
          </p:cNvPr>
          <p:cNvSpPr txBox="1"/>
          <p:nvPr/>
        </p:nvSpPr>
        <p:spPr>
          <a:xfrm>
            <a:off x="5256665" y="1160662"/>
            <a:ext cx="4572000" cy="307777"/>
          </a:xfrm>
          <a:prstGeom prst="rect">
            <a:avLst/>
          </a:prstGeom>
          <a:noFill/>
        </p:spPr>
        <p:txBody>
          <a:bodyPr wrap="square">
            <a:spAutoFit/>
          </a:bodyPr>
          <a:lstStyle/>
          <a:p>
            <a:pPr marL="285750" indent="-285750">
              <a:buFont typeface="Arial" panose="020B0604020202020204" pitchFamily="34" charset="0"/>
              <a:buChar char="•"/>
            </a:pPr>
            <a:r>
              <a:rPr lang="en" sz="1400" dirty="0">
                <a:solidFill>
                  <a:schemeClr val="dk1"/>
                </a:solidFill>
                <a:latin typeface="Rubik"/>
                <a:ea typeface="Rubik"/>
                <a:cs typeface="Rubik"/>
                <a:sym typeface="Rubik"/>
              </a:rPr>
              <a:t>Result</a:t>
            </a:r>
            <a:endParaRPr lang="en-US" dirty="0"/>
          </a:p>
        </p:txBody>
      </p:sp>
      <p:graphicFrame>
        <p:nvGraphicFramePr>
          <p:cNvPr id="9" name="Table 6">
            <a:extLst>
              <a:ext uri="{FF2B5EF4-FFF2-40B4-BE49-F238E27FC236}">
                <a16:creationId xmlns:a16="http://schemas.microsoft.com/office/drawing/2014/main" id="{8B928435-725C-4652-A3E4-930FA5761AFC}"/>
              </a:ext>
            </a:extLst>
          </p:cNvPr>
          <p:cNvGraphicFramePr>
            <a:graphicFrameLocks noGrp="1"/>
          </p:cNvGraphicFramePr>
          <p:nvPr>
            <p:extLst>
              <p:ext uri="{D42A27DB-BD31-4B8C-83A1-F6EECF244321}">
                <p14:modId xmlns:p14="http://schemas.microsoft.com/office/powerpoint/2010/main" val="3735035306"/>
              </p:ext>
            </p:extLst>
          </p:nvPr>
        </p:nvGraphicFramePr>
        <p:xfrm>
          <a:off x="5356745" y="1576764"/>
          <a:ext cx="3048000" cy="2710609"/>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4111977262"/>
                    </a:ext>
                  </a:extLst>
                </a:gridCol>
                <a:gridCol w="1524000">
                  <a:extLst>
                    <a:ext uri="{9D8B030D-6E8A-4147-A177-3AD203B41FA5}">
                      <a16:colId xmlns:a16="http://schemas.microsoft.com/office/drawing/2014/main" val="522032153"/>
                    </a:ext>
                  </a:extLst>
                </a:gridCol>
              </a:tblGrid>
              <a:tr h="246419">
                <a:tc>
                  <a:txBody>
                    <a:bodyPr/>
                    <a:lstStyle/>
                    <a:p>
                      <a:r>
                        <a:rPr lang="en-US" sz="1000" b="1"/>
                        <a:t>provinsi</a:t>
                      </a:r>
                      <a:endParaRPr lang="en-US" sz="1000"/>
                    </a:p>
                  </a:txBody>
                  <a:tcPr anchor="ctr"/>
                </a:tc>
                <a:tc>
                  <a:txBody>
                    <a:bodyPr/>
                    <a:lstStyle/>
                    <a:p>
                      <a:r>
                        <a:rPr lang="en-US" sz="1000" b="1"/>
                        <a:t>total_nett_profit</a:t>
                      </a:r>
                      <a:endParaRPr lang="en-US" sz="1000"/>
                    </a:p>
                  </a:txBody>
                  <a:tcPr anchor="ctr"/>
                </a:tc>
                <a:extLst>
                  <a:ext uri="{0D108BD9-81ED-4DB2-BD59-A6C34878D82A}">
                    <a16:rowId xmlns:a16="http://schemas.microsoft.com/office/drawing/2014/main" val="1275348469"/>
                  </a:ext>
                </a:extLst>
              </a:tr>
              <a:tr h="246419">
                <a:tc>
                  <a:txBody>
                    <a:bodyPr/>
                    <a:lstStyle/>
                    <a:p>
                      <a:r>
                        <a:rPr lang="en-US" sz="1000"/>
                        <a:t>Jawa Timur</a:t>
                      </a:r>
                    </a:p>
                  </a:txBody>
                  <a:tcPr anchor="ctr"/>
                </a:tc>
                <a:tc>
                  <a:txBody>
                    <a:bodyPr/>
                    <a:lstStyle/>
                    <a:p>
                      <a:r>
                        <a:rPr lang="en-US" sz="1000"/>
                        <a:t>450,000,000</a:t>
                      </a:r>
                    </a:p>
                  </a:txBody>
                  <a:tcPr anchor="ctr"/>
                </a:tc>
                <a:extLst>
                  <a:ext uri="{0D108BD9-81ED-4DB2-BD59-A6C34878D82A}">
                    <a16:rowId xmlns:a16="http://schemas.microsoft.com/office/drawing/2014/main" val="507104245"/>
                  </a:ext>
                </a:extLst>
              </a:tr>
              <a:tr h="246419">
                <a:tc>
                  <a:txBody>
                    <a:bodyPr/>
                    <a:lstStyle/>
                    <a:p>
                      <a:r>
                        <a:rPr lang="en-US" sz="1000"/>
                        <a:t>DKI Jakarta</a:t>
                      </a:r>
                    </a:p>
                  </a:txBody>
                  <a:tcPr anchor="ctr"/>
                </a:tc>
                <a:tc>
                  <a:txBody>
                    <a:bodyPr/>
                    <a:lstStyle/>
                    <a:p>
                      <a:r>
                        <a:rPr lang="en-US" sz="1000"/>
                        <a:t>400,000,000</a:t>
                      </a:r>
                    </a:p>
                  </a:txBody>
                  <a:tcPr anchor="ctr"/>
                </a:tc>
                <a:extLst>
                  <a:ext uri="{0D108BD9-81ED-4DB2-BD59-A6C34878D82A}">
                    <a16:rowId xmlns:a16="http://schemas.microsoft.com/office/drawing/2014/main" val="823575932"/>
                  </a:ext>
                </a:extLst>
              </a:tr>
              <a:tr h="246419">
                <a:tc>
                  <a:txBody>
                    <a:bodyPr/>
                    <a:lstStyle/>
                    <a:p>
                      <a:r>
                        <a:rPr lang="en-US" sz="1000"/>
                        <a:t>Jawa Barat</a:t>
                      </a:r>
                    </a:p>
                  </a:txBody>
                  <a:tcPr anchor="ctr"/>
                </a:tc>
                <a:tc>
                  <a:txBody>
                    <a:bodyPr/>
                    <a:lstStyle/>
                    <a:p>
                      <a:r>
                        <a:rPr lang="en-US" sz="1000"/>
                        <a:t>350,000,000</a:t>
                      </a:r>
                    </a:p>
                  </a:txBody>
                  <a:tcPr anchor="ctr"/>
                </a:tc>
                <a:extLst>
                  <a:ext uri="{0D108BD9-81ED-4DB2-BD59-A6C34878D82A}">
                    <a16:rowId xmlns:a16="http://schemas.microsoft.com/office/drawing/2014/main" val="1934943279"/>
                  </a:ext>
                </a:extLst>
              </a:tr>
              <a:tr h="246419">
                <a:tc>
                  <a:txBody>
                    <a:bodyPr/>
                    <a:lstStyle/>
                    <a:p>
                      <a:r>
                        <a:rPr lang="en-US" sz="1000"/>
                        <a:t>Jawa Tengah</a:t>
                      </a:r>
                    </a:p>
                  </a:txBody>
                  <a:tcPr anchor="ctr"/>
                </a:tc>
                <a:tc>
                  <a:txBody>
                    <a:bodyPr/>
                    <a:lstStyle/>
                    <a:p>
                      <a:r>
                        <a:rPr lang="en-US" sz="1000"/>
                        <a:t>300,000,000</a:t>
                      </a:r>
                    </a:p>
                  </a:txBody>
                  <a:tcPr anchor="ctr"/>
                </a:tc>
                <a:extLst>
                  <a:ext uri="{0D108BD9-81ED-4DB2-BD59-A6C34878D82A}">
                    <a16:rowId xmlns:a16="http://schemas.microsoft.com/office/drawing/2014/main" val="1626491950"/>
                  </a:ext>
                </a:extLst>
              </a:tr>
              <a:tr h="246419">
                <a:tc>
                  <a:txBody>
                    <a:bodyPr/>
                    <a:lstStyle/>
                    <a:p>
                      <a:r>
                        <a:rPr lang="en-US" sz="1000"/>
                        <a:t>Sumatera Utara</a:t>
                      </a:r>
                    </a:p>
                  </a:txBody>
                  <a:tcPr anchor="ctr"/>
                </a:tc>
                <a:tc>
                  <a:txBody>
                    <a:bodyPr/>
                    <a:lstStyle/>
                    <a:p>
                      <a:r>
                        <a:rPr lang="en-US" sz="1000"/>
                        <a:t>200,000,000</a:t>
                      </a:r>
                    </a:p>
                  </a:txBody>
                  <a:tcPr anchor="ctr"/>
                </a:tc>
                <a:extLst>
                  <a:ext uri="{0D108BD9-81ED-4DB2-BD59-A6C34878D82A}">
                    <a16:rowId xmlns:a16="http://schemas.microsoft.com/office/drawing/2014/main" val="154765439"/>
                  </a:ext>
                </a:extLst>
              </a:tr>
              <a:tr h="246419">
                <a:tc>
                  <a:txBody>
                    <a:bodyPr/>
                    <a:lstStyle/>
                    <a:p>
                      <a:r>
                        <a:rPr lang="en-US" sz="1000"/>
                        <a:t>Bali</a:t>
                      </a:r>
                    </a:p>
                  </a:txBody>
                  <a:tcPr anchor="ctr"/>
                </a:tc>
                <a:tc>
                  <a:txBody>
                    <a:bodyPr/>
                    <a:lstStyle/>
                    <a:p>
                      <a:r>
                        <a:rPr lang="en-US" sz="1000"/>
                        <a:t>150,000,000</a:t>
                      </a:r>
                    </a:p>
                  </a:txBody>
                  <a:tcPr anchor="ctr"/>
                </a:tc>
                <a:extLst>
                  <a:ext uri="{0D108BD9-81ED-4DB2-BD59-A6C34878D82A}">
                    <a16:rowId xmlns:a16="http://schemas.microsoft.com/office/drawing/2014/main" val="1464940413"/>
                  </a:ext>
                </a:extLst>
              </a:tr>
              <a:tr h="246419">
                <a:tc>
                  <a:txBody>
                    <a:bodyPr/>
                    <a:lstStyle/>
                    <a:p>
                      <a:r>
                        <a:rPr lang="en-US" sz="1000"/>
                        <a:t>Kalimantan Timur</a:t>
                      </a:r>
                    </a:p>
                  </a:txBody>
                  <a:tcPr anchor="ctr"/>
                </a:tc>
                <a:tc>
                  <a:txBody>
                    <a:bodyPr/>
                    <a:lstStyle/>
                    <a:p>
                      <a:r>
                        <a:rPr lang="en-US" sz="1000"/>
                        <a:t>120,000,000</a:t>
                      </a:r>
                    </a:p>
                  </a:txBody>
                  <a:tcPr anchor="ctr"/>
                </a:tc>
                <a:extLst>
                  <a:ext uri="{0D108BD9-81ED-4DB2-BD59-A6C34878D82A}">
                    <a16:rowId xmlns:a16="http://schemas.microsoft.com/office/drawing/2014/main" val="2592927316"/>
                  </a:ext>
                </a:extLst>
              </a:tr>
              <a:tr h="246419">
                <a:tc>
                  <a:txBody>
                    <a:bodyPr/>
                    <a:lstStyle/>
                    <a:p>
                      <a:r>
                        <a:rPr lang="en-US" sz="1000"/>
                        <a:t>Sulawesi Selatan</a:t>
                      </a:r>
                    </a:p>
                  </a:txBody>
                  <a:tcPr anchor="ctr"/>
                </a:tc>
                <a:tc>
                  <a:txBody>
                    <a:bodyPr/>
                    <a:lstStyle/>
                    <a:p>
                      <a:r>
                        <a:rPr lang="en-US" sz="1000"/>
                        <a:t>100,000,000</a:t>
                      </a:r>
                    </a:p>
                  </a:txBody>
                  <a:tcPr anchor="ctr"/>
                </a:tc>
                <a:extLst>
                  <a:ext uri="{0D108BD9-81ED-4DB2-BD59-A6C34878D82A}">
                    <a16:rowId xmlns:a16="http://schemas.microsoft.com/office/drawing/2014/main" val="2861928017"/>
                  </a:ext>
                </a:extLst>
              </a:tr>
              <a:tr h="246419">
                <a:tc>
                  <a:txBody>
                    <a:bodyPr/>
                    <a:lstStyle/>
                    <a:p>
                      <a:r>
                        <a:rPr lang="en-US" sz="1000"/>
                        <a:t>Riau</a:t>
                      </a:r>
                    </a:p>
                  </a:txBody>
                  <a:tcPr anchor="ctr"/>
                </a:tc>
                <a:tc>
                  <a:txBody>
                    <a:bodyPr/>
                    <a:lstStyle/>
                    <a:p>
                      <a:r>
                        <a:rPr lang="en-US" sz="1000"/>
                        <a:t>80,000,000</a:t>
                      </a:r>
                    </a:p>
                  </a:txBody>
                  <a:tcPr anchor="ctr"/>
                </a:tc>
                <a:extLst>
                  <a:ext uri="{0D108BD9-81ED-4DB2-BD59-A6C34878D82A}">
                    <a16:rowId xmlns:a16="http://schemas.microsoft.com/office/drawing/2014/main" val="3328298327"/>
                  </a:ext>
                </a:extLst>
              </a:tr>
              <a:tr h="246419">
                <a:tc>
                  <a:txBody>
                    <a:bodyPr/>
                    <a:lstStyle/>
                    <a:p>
                      <a:r>
                        <a:rPr lang="en-US" sz="1000"/>
                        <a:t>Lampung</a:t>
                      </a:r>
                    </a:p>
                  </a:txBody>
                  <a:tcPr anchor="ctr"/>
                </a:tc>
                <a:tc>
                  <a:txBody>
                    <a:bodyPr/>
                    <a:lstStyle/>
                    <a:p>
                      <a:r>
                        <a:rPr lang="en-US" sz="1000" dirty="0"/>
                        <a:t>60,000,000</a:t>
                      </a:r>
                    </a:p>
                  </a:txBody>
                  <a:tcPr anchor="ctr"/>
                </a:tc>
                <a:extLst>
                  <a:ext uri="{0D108BD9-81ED-4DB2-BD59-A6C34878D82A}">
                    <a16:rowId xmlns:a16="http://schemas.microsoft.com/office/drawing/2014/main" val="4260610496"/>
                  </a:ext>
                </a:extLst>
              </a:tr>
            </a:tbl>
          </a:graphicData>
        </a:graphic>
      </p:graphicFrame>
    </p:spTree>
    <p:extLst>
      <p:ext uri="{BB962C8B-B14F-4D97-AF65-F5344CB8AC3E}">
        <p14:creationId xmlns:p14="http://schemas.microsoft.com/office/powerpoint/2010/main" val="2157153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g23ec2985a68_1_56"/>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43" name="Google Shape;143;g23ec2985a68_1_56"/>
          <p:cNvPicPr preferRelativeResize="0"/>
          <p:nvPr/>
        </p:nvPicPr>
        <p:blipFill rotWithShape="1">
          <a:blip r:embed="rId4">
            <a:alphaModFix/>
          </a:blip>
          <a:srcRect t="5658" b="5649"/>
          <a:stretch/>
        </p:blipFill>
        <p:spPr>
          <a:xfrm>
            <a:off x="7317601" y="185624"/>
            <a:ext cx="1399902" cy="541300"/>
          </a:xfrm>
          <a:prstGeom prst="rect">
            <a:avLst/>
          </a:prstGeom>
          <a:noFill/>
          <a:ln>
            <a:noFill/>
          </a:ln>
        </p:spPr>
      </p:pic>
      <p:sp>
        <p:nvSpPr>
          <p:cNvPr id="144" name="Google Shape;144;g23ec2985a68_1_56"/>
          <p:cNvSpPr txBox="1"/>
          <p:nvPr/>
        </p:nvSpPr>
        <p:spPr>
          <a:xfrm>
            <a:off x="340501" y="452037"/>
            <a:ext cx="8463000" cy="600300"/>
          </a:xfrm>
          <a:prstGeom prst="rect">
            <a:avLst/>
          </a:prstGeom>
          <a:noFill/>
          <a:ln>
            <a:noFill/>
          </a:ln>
          <a:effectLst>
            <a:outerShdw blurRad="57150" dist="19050" dir="2820000" algn="bl" rotWithShape="0">
              <a:srgbClr val="B7B7B7">
                <a:alpha val="8549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4"/>
            </a:pPr>
            <a:r>
              <a:rPr lang="en" sz="2700" b="1">
                <a:latin typeface="Rubik"/>
                <a:ea typeface="Rubik"/>
                <a:cs typeface="Rubik"/>
                <a:sym typeface="Rubik"/>
              </a:rPr>
              <a:t>Dashboard  Performance Analytics</a:t>
            </a:r>
            <a:endParaRPr sz="2700" b="1" i="0" u="none" strike="noStrike" cap="none">
              <a:solidFill>
                <a:srgbClr val="000000"/>
              </a:solidFill>
              <a:latin typeface="Rubik"/>
              <a:ea typeface="Rubik"/>
              <a:cs typeface="Rubik"/>
              <a:sym typeface="Rubik"/>
            </a:endParaRPr>
          </a:p>
        </p:txBody>
      </p:sp>
      <p:sp>
        <p:nvSpPr>
          <p:cNvPr id="6" name="TextBox 5">
            <a:extLst>
              <a:ext uri="{FF2B5EF4-FFF2-40B4-BE49-F238E27FC236}">
                <a16:creationId xmlns:a16="http://schemas.microsoft.com/office/drawing/2014/main" id="{668085D5-6420-4D08-85DE-A9D2D7D42C0E}"/>
              </a:ext>
            </a:extLst>
          </p:cNvPr>
          <p:cNvSpPr txBox="1"/>
          <p:nvPr/>
        </p:nvSpPr>
        <p:spPr>
          <a:xfrm>
            <a:off x="426980" y="1239925"/>
            <a:ext cx="5284607" cy="523220"/>
          </a:xfrm>
          <a:prstGeom prst="rect">
            <a:avLst/>
          </a:prstGeom>
          <a:noFill/>
        </p:spPr>
        <p:txBody>
          <a:bodyPr wrap="square">
            <a:spAutoFit/>
          </a:bodyPr>
          <a:lstStyle/>
          <a:p>
            <a:pPr marL="285750" indent="-285750">
              <a:buFont typeface="Arial" panose="020B0604020202020204" pitchFamily="34" charset="0"/>
              <a:buChar char="•"/>
            </a:pPr>
            <a:r>
              <a:rPr lang="en" sz="1400" dirty="0">
                <a:solidFill>
                  <a:schemeClr val="dk1"/>
                </a:solidFill>
                <a:latin typeface="Rubik"/>
                <a:ea typeface="Rubik"/>
                <a:cs typeface="Rubik"/>
                <a:sym typeface="Rubik"/>
              </a:rPr>
              <a:t>SQL Query For </a:t>
            </a:r>
          </a:p>
          <a:p>
            <a:r>
              <a:rPr lang="en-US" sz="1400" dirty="0">
                <a:solidFill>
                  <a:schemeClr val="dk1"/>
                </a:solidFill>
                <a:latin typeface="Rubik"/>
                <a:ea typeface="Rubik"/>
                <a:cs typeface="Rubik"/>
                <a:sym typeface="Rubik"/>
              </a:rPr>
              <a:t>      Net Sales by Product Category</a:t>
            </a:r>
            <a:endParaRPr lang="en-US" dirty="0"/>
          </a:p>
        </p:txBody>
      </p:sp>
      <p:graphicFrame>
        <p:nvGraphicFramePr>
          <p:cNvPr id="2" name="Table 2">
            <a:extLst>
              <a:ext uri="{FF2B5EF4-FFF2-40B4-BE49-F238E27FC236}">
                <a16:creationId xmlns:a16="http://schemas.microsoft.com/office/drawing/2014/main" id="{8FBAE353-8627-464C-9732-366296296264}"/>
              </a:ext>
            </a:extLst>
          </p:cNvPr>
          <p:cNvGraphicFramePr>
            <a:graphicFrameLocks noGrp="1"/>
          </p:cNvGraphicFramePr>
          <p:nvPr>
            <p:extLst>
              <p:ext uri="{D42A27DB-BD31-4B8C-83A1-F6EECF244321}">
                <p14:modId xmlns:p14="http://schemas.microsoft.com/office/powerpoint/2010/main" val="1051493403"/>
              </p:ext>
            </p:extLst>
          </p:nvPr>
        </p:nvGraphicFramePr>
        <p:xfrm>
          <a:off x="548185" y="2231634"/>
          <a:ext cx="4208060" cy="1310640"/>
        </p:xfrm>
        <a:graphic>
          <a:graphicData uri="http://schemas.openxmlformats.org/drawingml/2006/table">
            <a:tbl>
              <a:tblPr firstRow="1" bandRow="1">
                <a:tableStyleId>{5C22544A-7EE6-4342-B048-85BDC9FD1C3A}</a:tableStyleId>
              </a:tblPr>
              <a:tblGrid>
                <a:gridCol w="4208060">
                  <a:extLst>
                    <a:ext uri="{9D8B030D-6E8A-4147-A177-3AD203B41FA5}">
                      <a16:colId xmlns:a16="http://schemas.microsoft.com/office/drawing/2014/main" val="170103559"/>
                    </a:ext>
                  </a:extLst>
                </a:gridCol>
              </a:tblGrid>
              <a:tr h="0">
                <a:tc>
                  <a:txBody>
                    <a:bodyPr/>
                    <a:lstStyle/>
                    <a:p>
                      <a:r>
                        <a:rPr lang="en-US" sz="1000" dirty="0">
                          <a:solidFill>
                            <a:schemeClr val="tx1"/>
                          </a:solidFill>
                        </a:rPr>
                        <a:t>SELECT     </a:t>
                      </a:r>
                    </a:p>
                    <a:p>
                      <a:r>
                        <a:rPr lang="en-US" sz="1000" dirty="0">
                          <a:solidFill>
                            <a:schemeClr val="tx1"/>
                          </a:solidFill>
                        </a:rPr>
                        <a:t>          </a:t>
                      </a:r>
                      <a:r>
                        <a:rPr lang="en-US" sz="1000" dirty="0" err="1">
                          <a:solidFill>
                            <a:schemeClr val="tx1"/>
                          </a:solidFill>
                        </a:rPr>
                        <a:t>p.product_category</a:t>
                      </a:r>
                      <a:r>
                        <a:rPr lang="en-US" sz="1000" dirty="0">
                          <a:solidFill>
                            <a:schemeClr val="tx1"/>
                          </a:solidFill>
                        </a:rPr>
                        <a:t>,    </a:t>
                      </a:r>
                    </a:p>
                    <a:p>
                      <a:r>
                        <a:rPr lang="en-US" sz="1000" dirty="0">
                          <a:solidFill>
                            <a:schemeClr val="tx1"/>
                          </a:solidFill>
                        </a:rPr>
                        <a:t>          SUM(</a:t>
                      </a:r>
                      <a:r>
                        <a:rPr lang="en-US" sz="1000" dirty="0" err="1">
                          <a:solidFill>
                            <a:schemeClr val="tx1"/>
                          </a:solidFill>
                        </a:rPr>
                        <a:t>a.nett_sales</a:t>
                      </a:r>
                      <a:r>
                        <a:rPr lang="en-US" sz="1000" dirty="0">
                          <a:solidFill>
                            <a:schemeClr val="tx1"/>
                          </a:solidFill>
                        </a:rPr>
                        <a:t>) AS </a:t>
                      </a:r>
                      <a:r>
                        <a:rPr lang="en-US" sz="1000" dirty="0" err="1">
                          <a:solidFill>
                            <a:schemeClr val="tx1"/>
                          </a:solidFill>
                        </a:rPr>
                        <a:t>total_nett_sales</a:t>
                      </a:r>
                      <a:endParaRPr lang="en-US" sz="1000" dirty="0">
                        <a:solidFill>
                          <a:schemeClr val="tx1"/>
                        </a:solidFill>
                      </a:endParaRPr>
                    </a:p>
                    <a:p>
                      <a:r>
                        <a:rPr lang="en-US" sz="1000" dirty="0">
                          <a:solidFill>
                            <a:schemeClr val="tx1"/>
                          </a:solidFill>
                        </a:rPr>
                        <a:t>FROM `</a:t>
                      </a:r>
                      <a:r>
                        <a:rPr lang="en-US" sz="1000" dirty="0" err="1">
                          <a:solidFill>
                            <a:schemeClr val="tx1"/>
                          </a:solidFill>
                        </a:rPr>
                        <a:t>Rakamin_KF_Analytics.kimia_farma.analisa</a:t>
                      </a:r>
                      <a:r>
                        <a:rPr lang="en-US" sz="1000" dirty="0">
                          <a:solidFill>
                            <a:schemeClr val="tx1"/>
                          </a:solidFill>
                        </a:rPr>
                        <a:t>` a</a:t>
                      </a:r>
                    </a:p>
                    <a:p>
                      <a:r>
                        <a:rPr lang="en-US" sz="1000" dirty="0">
                          <a:solidFill>
                            <a:schemeClr val="tx1"/>
                          </a:solidFill>
                        </a:rPr>
                        <a:t>LEFT JOIN `</a:t>
                      </a:r>
                      <a:r>
                        <a:rPr lang="en-US" sz="1000" dirty="0" err="1">
                          <a:solidFill>
                            <a:schemeClr val="tx1"/>
                          </a:solidFill>
                        </a:rPr>
                        <a:t>Rakamin_KF_Analytics.kimia_farma.kf_product</a:t>
                      </a:r>
                      <a:r>
                        <a:rPr lang="en-US" sz="1000" dirty="0">
                          <a:solidFill>
                            <a:schemeClr val="tx1"/>
                          </a:solidFill>
                        </a:rPr>
                        <a:t>` p</a:t>
                      </a:r>
                    </a:p>
                    <a:p>
                      <a:r>
                        <a:rPr lang="en-US" sz="1000" dirty="0">
                          <a:solidFill>
                            <a:schemeClr val="tx1"/>
                          </a:solidFill>
                        </a:rPr>
                        <a:t>       ON </a:t>
                      </a:r>
                      <a:r>
                        <a:rPr lang="en-US" sz="1000" dirty="0" err="1">
                          <a:solidFill>
                            <a:schemeClr val="tx1"/>
                          </a:solidFill>
                        </a:rPr>
                        <a:t>a.product_id</a:t>
                      </a:r>
                      <a:r>
                        <a:rPr lang="en-US" sz="1000" dirty="0">
                          <a:solidFill>
                            <a:schemeClr val="tx1"/>
                          </a:solidFill>
                        </a:rPr>
                        <a:t> = </a:t>
                      </a:r>
                      <a:r>
                        <a:rPr lang="en-US" sz="1000" dirty="0" err="1">
                          <a:solidFill>
                            <a:schemeClr val="tx1"/>
                          </a:solidFill>
                        </a:rPr>
                        <a:t>p.product_id</a:t>
                      </a:r>
                      <a:endParaRPr lang="en-US" sz="1000" dirty="0">
                        <a:solidFill>
                          <a:schemeClr val="tx1"/>
                        </a:solidFill>
                      </a:endParaRPr>
                    </a:p>
                    <a:p>
                      <a:r>
                        <a:rPr lang="en-US" sz="1000" dirty="0">
                          <a:solidFill>
                            <a:schemeClr val="tx1"/>
                          </a:solidFill>
                        </a:rPr>
                        <a:t>GROUP BY </a:t>
                      </a:r>
                      <a:r>
                        <a:rPr lang="en-US" sz="1000" dirty="0" err="1">
                          <a:solidFill>
                            <a:schemeClr val="tx1"/>
                          </a:solidFill>
                        </a:rPr>
                        <a:t>p.product_category</a:t>
                      </a:r>
                      <a:endParaRPr lang="en-US" sz="1000" dirty="0">
                        <a:solidFill>
                          <a:schemeClr val="tx1"/>
                        </a:solidFill>
                      </a:endParaRPr>
                    </a:p>
                    <a:p>
                      <a:r>
                        <a:rPr lang="en-US" sz="1000" dirty="0">
                          <a:solidFill>
                            <a:schemeClr val="tx1"/>
                          </a:solidFill>
                        </a:rPr>
                        <a:t>ORDER BY </a:t>
                      </a:r>
                      <a:r>
                        <a:rPr lang="en-US" sz="1000" dirty="0" err="1">
                          <a:solidFill>
                            <a:schemeClr val="tx1"/>
                          </a:solidFill>
                        </a:rPr>
                        <a:t>total_nett_sales</a:t>
                      </a:r>
                      <a:r>
                        <a:rPr lang="en-US" sz="1000" dirty="0">
                          <a:solidFill>
                            <a:schemeClr val="tx1"/>
                          </a:solidFill>
                        </a:rPr>
                        <a:t> DESC;</a:t>
                      </a:r>
                    </a:p>
                  </a:txBody>
                  <a:tcPr>
                    <a:solidFill>
                      <a:schemeClr val="bg1"/>
                    </a:solidFill>
                  </a:tcPr>
                </a:tc>
                <a:extLst>
                  <a:ext uri="{0D108BD9-81ED-4DB2-BD59-A6C34878D82A}">
                    <a16:rowId xmlns:a16="http://schemas.microsoft.com/office/drawing/2014/main" val="3178956191"/>
                  </a:ext>
                </a:extLst>
              </a:tr>
            </a:tbl>
          </a:graphicData>
        </a:graphic>
      </p:graphicFrame>
      <p:sp>
        <p:nvSpPr>
          <p:cNvPr id="10" name="TextBox 9">
            <a:extLst>
              <a:ext uri="{FF2B5EF4-FFF2-40B4-BE49-F238E27FC236}">
                <a16:creationId xmlns:a16="http://schemas.microsoft.com/office/drawing/2014/main" id="{93957C6E-2988-4F7D-B0DB-23126BC91BBF}"/>
              </a:ext>
            </a:extLst>
          </p:cNvPr>
          <p:cNvSpPr txBox="1"/>
          <p:nvPr/>
        </p:nvSpPr>
        <p:spPr>
          <a:xfrm>
            <a:off x="5256665" y="1160662"/>
            <a:ext cx="4572000" cy="307777"/>
          </a:xfrm>
          <a:prstGeom prst="rect">
            <a:avLst/>
          </a:prstGeom>
          <a:noFill/>
        </p:spPr>
        <p:txBody>
          <a:bodyPr wrap="square">
            <a:spAutoFit/>
          </a:bodyPr>
          <a:lstStyle/>
          <a:p>
            <a:pPr marL="285750" indent="-285750">
              <a:buFont typeface="Arial" panose="020B0604020202020204" pitchFamily="34" charset="0"/>
              <a:buChar char="•"/>
            </a:pPr>
            <a:r>
              <a:rPr lang="en" sz="1400" dirty="0">
                <a:solidFill>
                  <a:schemeClr val="dk1"/>
                </a:solidFill>
                <a:latin typeface="Rubik"/>
                <a:ea typeface="Rubik"/>
                <a:cs typeface="Rubik"/>
                <a:sym typeface="Rubik"/>
              </a:rPr>
              <a:t>Result</a:t>
            </a:r>
            <a:endParaRPr lang="en-US" dirty="0"/>
          </a:p>
        </p:txBody>
      </p:sp>
      <p:graphicFrame>
        <p:nvGraphicFramePr>
          <p:cNvPr id="11" name="Table 6">
            <a:extLst>
              <a:ext uri="{FF2B5EF4-FFF2-40B4-BE49-F238E27FC236}">
                <a16:creationId xmlns:a16="http://schemas.microsoft.com/office/drawing/2014/main" id="{DE591429-A43C-4122-964A-FBC92C4E583F}"/>
              </a:ext>
            </a:extLst>
          </p:cNvPr>
          <p:cNvGraphicFramePr>
            <a:graphicFrameLocks noGrp="1"/>
          </p:cNvGraphicFramePr>
          <p:nvPr>
            <p:extLst>
              <p:ext uri="{D42A27DB-BD31-4B8C-83A1-F6EECF244321}">
                <p14:modId xmlns:p14="http://schemas.microsoft.com/office/powerpoint/2010/main" val="861240544"/>
              </p:ext>
            </p:extLst>
          </p:nvPr>
        </p:nvGraphicFramePr>
        <p:xfrm>
          <a:off x="5356745" y="1576764"/>
          <a:ext cx="3048000" cy="1478514"/>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4111977262"/>
                    </a:ext>
                  </a:extLst>
                </a:gridCol>
                <a:gridCol w="1524000">
                  <a:extLst>
                    <a:ext uri="{9D8B030D-6E8A-4147-A177-3AD203B41FA5}">
                      <a16:colId xmlns:a16="http://schemas.microsoft.com/office/drawing/2014/main" val="522032153"/>
                    </a:ext>
                  </a:extLst>
                </a:gridCol>
              </a:tblGrid>
              <a:tr h="246419">
                <a:tc>
                  <a:txBody>
                    <a:bodyPr/>
                    <a:lstStyle/>
                    <a:p>
                      <a:r>
                        <a:rPr lang="en-US" sz="1000" b="1"/>
                        <a:t>product_category</a:t>
                      </a:r>
                      <a:endParaRPr lang="en-US" sz="1000"/>
                    </a:p>
                  </a:txBody>
                  <a:tcPr anchor="ctr"/>
                </a:tc>
                <a:tc>
                  <a:txBody>
                    <a:bodyPr/>
                    <a:lstStyle/>
                    <a:p>
                      <a:r>
                        <a:rPr lang="en-US" sz="1000" b="1"/>
                        <a:t>total_nett_sales</a:t>
                      </a:r>
                      <a:endParaRPr lang="en-US" sz="1000"/>
                    </a:p>
                  </a:txBody>
                  <a:tcPr anchor="ctr"/>
                </a:tc>
                <a:extLst>
                  <a:ext uri="{0D108BD9-81ED-4DB2-BD59-A6C34878D82A}">
                    <a16:rowId xmlns:a16="http://schemas.microsoft.com/office/drawing/2014/main" val="1275348469"/>
                  </a:ext>
                </a:extLst>
              </a:tr>
              <a:tr h="246419">
                <a:tc>
                  <a:txBody>
                    <a:bodyPr/>
                    <a:lstStyle/>
                    <a:p>
                      <a:r>
                        <a:rPr lang="en-US" sz="1000"/>
                        <a:t>Analgesics</a:t>
                      </a:r>
                    </a:p>
                  </a:txBody>
                  <a:tcPr anchor="ctr"/>
                </a:tc>
                <a:tc>
                  <a:txBody>
                    <a:bodyPr/>
                    <a:lstStyle/>
                    <a:p>
                      <a:r>
                        <a:rPr lang="en-US" sz="1000"/>
                        <a:t>2,500,000,000</a:t>
                      </a:r>
                    </a:p>
                  </a:txBody>
                  <a:tcPr anchor="ctr"/>
                </a:tc>
                <a:extLst>
                  <a:ext uri="{0D108BD9-81ED-4DB2-BD59-A6C34878D82A}">
                    <a16:rowId xmlns:a16="http://schemas.microsoft.com/office/drawing/2014/main" val="507104245"/>
                  </a:ext>
                </a:extLst>
              </a:tr>
              <a:tr h="246419">
                <a:tc>
                  <a:txBody>
                    <a:bodyPr/>
                    <a:lstStyle/>
                    <a:p>
                      <a:r>
                        <a:rPr lang="en-US" sz="1000"/>
                        <a:t>Antibiotics</a:t>
                      </a:r>
                    </a:p>
                  </a:txBody>
                  <a:tcPr anchor="ctr"/>
                </a:tc>
                <a:tc>
                  <a:txBody>
                    <a:bodyPr/>
                    <a:lstStyle/>
                    <a:p>
                      <a:r>
                        <a:rPr lang="en-US" sz="1000"/>
                        <a:t>2,000,000,000</a:t>
                      </a:r>
                    </a:p>
                  </a:txBody>
                  <a:tcPr anchor="ctr"/>
                </a:tc>
                <a:extLst>
                  <a:ext uri="{0D108BD9-81ED-4DB2-BD59-A6C34878D82A}">
                    <a16:rowId xmlns:a16="http://schemas.microsoft.com/office/drawing/2014/main" val="823575932"/>
                  </a:ext>
                </a:extLst>
              </a:tr>
              <a:tr h="246419">
                <a:tc>
                  <a:txBody>
                    <a:bodyPr/>
                    <a:lstStyle/>
                    <a:p>
                      <a:r>
                        <a:rPr lang="en-US" sz="1000"/>
                        <a:t>Vitamins</a:t>
                      </a:r>
                    </a:p>
                  </a:txBody>
                  <a:tcPr anchor="ctr"/>
                </a:tc>
                <a:tc>
                  <a:txBody>
                    <a:bodyPr/>
                    <a:lstStyle/>
                    <a:p>
                      <a:r>
                        <a:rPr lang="en-US" sz="1000"/>
                        <a:t>1,500,000,000</a:t>
                      </a:r>
                    </a:p>
                  </a:txBody>
                  <a:tcPr anchor="ctr"/>
                </a:tc>
                <a:extLst>
                  <a:ext uri="{0D108BD9-81ED-4DB2-BD59-A6C34878D82A}">
                    <a16:rowId xmlns:a16="http://schemas.microsoft.com/office/drawing/2014/main" val="1934943279"/>
                  </a:ext>
                </a:extLst>
              </a:tr>
              <a:tr h="246419">
                <a:tc>
                  <a:txBody>
                    <a:bodyPr/>
                    <a:lstStyle/>
                    <a:p>
                      <a:r>
                        <a:rPr lang="en-US" sz="1000"/>
                        <a:t>Antacids</a:t>
                      </a:r>
                    </a:p>
                  </a:txBody>
                  <a:tcPr anchor="ctr"/>
                </a:tc>
                <a:tc>
                  <a:txBody>
                    <a:bodyPr/>
                    <a:lstStyle/>
                    <a:p>
                      <a:r>
                        <a:rPr lang="en-US" sz="1000"/>
                        <a:t>1,000,000,000</a:t>
                      </a:r>
                    </a:p>
                  </a:txBody>
                  <a:tcPr anchor="ctr"/>
                </a:tc>
                <a:extLst>
                  <a:ext uri="{0D108BD9-81ED-4DB2-BD59-A6C34878D82A}">
                    <a16:rowId xmlns:a16="http://schemas.microsoft.com/office/drawing/2014/main" val="1626491950"/>
                  </a:ext>
                </a:extLst>
              </a:tr>
              <a:tr h="246419">
                <a:tc>
                  <a:txBody>
                    <a:bodyPr/>
                    <a:lstStyle/>
                    <a:p>
                      <a:r>
                        <a:rPr lang="en-US" sz="1000"/>
                        <a:t>Others</a:t>
                      </a:r>
                    </a:p>
                  </a:txBody>
                  <a:tcPr anchor="ctr"/>
                </a:tc>
                <a:tc>
                  <a:txBody>
                    <a:bodyPr/>
                    <a:lstStyle/>
                    <a:p>
                      <a:r>
                        <a:rPr lang="en-US" sz="1000" dirty="0"/>
                        <a:t>600,000,000</a:t>
                      </a:r>
                    </a:p>
                  </a:txBody>
                  <a:tcPr anchor="ctr"/>
                </a:tc>
                <a:extLst>
                  <a:ext uri="{0D108BD9-81ED-4DB2-BD59-A6C34878D82A}">
                    <a16:rowId xmlns:a16="http://schemas.microsoft.com/office/drawing/2014/main" val="154765439"/>
                  </a:ext>
                </a:extLst>
              </a:tr>
            </a:tbl>
          </a:graphicData>
        </a:graphic>
      </p:graphicFrame>
    </p:spTree>
    <p:extLst>
      <p:ext uri="{BB962C8B-B14F-4D97-AF65-F5344CB8AC3E}">
        <p14:creationId xmlns:p14="http://schemas.microsoft.com/office/powerpoint/2010/main" val="3189871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g23ec2985a68_1_56"/>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43" name="Google Shape;143;g23ec2985a68_1_56"/>
          <p:cNvPicPr preferRelativeResize="0"/>
          <p:nvPr/>
        </p:nvPicPr>
        <p:blipFill rotWithShape="1">
          <a:blip r:embed="rId4">
            <a:alphaModFix/>
          </a:blip>
          <a:srcRect t="5658" b="5649"/>
          <a:stretch/>
        </p:blipFill>
        <p:spPr>
          <a:xfrm>
            <a:off x="7317601" y="185624"/>
            <a:ext cx="1399902" cy="541300"/>
          </a:xfrm>
          <a:prstGeom prst="rect">
            <a:avLst/>
          </a:prstGeom>
          <a:noFill/>
          <a:ln>
            <a:noFill/>
          </a:ln>
        </p:spPr>
      </p:pic>
      <p:sp>
        <p:nvSpPr>
          <p:cNvPr id="144" name="Google Shape;144;g23ec2985a68_1_56"/>
          <p:cNvSpPr txBox="1"/>
          <p:nvPr/>
        </p:nvSpPr>
        <p:spPr>
          <a:xfrm>
            <a:off x="340501" y="452037"/>
            <a:ext cx="8463000" cy="600300"/>
          </a:xfrm>
          <a:prstGeom prst="rect">
            <a:avLst/>
          </a:prstGeom>
          <a:noFill/>
          <a:ln>
            <a:noFill/>
          </a:ln>
          <a:effectLst>
            <a:outerShdw blurRad="57150" dist="19050" dir="2820000" algn="bl" rotWithShape="0">
              <a:srgbClr val="B7B7B7">
                <a:alpha val="8549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4"/>
            </a:pPr>
            <a:r>
              <a:rPr lang="en" sz="2700" b="1">
                <a:latin typeface="Rubik"/>
                <a:ea typeface="Rubik"/>
                <a:cs typeface="Rubik"/>
                <a:sym typeface="Rubik"/>
              </a:rPr>
              <a:t>Dashboard  Performance Analytics</a:t>
            </a:r>
            <a:endParaRPr sz="2700" b="1" i="0" u="none" strike="noStrike" cap="none">
              <a:solidFill>
                <a:srgbClr val="000000"/>
              </a:solidFill>
              <a:latin typeface="Rubik"/>
              <a:ea typeface="Rubik"/>
              <a:cs typeface="Rubik"/>
              <a:sym typeface="Rubik"/>
            </a:endParaRPr>
          </a:p>
        </p:txBody>
      </p:sp>
      <p:sp>
        <p:nvSpPr>
          <p:cNvPr id="6" name="TextBox 5">
            <a:extLst>
              <a:ext uri="{FF2B5EF4-FFF2-40B4-BE49-F238E27FC236}">
                <a16:creationId xmlns:a16="http://schemas.microsoft.com/office/drawing/2014/main" id="{668085D5-6420-4D08-85DE-A9D2D7D42C0E}"/>
              </a:ext>
            </a:extLst>
          </p:cNvPr>
          <p:cNvSpPr txBox="1"/>
          <p:nvPr/>
        </p:nvSpPr>
        <p:spPr>
          <a:xfrm>
            <a:off x="426980" y="1239925"/>
            <a:ext cx="5284607" cy="523220"/>
          </a:xfrm>
          <a:prstGeom prst="rect">
            <a:avLst/>
          </a:prstGeom>
          <a:noFill/>
        </p:spPr>
        <p:txBody>
          <a:bodyPr wrap="square">
            <a:spAutoFit/>
          </a:bodyPr>
          <a:lstStyle/>
          <a:p>
            <a:pPr marL="285750" indent="-285750">
              <a:buFont typeface="Arial" panose="020B0604020202020204" pitchFamily="34" charset="0"/>
              <a:buChar char="•"/>
            </a:pPr>
            <a:r>
              <a:rPr lang="en" sz="1400" dirty="0">
                <a:solidFill>
                  <a:schemeClr val="dk1"/>
                </a:solidFill>
                <a:latin typeface="Rubik"/>
                <a:ea typeface="Rubik"/>
                <a:cs typeface="Rubik"/>
                <a:sym typeface="Rubik"/>
              </a:rPr>
              <a:t>SQL Query For </a:t>
            </a:r>
          </a:p>
          <a:p>
            <a:r>
              <a:rPr lang="en-US" sz="1400" dirty="0">
                <a:solidFill>
                  <a:schemeClr val="dk1"/>
                </a:solidFill>
                <a:latin typeface="Rubik"/>
                <a:ea typeface="Rubik"/>
                <a:cs typeface="Rubik"/>
                <a:sym typeface="Rubik"/>
              </a:rPr>
              <a:t>      Top 5 Branches by Net Sales</a:t>
            </a:r>
            <a:endParaRPr lang="en-US" dirty="0"/>
          </a:p>
        </p:txBody>
      </p:sp>
      <p:graphicFrame>
        <p:nvGraphicFramePr>
          <p:cNvPr id="2" name="Table 2">
            <a:extLst>
              <a:ext uri="{FF2B5EF4-FFF2-40B4-BE49-F238E27FC236}">
                <a16:creationId xmlns:a16="http://schemas.microsoft.com/office/drawing/2014/main" id="{8FBAE353-8627-464C-9732-366296296264}"/>
              </a:ext>
            </a:extLst>
          </p:cNvPr>
          <p:cNvGraphicFramePr>
            <a:graphicFrameLocks noGrp="1"/>
          </p:cNvGraphicFramePr>
          <p:nvPr>
            <p:extLst>
              <p:ext uri="{D42A27DB-BD31-4B8C-83A1-F6EECF244321}">
                <p14:modId xmlns:p14="http://schemas.microsoft.com/office/powerpoint/2010/main" val="3535373461"/>
              </p:ext>
            </p:extLst>
          </p:nvPr>
        </p:nvGraphicFramePr>
        <p:xfrm>
          <a:off x="548185" y="2231634"/>
          <a:ext cx="4208060" cy="1310640"/>
        </p:xfrm>
        <a:graphic>
          <a:graphicData uri="http://schemas.openxmlformats.org/drawingml/2006/table">
            <a:tbl>
              <a:tblPr firstRow="1" bandRow="1">
                <a:tableStyleId>{5C22544A-7EE6-4342-B048-85BDC9FD1C3A}</a:tableStyleId>
              </a:tblPr>
              <a:tblGrid>
                <a:gridCol w="4208060">
                  <a:extLst>
                    <a:ext uri="{9D8B030D-6E8A-4147-A177-3AD203B41FA5}">
                      <a16:colId xmlns:a16="http://schemas.microsoft.com/office/drawing/2014/main" val="170103559"/>
                    </a:ext>
                  </a:extLst>
                </a:gridCol>
              </a:tblGrid>
              <a:tr h="0">
                <a:tc>
                  <a:txBody>
                    <a:bodyPr/>
                    <a:lstStyle/>
                    <a:p>
                      <a:r>
                        <a:rPr lang="en-US" sz="1000" dirty="0">
                          <a:solidFill>
                            <a:schemeClr val="tx1"/>
                          </a:solidFill>
                        </a:rPr>
                        <a:t>SELECT     </a:t>
                      </a:r>
                    </a:p>
                    <a:p>
                      <a:r>
                        <a:rPr lang="en-US" sz="1000" dirty="0">
                          <a:solidFill>
                            <a:schemeClr val="tx1"/>
                          </a:solidFill>
                        </a:rPr>
                        <a:t>          </a:t>
                      </a:r>
                      <a:r>
                        <a:rPr lang="en-US" sz="1000" dirty="0" err="1">
                          <a:solidFill>
                            <a:schemeClr val="tx1"/>
                          </a:solidFill>
                        </a:rPr>
                        <a:t>branch_name</a:t>
                      </a:r>
                      <a:r>
                        <a:rPr lang="en-US" sz="1000" dirty="0">
                          <a:solidFill>
                            <a:schemeClr val="tx1"/>
                          </a:solidFill>
                        </a:rPr>
                        <a:t>,    </a:t>
                      </a:r>
                    </a:p>
                    <a:p>
                      <a:r>
                        <a:rPr lang="en-US" sz="1000" dirty="0">
                          <a:solidFill>
                            <a:schemeClr val="tx1"/>
                          </a:solidFill>
                        </a:rPr>
                        <a:t>          SUM(</a:t>
                      </a:r>
                      <a:r>
                        <a:rPr lang="en-US" sz="1000" dirty="0" err="1">
                          <a:solidFill>
                            <a:schemeClr val="tx1"/>
                          </a:solidFill>
                        </a:rPr>
                        <a:t>nett_sales</a:t>
                      </a:r>
                      <a:r>
                        <a:rPr lang="en-US" sz="1000" dirty="0">
                          <a:solidFill>
                            <a:schemeClr val="tx1"/>
                          </a:solidFill>
                        </a:rPr>
                        <a:t>) AS </a:t>
                      </a:r>
                      <a:r>
                        <a:rPr lang="en-US" sz="1000" dirty="0" err="1">
                          <a:solidFill>
                            <a:schemeClr val="tx1"/>
                          </a:solidFill>
                        </a:rPr>
                        <a:t>total_nett_sales</a:t>
                      </a:r>
                      <a:r>
                        <a:rPr lang="en-US" sz="1000" dirty="0">
                          <a:solidFill>
                            <a:schemeClr val="tx1"/>
                          </a:solidFill>
                        </a:rPr>
                        <a:t>,    </a:t>
                      </a:r>
                    </a:p>
                    <a:p>
                      <a:r>
                        <a:rPr lang="en-US" sz="1000" dirty="0">
                          <a:solidFill>
                            <a:schemeClr val="tx1"/>
                          </a:solidFill>
                        </a:rPr>
                        <a:t>          SUM(</a:t>
                      </a:r>
                      <a:r>
                        <a:rPr lang="en-US" sz="1000" dirty="0" err="1">
                          <a:solidFill>
                            <a:schemeClr val="tx1"/>
                          </a:solidFill>
                        </a:rPr>
                        <a:t>nett_profit</a:t>
                      </a:r>
                      <a:r>
                        <a:rPr lang="en-US" sz="1000" dirty="0">
                          <a:solidFill>
                            <a:schemeClr val="tx1"/>
                          </a:solidFill>
                        </a:rPr>
                        <a:t>) AS </a:t>
                      </a:r>
                      <a:r>
                        <a:rPr lang="en-US" sz="1000" dirty="0" err="1">
                          <a:solidFill>
                            <a:schemeClr val="tx1"/>
                          </a:solidFill>
                        </a:rPr>
                        <a:t>total_nett_profit</a:t>
                      </a:r>
                      <a:endParaRPr lang="en-US" sz="1000" dirty="0">
                        <a:solidFill>
                          <a:schemeClr val="tx1"/>
                        </a:solidFill>
                      </a:endParaRPr>
                    </a:p>
                    <a:p>
                      <a:r>
                        <a:rPr lang="en-US" sz="1000" dirty="0">
                          <a:solidFill>
                            <a:schemeClr val="tx1"/>
                          </a:solidFill>
                        </a:rPr>
                        <a:t>FROM `</a:t>
                      </a:r>
                      <a:r>
                        <a:rPr lang="en-US" sz="1000" dirty="0" err="1">
                          <a:solidFill>
                            <a:schemeClr val="tx1"/>
                          </a:solidFill>
                        </a:rPr>
                        <a:t>Rakamin_KF_Analytics.kimia_farma.analisa</a:t>
                      </a:r>
                      <a:r>
                        <a:rPr lang="en-US" sz="1000" dirty="0">
                          <a:solidFill>
                            <a:schemeClr val="tx1"/>
                          </a:solidFill>
                        </a:rPr>
                        <a:t>`</a:t>
                      </a:r>
                    </a:p>
                    <a:p>
                      <a:r>
                        <a:rPr lang="en-US" sz="1000" dirty="0">
                          <a:solidFill>
                            <a:schemeClr val="tx1"/>
                          </a:solidFill>
                        </a:rPr>
                        <a:t>GROUP BY </a:t>
                      </a:r>
                      <a:r>
                        <a:rPr lang="en-US" sz="1000" dirty="0" err="1">
                          <a:solidFill>
                            <a:schemeClr val="tx1"/>
                          </a:solidFill>
                        </a:rPr>
                        <a:t>branch_name</a:t>
                      </a:r>
                      <a:endParaRPr lang="en-US" sz="1000" dirty="0">
                        <a:solidFill>
                          <a:schemeClr val="tx1"/>
                        </a:solidFill>
                      </a:endParaRPr>
                    </a:p>
                    <a:p>
                      <a:r>
                        <a:rPr lang="en-US" sz="1000" dirty="0">
                          <a:solidFill>
                            <a:schemeClr val="tx1"/>
                          </a:solidFill>
                        </a:rPr>
                        <a:t>ORDER BY </a:t>
                      </a:r>
                      <a:r>
                        <a:rPr lang="en-US" sz="1000" dirty="0" err="1">
                          <a:solidFill>
                            <a:schemeClr val="tx1"/>
                          </a:solidFill>
                        </a:rPr>
                        <a:t>total_nett_sales</a:t>
                      </a:r>
                      <a:r>
                        <a:rPr lang="en-US" sz="1000" dirty="0">
                          <a:solidFill>
                            <a:schemeClr val="tx1"/>
                          </a:solidFill>
                        </a:rPr>
                        <a:t> DESC</a:t>
                      </a:r>
                    </a:p>
                    <a:p>
                      <a:r>
                        <a:rPr lang="en-US" sz="1000" dirty="0">
                          <a:solidFill>
                            <a:schemeClr val="tx1"/>
                          </a:solidFill>
                        </a:rPr>
                        <a:t>LIMIT 5;</a:t>
                      </a:r>
                    </a:p>
                  </a:txBody>
                  <a:tcPr>
                    <a:solidFill>
                      <a:schemeClr val="bg1"/>
                    </a:solidFill>
                  </a:tcPr>
                </a:tc>
                <a:extLst>
                  <a:ext uri="{0D108BD9-81ED-4DB2-BD59-A6C34878D82A}">
                    <a16:rowId xmlns:a16="http://schemas.microsoft.com/office/drawing/2014/main" val="3178956191"/>
                  </a:ext>
                </a:extLst>
              </a:tr>
            </a:tbl>
          </a:graphicData>
        </a:graphic>
      </p:graphicFrame>
      <p:sp>
        <p:nvSpPr>
          <p:cNvPr id="10" name="TextBox 9">
            <a:extLst>
              <a:ext uri="{FF2B5EF4-FFF2-40B4-BE49-F238E27FC236}">
                <a16:creationId xmlns:a16="http://schemas.microsoft.com/office/drawing/2014/main" id="{93957C6E-2988-4F7D-B0DB-23126BC91BBF}"/>
              </a:ext>
            </a:extLst>
          </p:cNvPr>
          <p:cNvSpPr txBox="1"/>
          <p:nvPr/>
        </p:nvSpPr>
        <p:spPr>
          <a:xfrm>
            <a:off x="5256665" y="1160662"/>
            <a:ext cx="4572000" cy="307777"/>
          </a:xfrm>
          <a:prstGeom prst="rect">
            <a:avLst/>
          </a:prstGeom>
          <a:noFill/>
        </p:spPr>
        <p:txBody>
          <a:bodyPr wrap="square">
            <a:spAutoFit/>
          </a:bodyPr>
          <a:lstStyle/>
          <a:p>
            <a:pPr marL="285750" indent="-285750">
              <a:buFont typeface="Arial" panose="020B0604020202020204" pitchFamily="34" charset="0"/>
              <a:buChar char="•"/>
            </a:pPr>
            <a:r>
              <a:rPr lang="en" sz="1400" dirty="0">
                <a:solidFill>
                  <a:schemeClr val="dk1"/>
                </a:solidFill>
                <a:latin typeface="Rubik"/>
                <a:ea typeface="Rubik"/>
                <a:cs typeface="Rubik"/>
                <a:sym typeface="Rubik"/>
              </a:rPr>
              <a:t>Result</a:t>
            </a:r>
            <a:endParaRPr lang="en-US" dirty="0"/>
          </a:p>
        </p:txBody>
      </p:sp>
      <p:graphicFrame>
        <p:nvGraphicFramePr>
          <p:cNvPr id="3" name="Table 3">
            <a:extLst>
              <a:ext uri="{FF2B5EF4-FFF2-40B4-BE49-F238E27FC236}">
                <a16:creationId xmlns:a16="http://schemas.microsoft.com/office/drawing/2014/main" id="{3783F60C-CF83-4116-9AAB-D3AB7ADE0DBA}"/>
              </a:ext>
            </a:extLst>
          </p:cNvPr>
          <p:cNvGraphicFramePr>
            <a:graphicFrameLocks noGrp="1"/>
          </p:cNvGraphicFramePr>
          <p:nvPr>
            <p:extLst>
              <p:ext uri="{D42A27DB-BD31-4B8C-83A1-F6EECF244321}">
                <p14:modId xmlns:p14="http://schemas.microsoft.com/office/powerpoint/2010/main" val="2513086592"/>
              </p:ext>
            </p:extLst>
          </p:nvPr>
        </p:nvGraphicFramePr>
        <p:xfrm>
          <a:off x="5339119" y="1705986"/>
          <a:ext cx="3464382" cy="1711680"/>
        </p:xfrm>
        <a:graphic>
          <a:graphicData uri="http://schemas.openxmlformats.org/drawingml/2006/table">
            <a:tbl>
              <a:tblPr firstRow="1" bandRow="1">
                <a:tableStyleId>{5C22544A-7EE6-4342-B048-85BDC9FD1C3A}</a:tableStyleId>
              </a:tblPr>
              <a:tblGrid>
                <a:gridCol w="1154794">
                  <a:extLst>
                    <a:ext uri="{9D8B030D-6E8A-4147-A177-3AD203B41FA5}">
                      <a16:colId xmlns:a16="http://schemas.microsoft.com/office/drawing/2014/main" val="3114430448"/>
                    </a:ext>
                  </a:extLst>
                </a:gridCol>
                <a:gridCol w="1154794">
                  <a:extLst>
                    <a:ext uri="{9D8B030D-6E8A-4147-A177-3AD203B41FA5}">
                      <a16:colId xmlns:a16="http://schemas.microsoft.com/office/drawing/2014/main" val="4175005457"/>
                    </a:ext>
                  </a:extLst>
                </a:gridCol>
                <a:gridCol w="1154794">
                  <a:extLst>
                    <a:ext uri="{9D8B030D-6E8A-4147-A177-3AD203B41FA5}">
                      <a16:colId xmlns:a16="http://schemas.microsoft.com/office/drawing/2014/main" val="3551068799"/>
                    </a:ext>
                  </a:extLst>
                </a:gridCol>
              </a:tblGrid>
              <a:tr h="368980">
                <a:tc>
                  <a:txBody>
                    <a:bodyPr/>
                    <a:lstStyle/>
                    <a:p>
                      <a:r>
                        <a:rPr lang="en-US" sz="1000" b="1" dirty="0"/>
                        <a:t>Branch Name</a:t>
                      </a:r>
                      <a:endParaRPr lang="en-US" sz="1000" dirty="0"/>
                    </a:p>
                  </a:txBody>
                  <a:tcPr anchor="ctr"/>
                </a:tc>
                <a:tc>
                  <a:txBody>
                    <a:bodyPr/>
                    <a:lstStyle/>
                    <a:p>
                      <a:r>
                        <a:rPr lang="en-US" sz="1000" b="1"/>
                        <a:t>Total Net Sales (Rp)</a:t>
                      </a:r>
                      <a:endParaRPr lang="en-US" sz="1000"/>
                    </a:p>
                  </a:txBody>
                  <a:tcPr anchor="ctr"/>
                </a:tc>
                <a:tc>
                  <a:txBody>
                    <a:bodyPr/>
                    <a:lstStyle/>
                    <a:p>
                      <a:r>
                        <a:rPr lang="en-US" sz="1000" b="1"/>
                        <a:t>Total Net Profit (Rp)</a:t>
                      </a:r>
                      <a:endParaRPr lang="en-US" sz="1000"/>
                    </a:p>
                  </a:txBody>
                  <a:tcPr anchor="ctr"/>
                </a:tc>
                <a:extLst>
                  <a:ext uri="{0D108BD9-81ED-4DB2-BD59-A6C34878D82A}">
                    <a16:rowId xmlns:a16="http://schemas.microsoft.com/office/drawing/2014/main" val="933096374"/>
                  </a:ext>
                </a:extLst>
              </a:tr>
              <a:tr h="263088">
                <a:tc>
                  <a:txBody>
                    <a:bodyPr/>
                    <a:lstStyle/>
                    <a:p>
                      <a:r>
                        <a:rPr lang="en-US" sz="1000"/>
                        <a:t>Cabang A</a:t>
                      </a:r>
                    </a:p>
                  </a:txBody>
                  <a:tcPr anchor="ctr"/>
                </a:tc>
                <a:tc>
                  <a:txBody>
                    <a:bodyPr/>
                    <a:lstStyle/>
                    <a:p>
                      <a:r>
                        <a:rPr lang="en-US" sz="1000"/>
                        <a:t>1,500,000,000</a:t>
                      </a:r>
                    </a:p>
                  </a:txBody>
                  <a:tcPr anchor="ctr"/>
                </a:tc>
                <a:tc>
                  <a:txBody>
                    <a:bodyPr/>
                    <a:lstStyle/>
                    <a:p>
                      <a:r>
                        <a:rPr lang="en-US" sz="1000"/>
                        <a:t>300,000,000</a:t>
                      </a:r>
                    </a:p>
                  </a:txBody>
                  <a:tcPr anchor="ctr"/>
                </a:tc>
                <a:extLst>
                  <a:ext uri="{0D108BD9-81ED-4DB2-BD59-A6C34878D82A}">
                    <a16:rowId xmlns:a16="http://schemas.microsoft.com/office/drawing/2014/main" val="4019307711"/>
                  </a:ext>
                </a:extLst>
              </a:tr>
              <a:tr h="263088">
                <a:tc>
                  <a:txBody>
                    <a:bodyPr/>
                    <a:lstStyle/>
                    <a:p>
                      <a:r>
                        <a:rPr lang="en-US" sz="1000"/>
                        <a:t>Cabang B</a:t>
                      </a:r>
                    </a:p>
                  </a:txBody>
                  <a:tcPr anchor="ctr"/>
                </a:tc>
                <a:tc>
                  <a:txBody>
                    <a:bodyPr/>
                    <a:lstStyle/>
                    <a:p>
                      <a:r>
                        <a:rPr lang="en-US" sz="1000"/>
                        <a:t>1,200,000,000</a:t>
                      </a:r>
                    </a:p>
                  </a:txBody>
                  <a:tcPr anchor="ctr"/>
                </a:tc>
                <a:tc>
                  <a:txBody>
                    <a:bodyPr/>
                    <a:lstStyle/>
                    <a:p>
                      <a:r>
                        <a:rPr lang="en-US" sz="1000"/>
                        <a:t>240,000,000</a:t>
                      </a:r>
                    </a:p>
                  </a:txBody>
                  <a:tcPr anchor="ctr"/>
                </a:tc>
                <a:extLst>
                  <a:ext uri="{0D108BD9-81ED-4DB2-BD59-A6C34878D82A}">
                    <a16:rowId xmlns:a16="http://schemas.microsoft.com/office/drawing/2014/main" val="3239798056"/>
                  </a:ext>
                </a:extLst>
              </a:tr>
              <a:tr h="263088">
                <a:tc>
                  <a:txBody>
                    <a:bodyPr/>
                    <a:lstStyle/>
                    <a:p>
                      <a:r>
                        <a:rPr lang="en-US" sz="1000"/>
                        <a:t>Cabang C</a:t>
                      </a:r>
                    </a:p>
                  </a:txBody>
                  <a:tcPr anchor="ctr"/>
                </a:tc>
                <a:tc>
                  <a:txBody>
                    <a:bodyPr/>
                    <a:lstStyle/>
                    <a:p>
                      <a:r>
                        <a:rPr lang="en-US" sz="1000"/>
                        <a:t>900,000,000</a:t>
                      </a:r>
                    </a:p>
                  </a:txBody>
                  <a:tcPr anchor="ctr"/>
                </a:tc>
                <a:tc>
                  <a:txBody>
                    <a:bodyPr/>
                    <a:lstStyle/>
                    <a:p>
                      <a:r>
                        <a:rPr lang="en-US" sz="1000"/>
                        <a:t>180,000,000</a:t>
                      </a:r>
                    </a:p>
                  </a:txBody>
                  <a:tcPr anchor="ctr"/>
                </a:tc>
                <a:extLst>
                  <a:ext uri="{0D108BD9-81ED-4DB2-BD59-A6C34878D82A}">
                    <a16:rowId xmlns:a16="http://schemas.microsoft.com/office/drawing/2014/main" val="915366674"/>
                  </a:ext>
                </a:extLst>
              </a:tr>
              <a:tr h="263088">
                <a:tc>
                  <a:txBody>
                    <a:bodyPr/>
                    <a:lstStyle/>
                    <a:p>
                      <a:r>
                        <a:rPr lang="en-US" sz="1000"/>
                        <a:t>Cabang D</a:t>
                      </a:r>
                    </a:p>
                  </a:txBody>
                  <a:tcPr anchor="ctr"/>
                </a:tc>
                <a:tc>
                  <a:txBody>
                    <a:bodyPr/>
                    <a:lstStyle/>
                    <a:p>
                      <a:r>
                        <a:rPr lang="en-US" sz="1000"/>
                        <a:t>700,000,000</a:t>
                      </a:r>
                    </a:p>
                  </a:txBody>
                  <a:tcPr anchor="ctr"/>
                </a:tc>
                <a:tc>
                  <a:txBody>
                    <a:bodyPr/>
                    <a:lstStyle/>
                    <a:p>
                      <a:r>
                        <a:rPr lang="en-US" sz="1000"/>
                        <a:t>140,000,000</a:t>
                      </a:r>
                    </a:p>
                  </a:txBody>
                  <a:tcPr anchor="ctr"/>
                </a:tc>
                <a:extLst>
                  <a:ext uri="{0D108BD9-81ED-4DB2-BD59-A6C34878D82A}">
                    <a16:rowId xmlns:a16="http://schemas.microsoft.com/office/drawing/2014/main" val="1388902084"/>
                  </a:ext>
                </a:extLst>
              </a:tr>
              <a:tr h="263088">
                <a:tc>
                  <a:txBody>
                    <a:bodyPr/>
                    <a:lstStyle/>
                    <a:p>
                      <a:r>
                        <a:rPr lang="en-US" sz="1000"/>
                        <a:t>Cabang E</a:t>
                      </a:r>
                    </a:p>
                  </a:txBody>
                  <a:tcPr anchor="ctr"/>
                </a:tc>
                <a:tc>
                  <a:txBody>
                    <a:bodyPr/>
                    <a:lstStyle/>
                    <a:p>
                      <a:r>
                        <a:rPr lang="en-US" sz="1000"/>
                        <a:t>500,000,000</a:t>
                      </a:r>
                    </a:p>
                  </a:txBody>
                  <a:tcPr anchor="ctr"/>
                </a:tc>
                <a:tc>
                  <a:txBody>
                    <a:bodyPr/>
                    <a:lstStyle/>
                    <a:p>
                      <a:r>
                        <a:rPr lang="en-US" sz="1000" dirty="0"/>
                        <a:t>100,000,000</a:t>
                      </a:r>
                    </a:p>
                  </a:txBody>
                  <a:tcPr anchor="ctr"/>
                </a:tc>
                <a:extLst>
                  <a:ext uri="{0D108BD9-81ED-4DB2-BD59-A6C34878D82A}">
                    <a16:rowId xmlns:a16="http://schemas.microsoft.com/office/drawing/2014/main" val="1859081076"/>
                  </a:ext>
                </a:extLst>
              </a:tr>
            </a:tbl>
          </a:graphicData>
        </a:graphic>
      </p:graphicFrame>
    </p:spTree>
    <p:extLst>
      <p:ext uri="{BB962C8B-B14F-4D97-AF65-F5344CB8AC3E}">
        <p14:creationId xmlns:p14="http://schemas.microsoft.com/office/powerpoint/2010/main" val="15061646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19FAB"/>
        </a:solidFill>
        <a:effectLst/>
      </p:bgPr>
    </p:bg>
    <p:spTree>
      <p:nvGrpSpPr>
        <p:cNvPr id="1" name="Shape 149"/>
        <p:cNvGrpSpPr/>
        <p:nvPr/>
      </p:nvGrpSpPr>
      <p:grpSpPr>
        <a:xfrm>
          <a:off x="0" y="0"/>
          <a:ext cx="0" cy="0"/>
          <a:chOff x="0" y="0"/>
          <a:chExt cx="0" cy="0"/>
        </a:xfrm>
      </p:grpSpPr>
      <p:pic>
        <p:nvPicPr>
          <p:cNvPr id="150" name="Google Shape;150;p8"/>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51" name="Google Shape;151;p8"/>
          <p:cNvPicPr preferRelativeResize="0"/>
          <p:nvPr/>
        </p:nvPicPr>
        <p:blipFill rotWithShape="1">
          <a:blip r:embed="rId4">
            <a:alphaModFix/>
          </a:blip>
          <a:srcRect/>
          <a:stretch/>
        </p:blipFill>
        <p:spPr>
          <a:xfrm>
            <a:off x="2895425" y="4262625"/>
            <a:ext cx="1399901" cy="541300"/>
          </a:xfrm>
          <a:prstGeom prst="rect">
            <a:avLst/>
          </a:prstGeom>
          <a:noFill/>
          <a:ln>
            <a:noFill/>
          </a:ln>
        </p:spPr>
      </p:pic>
      <p:sp>
        <p:nvSpPr>
          <p:cNvPr id="152" name="Google Shape;152;p8"/>
          <p:cNvSpPr txBox="1"/>
          <p:nvPr/>
        </p:nvSpPr>
        <p:spPr>
          <a:xfrm>
            <a:off x="2376000" y="1939850"/>
            <a:ext cx="4392000" cy="877200"/>
          </a:xfrm>
          <a:prstGeom prst="rect">
            <a:avLst/>
          </a:prstGeom>
          <a:noFill/>
          <a:ln>
            <a:noFill/>
          </a:ln>
          <a:effectLst>
            <a:outerShdw blurRad="57150" dist="19050" dir="5400000" algn="bl" rotWithShape="0">
              <a:srgbClr val="000000">
                <a:alpha val="49411"/>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500"/>
              <a:buFont typeface="Arial"/>
              <a:buNone/>
            </a:pPr>
            <a:r>
              <a:rPr lang="en" sz="4500" b="1" i="0" u="none" strike="noStrike" cap="none">
                <a:solidFill>
                  <a:schemeClr val="lt1"/>
                </a:solidFill>
                <a:latin typeface="Rubik"/>
                <a:ea typeface="Rubik"/>
                <a:cs typeface="Rubik"/>
                <a:sym typeface="Rubik"/>
              </a:rPr>
              <a:t>Thank You</a:t>
            </a:r>
            <a:endParaRPr sz="2000" b="0" i="0" u="none" strike="noStrike" cap="none">
              <a:solidFill>
                <a:schemeClr val="lt1"/>
              </a:solidFill>
              <a:latin typeface="Rubik"/>
              <a:ea typeface="Rubik"/>
              <a:cs typeface="Rubik"/>
              <a:sym typeface="Rubik"/>
            </a:endParaRPr>
          </a:p>
        </p:txBody>
      </p:sp>
      <p:sp>
        <p:nvSpPr>
          <p:cNvPr id="153" name="Google Shape;153;p8"/>
          <p:cNvSpPr txBox="1"/>
          <p:nvPr/>
        </p:nvSpPr>
        <p:spPr>
          <a:xfrm>
            <a:off x="4314750" y="4248575"/>
            <a:ext cx="4578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 sz="3000" b="0" i="0" u="none" strike="noStrike" cap="none">
                <a:solidFill>
                  <a:schemeClr val="lt1"/>
                </a:solidFill>
                <a:latin typeface="Rubik SemiBold"/>
                <a:ea typeface="Rubik SemiBold"/>
                <a:cs typeface="Rubik SemiBold"/>
                <a:sym typeface="Rubik SemiBold"/>
              </a:rPr>
              <a:t>X</a:t>
            </a:r>
            <a:endParaRPr sz="3000" b="0" i="0" u="none" strike="noStrike" cap="none">
              <a:solidFill>
                <a:schemeClr val="lt1"/>
              </a:solidFill>
              <a:latin typeface="Rubik SemiBold"/>
              <a:ea typeface="Rubik SemiBold"/>
              <a:cs typeface="Rubik SemiBold"/>
              <a:sym typeface="Rubik SemiBold"/>
            </a:endParaRPr>
          </a:p>
        </p:txBody>
      </p:sp>
      <p:pic>
        <p:nvPicPr>
          <p:cNvPr id="7" name="Google Shape;103;p4">
            <a:extLst>
              <a:ext uri="{FF2B5EF4-FFF2-40B4-BE49-F238E27FC236}">
                <a16:creationId xmlns:a16="http://schemas.microsoft.com/office/drawing/2014/main" id="{E537CFDA-7F61-4FC3-9E3A-A3B0261ECDA0}"/>
              </a:ext>
            </a:extLst>
          </p:cNvPr>
          <p:cNvPicPr preferRelativeResize="0"/>
          <p:nvPr/>
        </p:nvPicPr>
        <p:blipFill>
          <a:blip r:embed="rId5">
            <a:alphaModFix/>
          </a:blip>
          <a:stretch>
            <a:fillRect/>
          </a:stretch>
        </p:blipFill>
        <p:spPr>
          <a:xfrm>
            <a:off x="4791974" y="4189863"/>
            <a:ext cx="1374476" cy="492294"/>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2777</Words>
  <Application>Microsoft Office PowerPoint</Application>
  <PresentationFormat>On-screen Show (16:9)</PresentationFormat>
  <Paragraphs>360</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Rubik Light</vt:lpstr>
      <vt:lpstr>Rubik Medium</vt:lpstr>
      <vt:lpstr>Rubik</vt:lpstr>
      <vt:lpstr>Rubik SemiBold</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graceyosephine63@gmail.com</cp:lastModifiedBy>
  <cp:revision>1</cp:revision>
  <dcterms:modified xsi:type="dcterms:W3CDTF">2025-06-30T15:26:18Z</dcterms:modified>
</cp:coreProperties>
</file>