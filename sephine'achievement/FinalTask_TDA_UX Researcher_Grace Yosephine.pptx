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8" r:id="rId3"/>
    <p:sldId id="260" r:id="rId4"/>
    <p:sldId id="261" r:id="rId5"/>
    <p:sldId id="268" r:id="rId6"/>
    <p:sldId id="262" r:id="rId7"/>
    <p:sldId id="269" r:id="rId8"/>
    <p:sldId id="270" r:id="rId9"/>
    <p:sldId id="271" r:id="rId10"/>
    <p:sldId id="272" r:id="rId11"/>
    <p:sldId id="273" r:id="rId12"/>
    <p:sldId id="274" r:id="rId13"/>
    <p:sldId id="275" r:id="rId14"/>
    <p:sldId id="276" r:id="rId15"/>
    <p:sldId id="277" r:id="rId16"/>
    <p:sldId id="263" r:id="rId17"/>
    <p:sldId id="278" r:id="rId18"/>
    <p:sldId id="279" r:id="rId19"/>
    <p:sldId id="280" r:id="rId20"/>
    <p:sldId id="264" r:id="rId21"/>
    <p:sldId id="281" r:id="rId22"/>
    <p:sldId id="282" r:id="rId23"/>
    <p:sldId id="265" r:id="rId24"/>
    <p:sldId id="283" r:id="rId25"/>
    <p:sldId id="284" r:id="rId26"/>
    <p:sldId id="285" r:id="rId27"/>
    <p:sldId id="286" r:id="rId28"/>
    <p:sldId id="266" r:id="rId29"/>
    <p:sldId id="287" r:id="rId30"/>
    <p:sldId id="288" r:id="rId31"/>
    <p:sldId id="289" r:id="rId32"/>
    <p:sldId id="267" r:id="rId33"/>
  </p:sldIdLst>
  <p:sldSz cx="9144000" cy="5143500" type="screen16x9"/>
  <p:notesSz cx="6858000" cy="9144000"/>
  <p:embeddedFontLst>
    <p:embeddedFont>
      <p:font typeface="Rubik" panose="020B0604020202020204" charset="-79"/>
      <p:regular r:id="rId35"/>
      <p:bold r:id="rId36"/>
      <p:italic r:id="rId37"/>
      <p:boldItalic r:id="rId38"/>
    </p:embeddedFont>
    <p:embeddedFont>
      <p:font typeface="Rubik Light" panose="020B0604020202020204" charset="-79"/>
      <p:regular r:id="rId39"/>
      <p:bold r:id="rId40"/>
      <p:italic r:id="rId41"/>
      <p:boldItalic r:id="rId42"/>
    </p:embeddedFont>
    <p:embeddedFont>
      <p:font typeface="Rubik Medium" panose="020B0604020202020204" charset="-79"/>
      <p:regular r:id="rId43"/>
      <p:bold r:id="rId44"/>
      <p:italic r:id="rId45"/>
      <p:boldItalic r:id="rId46"/>
    </p:embeddedFont>
    <p:embeddedFont>
      <p:font typeface="Rubik SemiBold" panose="020B0604020202020204" charset="-79"/>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77" y="84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1356d9b0f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1356d9b0f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bdf3704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26bdf3704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6bdf37047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26bdf37047d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6bdf37047d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26bdf37047d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6bdf37047d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26bdf37047d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2274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276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1440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138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76589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7994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4559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83671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7345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6fd92a1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26fd92a1b0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7084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fd92a1b0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6fd92a1b0b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fd92a1b0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6fd92a1b0b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7356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fd92a1b0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6fd92a1b0b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14931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fd92a1b0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6fd92a1b0b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366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fd92a1b0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d92a1b0b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fd92a1b0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d92a1b0b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3155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fd92a1b0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d92a1b0b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63861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fd92a1b0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6fd92a1b0b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fd92a1b0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6fd92a1b0b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856811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fd92a1b0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6fd92a1b0b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81794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fd92a1b0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6fd92a1b0b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726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6fd92a1b0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26fd92a1b0b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275216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6fd92a1b0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6fd92a1b0b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6fd92a1b0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6fd92a1b0b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7157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6fd92a1b0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6fd92a1b0b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7241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6fd92a1b0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6fd92a1b0b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7639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200da5092a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200da5092a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mt="10000"/>
          </a:blip>
          <a:stretch>
            <a:fillRect/>
          </a:stretch>
        </p:blipFill>
        <p:spPr>
          <a:xfrm>
            <a:off x="0" y="0"/>
            <a:ext cx="9144001" cy="5143501"/>
          </a:xfrm>
          <a:prstGeom prst="rect">
            <a:avLst/>
          </a:prstGeom>
          <a:noFill/>
          <a:ln>
            <a:noFill/>
          </a:ln>
        </p:spPr>
      </p:pic>
      <p:pic>
        <p:nvPicPr>
          <p:cNvPr id="55" name="Google Shape;55;p13"/>
          <p:cNvPicPr preferRelativeResize="0"/>
          <p:nvPr/>
        </p:nvPicPr>
        <p:blipFill rotWithShape="1">
          <a:blip r:embed="rId4">
            <a:alphaModFix/>
          </a:blip>
          <a:srcRect/>
          <a:stretch/>
        </p:blipFill>
        <p:spPr>
          <a:xfrm>
            <a:off x="349800" y="186500"/>
            <a:ext cx="1399901" cy="541300"/>
          </a:xfrm>
          <a:prstGeom prst="rect">
            <a:avLst/>
          </a:prstGeom>
          <a:noFill/>
          <a:ln>
            <a:noFill/>
          </a:ln>
        </p:spPr>
      </p:pic>
      <p:sp>
        <p:nvSpPr>
          <p:cNvPr id="56" name="Google Shape;56;p13"/>
          <p:cNvSpPr txBox="1"/>
          <p:nvPr/>
        </p:nvSpPr>
        <p:spPr>
          <a:xfrm>
            <a:off x="517900" y="1596200"/>
            <a:ext cx="7216800" cy="1569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en" sz="4500" b="1">
                <a:solidFill>
                  <a:schemeClr val="lt1"/>
                </a:solidFill>
                <a:latin typeface="Rubik"/>
                <a:ea typeface="Rubik"/>
                <a:cs typeface="Rubik"/>
                <a:sym typeface="Rubik"/>
              </a:rPr>
              <a:t>Optimization of Conversion UX Research</a:t>
            </a:r>
            <a:endParaRPr sz="2000">
              <a:solidFill>
                <a:schemeClr val="lt1"/>
              </a:solidFill>
              <a:latin typeface="Rubik"/>
              <a:ea typeface="Rubik"/>
              <a:cs typeface="Rubik"/>
              <a:sym typeface="Rubik"/>
            </a:endParaRPr>
          </a:p>
        </p:txBody>
      </p:sp>
      <p:sp>
        <p:nvSpPr>
          <p:cNvPr id="57" name="Google Shape;57;p13"/>
          <p:cNvSpPr txBox="1"/>
          <p:nvPr/>
        </p:nvSpPr>
        <p:spPr>
          <a:xfrm>
            <a:off x="517900" y="3130300"/>
            <a:ext cx="7070100" cy="569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en" sz="2500">
                <a:solidFill>
                  <a:schemeClr val="lt1"/>
                </a:solidFill>
                <a:latin typeface="Rubik SemiBold"/>
                <a:ea typeface="Rubik SemiBold"/>
                <a:cs typeface="Rubik SemiBold"/>
                <a:sym typeface="Rubik SemiBold"/>
              </a:rPr>
              <a:t>Telkom Digital Amoeba - UX Researcher</a:t>
            </a:r>
            <a:endParaRPr sz="2500">
              <a:solidFill>
                <a:schemeClr val="lt1"/>
              </a:solidFill>
              <a:latin typeface="Rubik SemiBold"/>
              <a:ea typeface="Rubik SemiBold"/>
              <a:cs typeface="Rubik SemiBold"/>
              <a:sym typeface="Rubik SemiBold"/>
            </a:endParaRPr>
          </a:p>
        </p:txBody>
      </p:sp>
      <p:sp>
        <p:nvSpPr>
          <p:cNvPr id="58" name="Google Shape;58;p13"/>
          <p:cNvSpPr/>
          <p:nvPr/>
        </p:nvSpPr>
        <p:spPr>
          <a:xfrm>
            <a:off x="6757125" y="-621925"/>
            <a:ext cx="3135000" cy="3051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txBox="1"/>
          <p:nvPr/>
        </p:nvSpPr>
        <p:spPr>
          <a:xfrm>
            <a:off x="1769125" y="172450"/>
            <a:ext cx="457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ubik SemiBold"/>
                <a:ea typeface="Rubik SemiBold"/>
                <a:cs typeface="Rubik SemiBold"/>
                <a:sym typeface="Rubik SemiBold"/>
              </a:rPr>
              <a:t>X</a:t>
            </a:r>
            <a:endParaRPr sz="3000">
              <a:solidFill>
                <a:schemeClr val="lt1"/>
              </a:solidFill>
              <a:latin typeface="Rubik SemiBold"/>
              <a:ea typeface="Rubik SemiBold"/>
              <a:cs typeface="Rubik SemiBold"/>
              <a:sym typeface="Rubik SemiBold"/>
            </a:endParaRPr>
          </a:p>
        </p:txBody>
      </p:sp>
      <p:sp>
        <p:nvSpPr>
          <p:cNvPr id="60" name="Google Shape;60;p13"/>
          <p:cNvSpPr txBox="1"/>
          <p:nvPr/>
        </p:nvSpPr>
        <p:spPr>
          <a:xfrm>
            <a:off x="517900" y="3699700"/>
            <a:ext cx="4392000" cy="800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en" sz="2000" dirty="0">
                <a:solidFill>
                  <a:schemeClr val="lt1"/>
                </a:solidFill>
                <a:latin typeface="Rubik Light"/>
                <a:ea typeface="Rubik Light"/>
                <a:cs typeface="Rubik Light"/>
                <a:sym typeface="Rubik Light"/>
              </a:rPr>
              <a:t>Presented by</a:t>
            </a:r>
            <a:endParaRPr sz="2000" dirty="0">
              <a:solidFill>
                <a:schemeClr val="lt1"/>
              </a:solidFill>
              <a:latin typeface="Rubik Light"/>
              <a:ea typeface="Rubik Light"/>
              <a:cs typeface="Rubik Light"/>
              <a:sym typeface="Rubik Light"/>
            </a:endParaRPr>
          </a:p>
          <a:p>
            <a:pPr marL="0" lvl="0" indent="0" algn="l" rtl="0">
              <a:spcBef>
                <a:spcPts val="0"/>
              </a:spcBef>
              <a:spcAft>
                <a:spcPts val="0"/>
              </a:spcAft>
              <a:buNone/>
            </a:pPr>
            <a:r>
              <a:rPr lang="en" sz="2000">
                <a:solidFill>
                  <a:schemeClr val="lt1"/>
                </a:solidFill>
                <a:latin typeface="Rubik Light"/>
                <a:ea typeface="Rubik Light"/>
                <a:cs typeface="Rubik Light"/>
                <a:sym typeface="Rubik Light"/>
              </a:rPr>
              <a:t>Grace Yosephine</a:t>
            </a:r>
            <a:endParaRPr sz="2000" dirty="0">
              <a:solidFill>
                <a:schemeClr val="lt1"/>
              </a:solidFill>
              <a:latin typeface="Rubik Light"/>
              <a:ea typeface="Rubik Light"/>
              <a:cs typeface="Rubik Light"/>
              <a:sym typeface="Rubik Light"/>
            </a:endParaRPr>
          </a:p>
        </p:txBody>
      </p:sp>
      <p:pic>
        <p:nvPicPr>
          <p:cNvPr id="61" name="Google Shape;61;p13"/>
          <p:cNvPicPr preferRelativeResize="0"/>
          <p:nvPr/>
        </p:nvPicPr>
        <p:blipFill>
          <a:blip r:embed="rId5">
            <a:alphaModFix/>
          </a:blip>
          <a:stretch>
            <a:fillRect/>
          </a:stretch>
        </p:blipFill>
        <p:spPr>
          <a:xfrm>
            <a:off x="2264699" y="364825"/>
            <a:ext cx="1489275" cy="26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15"/>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73" name="Google Shape;73;p15"/>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74" name="Google Shape;74;p15"/>
          <p:cNvSpPr/>
          <p:nvPr/>
        </p:nvSpPr>
        <p:spPr>
          <a:xfrm>
            <a:off x="0" y="0"/>
            <a:ext cx="4572000" cy="5143500"/>
          </a:xfrm>
          <a:prstGeom prst="rect">
            <a:avLst/>
          </a:prstGeom>
          <a:solidFill>
            <a:srgbClr val="019FAB">
              <a:alpha val="4745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5"/>
          <p:cNvSpPr/>
          <p:nvPr/>
        </p:nvSpPr>
        <p:spPr>
          <a:xfrm>
            <a:off x="1033575" y="470775"/>
            <a:ext cx="2431800" cy="32988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ubik Medium"/>
                <a:ea typeface="Rubik Medium"/>
                <a:cs typeface="Rubik Medium"/>
                <a:sym typeface="Rubik Medium"/>
              </a:rPr>
              <a:t>Insert your photo here</a:t>
            </a:r>
            <a:endParaRPr sz="1400" b="0" i="0" u="none" strike="noStrike" cap="none">
              <a:solidFill>
                <a:srgbClr val="000000"/>
              </a:solidFill>
              <a:latin typeface="Rubik Medium"/>
              <a:ea typeface="Rubik Medium"/>
              <a:cs typeface="Rubik Medium"/>
              <a:sym typeface="Rubik Medium"/>
            </a:endParaRPr>
          </a:p>
        </p:txBody>
      </p:sp>
      <p:sp>
        <p:nvSpPr>
          <p:cNvPr id="76" name="Google Shape;76;p15"/>
          <p:cNvSpPr txBox="1"/>
          <p:nvPr/>
        </p:nvSpPr>
        <p:spPr>
          <a:xfrm>
            <a:off x="5030536" y="949455"/>
            <a:ext cx="3504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000000"/>
                </a:solidFill>
                <a:latin typeface="Rubik SemiBold"/>
                <a:ea typeface="Rubik SemiBold"/>
                <a:cs typeface="Rubik SemiBold"/>
                <a:sym typeface="Rubik SemiBold"/>
              </a:rPr>
              <a:t>Grace Yosephine</a:t>
            </a:r>
            <a:endParaRPr sz="2000" b="0" i="0" u="none" strike="noStrike" cap="none" dirty="0">
              <a:solidFill>
                <a:srgbClr val="000000"/>
              </a:solidFill>
              <a:latin typeface="Rubik SemiBold"/>
              <a:ea typeface="Rubik SemiBold"/>
              <a:cs typeface="Rubik SemiBold"/>
              <a:sym typeface="Rubik SemiBold"/>
            </a:endParaRPr>
          </a:p>
        </p:txBody>
      </p:sp>
      <p:sp>
        <p:nvSpPr>
          <p:cNvPr id="78" name="Google Shape;78;p15"/>
          <p:cNvSpPr txBox="1"/>
          <p:nvPr/>
        </p:nvSpPr>
        <p:spPr>
          <a:xfrm>
            <a:off x="5105700" y="1541438"/>
            <a:ext cx="3504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019FAB"/>
                </a:solidFill>
                <a:latin typeface="Rubik SemiBold"/>
                <a:ea typeface="Rubik SemiBold"/>
                <a:cs typeface="Rubik SemiBold"/>
                <a:sym typeface="Rubik SemiBold"/>
              </a:rPr>
              <a:t>About Me</a:t>
            </a:r>
            <a:endParaRPr sz="2000" b="0" i="0" u="none" strike="noStrike" cap="none" dirty="0">
              <a:solidFill>
                <a:srgbClr val="019FAB"/>
              </a:solidFill>
              <a:latin typeface="Rubik SemiBold"/>
              <a:ea typeface="Rubik SemiBold"/>
              <a:cs typeface="Rubik SemiBold"/>
              <a:sym typeface="Rubik SemiBold"/>
            </a:endParaRPr>
          </a:p>
        </p:txBody>
      </p:sp>
      <p:sp>
        <p:nvSpPr>
          <p:cNvPr id="79" name="Google Shape;79;p15"/>
          <p:cNvSpPr txBox="1"/>
          <p:nvPr/>
        </p:nvSpPr>
        <p:spPr>
          <a:xfrm>
            <a:off x="4720887" y="2034218"/>
            <a:ext cx="4246016" cy="2954625"/>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1000" b="0" i="0" u="none" strike="noStrike" cap="none" dirty="0" err="1">
                <a:solidFill>
                  <a:srgbClr val="000000"/>
                </a:solidFill>
                <a:latin typeface="Rubik Medium"/>
                <a:ea typeface="Rubik Medium"/>
                <a:cs typeface="Rubik Medium"/>
                <a:sym typeface="Rubik Medium"/>
              </a:rPr>
              <a:t>Im</a:t>
            </a:r>
            <a:r>
              <a:rPr lang="en-US" sz="1000" b="0" i="0" u="none" strike="noStrike" cap="none" dirty="0">
                <a:solidFill>
                  <a:srgbClr val="000000"/>
                </a:solidFill>
                <a:latin typeface="Rubik Medium"/>
                <a:ea typeface="Rubik Medium"/>
                <a:cs typeface="Rubik Medium"/>
                <a:sym typeface="Rubik Medium"/>
              </a:rPr>
              <a:t> a student at </a:t>
            </a:r>
            <a:r>
              <a:rPr lang="en-US" sz="1000" b="0" i="0" u="none" strike="noStrike" cap="none" dirty="0" err="1">
                <a:solidFill>
                  <a:srgbClr val="000000"/>
                </a:solidFill>
                <a:latin typeface="Rubik Medium"/>
                <a:ea typeface="Rubik Medium"/>
                <a:cs typeface="Rubik Medium"/>
                <a:sym typeface="Rubik Medium"/>
              </a:rPr>
              <a:t>Institut</a:t>
            </a:r>
            <a:r>
              <a:rPr lang="en-US" sz="1000" b="0" i="0" u="none" strike="noStrike" cap="none" dirty="0">
                <a:solidFill>
                  <a:srgbClr val="000000"/>
                </a:solidFill>
                <a:latin typeface="Rubik Medium"/>
                <a:ea typeface="Rubik Medium"/>
                <a:cs typeface="Rubik Medium"/>
                <a:sym typeface="Rubik Medium"/>
              </a:rPr>
              <a:t> </a:t>
            </a:r>
            <a:r>
              <a:rPr lang="en-US" sz="1000" b="0" i="0" u="none" strike="noStrike" cap="none" dirty="0" err="1">
                <a:solidFill>
                  <a:srgbClr val="000000"/>
                </a:solidFill>
                <a:latin typeface="Rubik Medium"/>
                <a:ea typeface="Rubik Medium"/>
                <a:cs typeface="Rubik Medium"/>
                <a:sym typeface="Rubik Medium"/>
              </a:rPr>
              <a:t>Teknologi</a:t>
            </a:r>
            <a:r>
              <a:rPr lang="en-US" sz="1000" b="0" i="0" u="none" strike="noStrike" cap="none" dirty="0">
                <a:solidFill>
                  <a:srgbClr val="000000"/>
                </a:solidFill>
                <a:latin typeface="Rubik Medium"/>
                <a:ea typeface="Rubik Medium"/>
                <a:cs typeface="Rubik Medium"/>
                <a:sym typeface="Rubik Medium"/>
              </a:rPr>
              <a:t> Del, majoring in Software Engineering Technology. I have a strong interest in UX (User Experience) research and am passionate about understanding user behavior to create better, more intuitive digital products. Throughout my studies, I have gained knowledge in software development, including programming languages such as Java, Python, and JavaScript, as well as database management and object-oriented programming.</a:t>
            </a:r>
          </a:p>
          <a:p>
            <a:pPr marL="0" marR="0" lvl="0" indent="0" algn="just" rtl="0">
              <a:lnSpc>
                <a:spcPct val="150000"/>
              </a:lnSpc>
              <a:spcBef>
                <a:spcPts val="0"/>
              </a:spcBef>
              <a:spcAft>
                <a:spcPts val="0"/>
              </a:spcAft>
              <a:buClr>
                <a:srgbClr val="000000"/>
              </a:buClr>
              <a:buSzPts val="2000"/>
              <a:buFont typeface="Arial"/>
              <a:buNone/>
            </a:pPr>
            <a:r>
              <a:rPr lang="en-US" sz="1000" b="0" i="0" u="none" strike="noStrike" cap="none" dirty="0" err="1">
                <a:solidFill>
                  <a:srgbClr val="000000"/>
                </a:solidFill>
                <a:latin typeface="Rubik Medium"/>
                <a:ea typeface="Rubik Medium"/>
                <a:cs typeface="Rubik Medium"/>
                <a:sym typeface="Rubik Medium"/>
              </a:rPr>
              <a:t>Im</a:t>
            </a:r>
            <a:r>
              <a:rPr lang="en-US" sz="1000" b="0" i="0" u="none" strike="noStrike" cap="none" dirty="0">
                <a:solidFill>
                  <a:srgbClr val="000000"/>
                </a:solidFill>
                <a:latin typeface="Rubik Medium"/>
                <a:ea typeface="Rubik Medium"/>
                <a:cs typeface="Rubik Medium"/>
                <a:sym typeface="Rubik Medium"/>
              </a:rPr>
              <a:t> particularly drawn to UX research because it combines technology, psychology, and design thinking—allowing me to explore how users interact with digital systems and how those experiences can be improved.</a:t>
            </a:r>
          </a:p>
        </p:txBody>
      </p:sp>
      <p:sp>
        <p:nvSpPr>
          <p:cNvPr id="80" name="Google Shape;80;p15"/>
          <p:cNvSpPr txBox="1"/>
          <p:nvPr/>
        </p:nvSpPr>
        <p:spPr>
          <a:xfrm>
            <a:off x="1004800" y="3915263"/>
            <a:ext cx="35046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b="0" i="0" u="none" strike="noStrike" cap="none" dirty="0">
                <a:solidFill>
                  <a:srgbClr val="000000"/>
                </a:solidFill>
                <a:latin typeface="Rubik Medium"/>
                <a:ea typeface="Rubik Medium"/>
                <a:cs typeface="Rubik Medium"/>
                <a:sym typeface="Rubik Medium"/>
              </a:rPr>
              <a:t>Medan, Sumatera Utara</a:t>
            </a:r>
            <a:endParaRPr sz="1200" b="0" i="0" u="none" strike="noStrike" cap="none" dirty="0">
              <a:solidFill>
                <a:srgbClr val="000000"/>
              </a:solidFill>
              <a:latin typeface="Rubik Medium"/>
              <a:ea typeface="Rubik Medium"/>
              <a:cs typeface="Rubik Medium"/>
              <a:sym typeface="Rubik Medium"/>
            </a:endParaRPr>
          </a:p>
        </p:txBody>
      </p:sp>
      <p:pic>
        <p:nvPicPr>
          <p:cNvPr id="81" name="Google Shape;81;p15"/>
          <p:cNvPicPr preferRelativeResize="0"/>
          <p:nvPr/>
        </p:nvPicPr>
        <p:blipFill rotWithShape="1">
          <a:blip r:embed="rId5">
            <a:alphaModFix/>
          </a:blip>
          <a:srcRect/>
          <a:stretch/>
        </p:blipFill>
        <p:spPr>
          <a:xfrm>
            <a:off x="572376" y="4834188"/>
            <a:ext cx="307673" cy="309311"/>
          </a:xfrm>
          <a:prstGeom prst="rect">
            <a:avLst/>
          </a:prstGeom>
          <a:noFill/>
          <a:ln>
            <a:noFill/>
          </a:ln>
        </p:spPr>
      </p:pic>
      <p:pic>
        <p:nvPicPr>
          <p:cNvPr id="82" name="Google Shape;82;p15"/>
          <p:cNvPicPr preferRelativeResize="0"/>
          <p:nvPr/>
        </p:nvPicPr>
        <p:blipFill rotWithShape="1">
          <a:blip r:embed="rId6">
            <a:alphaModFix/>
          </a:blip>
          <a:srcRect/>
          <a:stretch/>
        </p:blipFill>
        <p:spPr>
          <a:xfrm>
            <a:off x="587829" y="4003766"/>
            <a:ext cx="307672" cy="309310"/>
          </a:xfrm>
          <a:prstGeom prst="rect">
            <a:avLst/>
          </a:prstGeom>
          <a:noFill/>
          <a:ln>
            <a:noFill/>
          </a:ln>
        </p:spPr>
      </p:pic>
      <p:pic>
        <p:nvPicPr>
          <p:cNvPr id="83" name="Google Shape;83;p15"/>
          <p:cNvPicPr preferRelativeResize="0"/>
          <p:nvPr/>
        </p:nvPicPr>
        <p:blipFill rotWithShape="1">
          <a:blip r:embed="rId7">
            <a:alphaModFix/>
          </a:blip>
          <a:srcRect/>
          <a:stretch/>
        </p:blipFill>
        <p:spPr>
          <a:xfrm>
            <a:off x="600890" y="4474029"/>
            <a:ext cx="285567" cy="201359"/>
          </a:xfrm>
          <a:prstGeom prst="rect">
            <a:avLst/>
          </a:prstGeom>
          <a:noFill/>
          <a:ln>
            <a:noFill/>
          </a:ln>
        </p:spPr>
      </p:pic>
      <p:sp>
        <p:nvSpPr>
          <p:cNvPr id="84" name="Google Shape;84;p15"/>
          <p:cNvSpPr txBox="1"/>
          <p:nvPr/>
        </p:nvSpPr>
        <p:spPr>
          <a:xfrm>
            <a:off x="1004799" y="4783205"/>
            <a:ext cx="4834297" cy="39238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900" b="0" i="0" u="none" strike="noStrike" cap="none" dirty="0">
                <a:solidFill>
                  <a:srgbClr val="000000"/>
                </a:solidFill>
                <a:latin typeface="Rubik Medium"/>
                <a:ea typeface="Rubik Medium"/>
                <a:cs typeface="Rubik Medium"/>
                <a:sym typeface="Rubik Medium"/>
              </a:rPr>
              <a:t>https://www.linkedin.com/in/grace-yosephine-479233294/</a:t>
            </a:r>
            <a:endParaRPr sz="900" b="0" i="0" u="none" strike="noStrike" cap="none" dirty="0">
              <a:solidFill>
                <a:srgbClr val="000000"/>
              </a:solidFill>
              <a:latin typeface="Rubik Medium"/>
              <a:ea typeface="Rubik Medium"/>
              <a:cs typeface="Rubik Medium"/>
              <a:sym typeface="Rubik Medium"/>
            </a:endParaRPr>
          </a:p>
        </p:txBody>
      </p:sp>
      <p:sp>
        <p:nvSpPr>
          <p:cNvPr id="85" name="Google Shape;85;p15"/>
          <p:cNvSpPr txBox="1"/>
          <p:nvPr/>
        </p:nvSpPr>
        <p:spPr>
          <a:xfrm>
            <a:off x="1004800" y="4326333"/>
            <a:ext cx="35046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b="0" i="0" u="none" strike="noStrike" cap="none" dirty="0">
                <a:solidFill>
                  <a:srgbClr val="000000"/>
                </a:solidFill>
                <a:latin typeface="Rubik Medium"/>
                <a:ea typeface="Rubik Medium"/>
                <a:cs typeface="Rubik Medium"/>
                <a:sym typeface="Rubik Medium"/>
              </a:rPr>
              <a:t>graceyosephine63@gmail.com</a:t>
            </a:r>
            <a:endParaRPr sz="1200" b="0" i="0" u="none" strike="noStrike" cap="none" dirty="0">
              <a:solidFill>
                <a:srgbClr val="000000"/>
              </a:solidFill>
              <a:latin typeface="Rubik Medium"/>
              <a:ea typeface="Rubik Medium"/>
              <a:cs typeface="Rubik Medium"/>
              <a:sym typeface="Rubik Medium"/>
            </a:endParaRPr>
          </a:p>
        </p:txBody>
      </p:sp>
      <p:pic>
        <p:nvPicPr>
          <p:cNvPr id="3" name="Picture 2">
            <a:extLst>
              <a:ext uri="{FF2B5EF4-FFF2-40B4-BE49-F238E27FC236}">
                <a16:creationId xmlns:a16="http://schemas.microsoft.com/office/drawing/2014/main" id="{2DE35776-0DBB-4BD5-B1B5-927AC0AE39BF}"/>
              </a:ext>
            </a:extLst>
          </p:cNvPr>
          <p:cNvPicPr>
            <a:picLocks noChangeAspect="1"/>
          </p:cNvPicPr>
          <p:nvPr/>
        </p:nvPicPr>
        <p:blipFill rotWithShape="1">
          <a:blip r:embed="rId8"/>
          <a:srcRect r="4646"/>
          <a:stretch/>
        </p:blipFill>
        <p:spPr>
          <a:xfrm rot="16200000">
            <a:off x="553320" y="895469"/>
            <a:ext cx="3392315" cy="24318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7"/>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00" name="Google Shape;100;p17"/>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01" name="Google Shape;101;p17"/>
          <p:cNvSpPr txBox="1"/>
          <p:nvPr/>
        </p:nvSpPr>
        <p:spPr>
          <a:xfrm>
            <a:off x="460574" y="1364951"/>
            <a:ext cx="5604600" cy="349400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100" b="1" i="0" u="none" strike="noStrike" cap="none" dirty="0">
                <a:solidFill>
                  <a:srgbClr val="000000"/>
                </a:solidFill>
                <a:latin typeface="Rubik"/>
                <a:ea typeface="Rubik"/>
                <a:cs typeface="Rubik"/>
                <a:sym typeface="Rubik"/>
              </a:rPr>
              <a:t>Telkom Digital Amoeba is an internal innovation lab established by Telkom Indonesia to foster a culture of intrapreneurship among its employees. Launched in 2017, the program empowers Telkom staff to develop and incubate their own digital startup ideas within the company, providing mentorship, resources, and a structured framework to bring these innovations to life. </a:t>
            </a:r>
          </a:p>
          <a:p>
            <a:pPr marL="0" marR="0" lvl="0" indent="0" algn="just" rtl="0">
              <a:lnSpc>
                <a:spcPct val="115000"/>
              </a:lnSpc>
              <a:spcBef>
                <a:spcPts val="0"/>
              </a:spcBef>
              <a:spcAft>
                <a:spcPts val="0"/>
              </a:spcAft>
              <a:buClr>
                <a:schemeClr val="dk1"/>
              </a:buClr>
              <a:buSzPts val="1100"/>
              <a:buFont typeface="Arial"/>
              <a:buNone/>
            </a:pPr>
            <a:r>
              <a:rPr lang="en-US" sz="1100" b="1" i="0" u="none" strike="noStrike" cap="none" dirty="0">
                <a:solidFill>
                  <a:srgbClr val="000000"/>
                </a:solidFill>
                <a:latin typeface="Rubik"/>
                <a:ea typeface="Rubik"/>
                <a:cs typeface="Rubik"/>
                <a:sym typeface="Rubik"/>
              </a:rPr>
              <a:t>One of Digital Amoeba's flagship initiatives is </a:t>
            </a:r>
            <a:r>
              <a:rPr lang="en-US" sz="1100" b="1" i="0" u="none" strike="noStrike" cap="none" dirty="0" err="1">
                <a:solidFill>
                  <a:srgbClr val="000000"/>
                </a:solidFill>
                <a:latin typeface="Rubik"/>
                <a:ea typeface="Rubik"/>
                <a:cs typeface="Rubik"/>
                <a:sym typeface="Rubik"/>
              </a:rPr>
              <a:t>IdeaBox</a:t>
            </a:r>
            <a:r>
              <a:rPr lang="en-US" sz="1100" b="1" i="0" u="none" strike="noStrike" cap="none" dirty="0">
                <a:solidFill>
                  <a:srgbClr val="000000"/>
                </a:solidFill>
                <a:latin typeface="Rubik"/>
                <a:ea typeface="Rubik"/>
                <a:cs typeface="Rubik"/>
                <a:sym typeface="Rubik"/>
              </a:rPr>
              <a:t>, a comprehensive crowdsourcing platform designed to streamline the innovation process. </a:t>
            </a:r>
            <a:r>
              <a:rPr lang="en-US" sz="1100" b="1" i="0" u="none" strike="noStrike" cap="none" dirty="0" err="1">
                <a:solidFill>
                  <a:srgbClr val="000000"/>
                </a:solidFill>
                <a:latin typeface="Rubik"/>
                <a:ea typeface="Rubik"/>
                <a:cs typeface="Rubik"/>
                <a:sym typeface="Rubik"/>
              </a:rPr>
              <a:t>IdeaBox</a:t>
            </a:r>
            <a:r>
              <a:rPr lang="en-US" sz="1100" b="1" i="0" u="none" strike="noStrike" cap="none" dirty="0">
                <a:solidFill>
                  <a:srgbClr val="000000"/>
                </a:solidFill>
                <a:latin typeface="Rubik"/>
                <a:ea typeface="Rubik"/>
                <a:cs typeface="Rubik"/>
                <a:sym typeface="Rubik"/>
              </a:rPr>
              <a:t> facilitates idea submission, team formation, real-time insights, and event management, creating an ecosystem where creative solutions can be nurtured and connected with potential investors. </a:t>
            </a:r>
          </a:p>
          <a:p>
            <a:pPr marL="0" marR="0" lvl="0" indent="0" algn="just" rtl="0">
              <a:lnSpc>
                <a:spcPct val="115000"/>
              </a:lnSpc>
              <a:spcBef>
                <a:spcPts val="0"/>
              </a:spcBef>
              <a:spcAft>
                <a:spcPts val="0"/>
              </a:spcAft>
              <a:buClr>
                <a:schemeClr val="dk1"/>
              </a:buClr>
              <a:buSzPts val="1100"/>
              <a:buFont typeface="Arial"/>
              <a:buNone/>
            </a:pPr>
            <a:r>
              <a:rPr lang="en-US" sz="1100" b="1" i="0" u="none" strike="noStrike" cap="none" dirty="0">
                <a:solidFill>
                  <a:srgbClr val="000000"/>
                </a:solidFill>
                <a:latin typeface="Rubik"/>
                <a:ea typeface="Rubik"/>
                <a:cs typeface="Rubik"/>
                <a:sym typeface="Rubik"/>
              </a:rPr>
              <a:t>Through these initiatives, Telkom Digital Amoeba has successfully launched several digital products, such as </a:t>
            </a:r>
            <a:r>
              <a:rPr lang="en-US" sz="1100" b="1" i="0" u="none" strike="noStrike" cap="none" dirty="0" err="1">
                <a:solidFill>
                  <a:srgbClr val="000000"/>
                </a:solidFill>
                <a:latin typeface="Rubik"/>
                <a:ea typeface="Rubik"/>
                <a:cs typeface="Rubik"/>
                <a:sym typeface="Rubik"/>
              </a:rPr>
              <a:t>Emago</a:t>
            </a:r>
            <a:r>
              <a:rPr lang="en-US" sz="1100" b="1" i="0" u="none" strike="noStrike" cap="none" dirty="0">
                <a:solidFill>
                  <a:srgbClr val="000000"/>
                </a:solidFill>
                <a:latin typeface="Rubik"/>
                <a:ea typeface="Rubik"/>
                <a:cs typeface="Rubik"/>
                <a:sym typeface="Rubik"/>
              </a:rPr>
              <a:t>, a game streaming service, and </a:t>
            </a:r>
            <a:r>
              <a:rPr lang="en-US" sz="1100" b="1" i="0" u="none" strike="noStrike" cap="none" dirty="0" err="1">
                <a:solidFill>
                  <a:srgbClr val="000000"/>
                </a:solidFill>
                <a:latin typeface="Rubik"/>
                <a:ea typeface="Rubik"/>
                <a:cs typeface="Rubik"/>
                <a:sym typeface="Rubik"/>
              </a:rPr>
              <a:t>Arkademy</a:t>
            </a:r>
            <a:r>
              <a:rPr lang="en-US" sz="1100" b="1" i="0" u="none" strike="noStrike" cap="none" dirty="0">
                <a:solidFill>
                  <a:srgbClr val="000000"/>
                </a:solidFill>
                <a:latin typeface="Rubik"/>
                <a:ea typeface="Rubik"/>
                <a:cs typeface="Rubik"/>
                <a:sym typeface="Rubik"/>
              </a:rPr>
              <a:t>, an online learning platform for vocational students. By leveraging internal talent and fostering a startup mindset, Telkom Digital Amoeba plays a pivotal role in driving the company's digital transformation and contributing to Indonesia's broader digital ecosystem.</a:t>
            </a:r>
          </a:p>
        </p:txBody>
      </p:sp>
      <p:sp>
        <p:nvSpPr>
          <p:cNvPr id="102" name="Google Shape;102;p17"/>
          <p:cNvSpPr txBox="1"/>
          <p:nvPr/>
        </p:nvSpPr>
        <p:spPr>
          <a:xfrm>
            <a:off x="340500" y="452038"/>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i="0" u="none" strike="noStrike" cap="none">
                <a:solidFill>
                  <a:srgbClr val="000000"/>
                </a:solidFill>
                <a:latin typeface="Rubik"/>
                <a:ea typeface="Rubik"/>
                <a:cs typeface="Rubik"/>
                <a:sym typeface="Rubik"/>
              </a:rPr>
              <a:t>About </a:t>
            </a:r>
            <a:r>
              <a:rPr lang="en" sz="3000" b="1" i="0" u="none" strike="noStrike" cap="none">
                <a:solidFill>
                  <a:schemeClr val="accent5"/>
                </a:solidFill>
                <a:latin typeface="Rubik"/>
                <a:ea typeface="Rubik"/>
                <a:cs typeface="Rubik"/>
                <a:sym typeface="Rubik"/>
              </a:rPr>
              <a:t>Company</a:t>
            </a:r>
            <a:endParaRPr sz="3000" b="1" i="0" u="none" strike="noStrike" cap="none">
              <a:solidFill>
                <a:schemeClr val="accent5"/>
              </a:solidFill>
              <a:latin typeface="Rubik"/>
              <a:ea typeface="Rubik"/>
              <a:cs typeface="Rubik"/>
              <a:sym typeface="Rubik"/>
            </a:endParaRPr>
          </a:p>
        </p:txBody>
      </p:sp>
      <p:pic>
        <p:nvPicPr>
          <p:cNvPr id="104" name="Google Shape;104;p17"/>
          <p:cNvPicPr preferRelativeResize="0"/>
          <p:nvPr/>
        </p:nvPicPr>
        <p:blipFill>
          <a:blip r:embed="rId5">
            <a:alphaModFix/>
          </a:blip>
          <a:stretch>
            <a:fillRect/>
          </a:stretch>
        </p:blipFill>
        <p:spPr>
          <a:xfrm>
            <a:off x="6285600" y="2320112"/>
            <a:ext cx="2705140" cy="390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8"/>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0" name="Google Shape;110;p18"/>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11" name="Google Shape;111;p18"/>
          <p:cNvSpPr txBox="1"/>
          <p:nvPr/>
        </p:nvSpPr>
        <p:spPr>
          <a:xfrm>
            <a:off x="340500" y="1406350"/>
            <a:ext cx="8340300" cy="2677626"/>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 sz="1200" b="1" i="0" u="none" strike="noStrike" cap="none" dirty="0">
                <a:solidFill>
                  <a:srgbClr val="000000"/>
                </a:solidFill>
                <a:latin typeface="Rubik"/>
                <a:ea typeface="Rubik"/>
                <a:cs typeface="Rubik"/>
                <a:sym typeface="Rubik"/>
              </a:rPr>
              <a:t>Background </a:t>
            </a:r>
          </a:p>
          <a:p>
            <a:pPr marL="0" marR="0" lvl="0" indent="0" algn="just" rtl="0">
              <a:lnSpc>
                <a:spcPct val="150000"/>
              </a:lnSpc>
              <a:spcBef>
                <a:spcPts val="0"/>
              </a:spcBef>
              <a:spcAft>
                <a:spcPts val="0"/>
              </a:spcAft>
              <a:buClr>
                <a:schemeClr val="dk1"/>
              </a:buClr>
              <a:buSzPts val="1100"/>
              <a:buFont typeface="Arial"/>
              <a:buNone/>
            </a:pPr>
            <a:r>
              <a:rPr lang="en-US" sz="1200" b="0" i="0" u="none" strike="noStrike" cap="none" dirty="0">
                <a:solidFill>
                  <a:srgbClr val="000000"/>
                </a:solidFill>
                <a:latin typeface="Rubik"/>
                <a:ea typeface="Rubik"/>
                <a:cs typeface="Rubik"/>
                <a:sym typeface="Rubik"/>
              </a:rPr>
              <a:t>The </a:t>
            </a:r>
            <a:r>
              <a:rPr lang="en-US" sz="1200" b="0" i="0" u="none" strike="noStrike" cap="none" dirty="0" err="1">
                <a:solidFill>
                  <a:srgbClr val="000000"/>
                </a:solidFill>
                <a:latin typeface="Rubik"/>
                <a:ea typeface="Rubik"/>
                <a:cs typeface="Rubik"/>
                <a:sym typeface="Rubik"/>
              </a:rPr>
              <a:t>IdeaBox</a:t>
            </a:r>
            <a:r>
              <a:rPr lang="en-US" sz="1200" b="0" i="0" u="none" strike="noStrike" cap="none" dirty="0">
                <a:solidFill>
                  <a:srgbClr val="000000"/>
                </a:solidFill>
                <a:latin typeface="Rubik"/>
                <a:ea typeface="Rubik"/>
                <a:cs typeface="Rubik"/>
                <a:sym typeface="Rubik"/>
              </a:rPr>
              <a:t> platform enables users to submit innovative ideas for investor funding. Data analysis reveals a significant drop-off after the notification stage, preventing many users from publishing their ideas on the investor dashboard. This project aims to identify barriers and propose solutions to improve conversion rates.</a:t>
            </a:r>
            <a:endParaRPr lang="en" sz="1200" b="1" dirty="0">
              <a:latin typeface="Rubik"/>
              <a:ea typeface="Rubik"/>
              <a:cs typeface="Rubik"/>
              <a:sym typeface="Rubik"/>
            </a:endParaRPr>
          </a:p>
          <a:p>
            <a:pPr marL="0" marR="0" lvl="0" indent="0" algn="just" rtl="0">
              <a:lnSpc>
                <a:spcPct val="150000"/>
              </a:lnSpc>
              <a:spcBef>
                <a:spcPts val="0"/>
              </a:spcBef>
              <a:spcAft>
                <a:spcPts val="0"/>
              </a:spcAft>
              <a:buClr>
                <a:schemeClr val="dk1"/>
              </a:buClr>
              <a:buSzPts val="1100"/>
              <a:buFont typeface="Arial"/>
              <a:buNone/>
            </a:pPr>
            <a:endParaRPr lang="en" sz="1200" b="1" i="0" u="none" strike="noStrike" cap="none" dirty="0">
              <a:solidFill>
                <a:srgbClr val="000000"/>
              </a:solidFill>
              <a:latin typeface="Rubik"/>
              <a:ea typeface="Rubik"/>
              <a:cs typeface="Rubik"/>
              <a:sym typeface="Rubik"/>
            </a:endParaRPr>
          </a:p>
          <a:p>
            <a:pPr algn="just">
              <a:lnSpc>
                <a:spcPct val="150000"/>
              </a:lnSpc>
              <a:buClr>
                <a:schemeClr val="dk1"/>
              </a:buClr>
              <a:buSzPts val="1100"/>
            </a:pPr>
            <a:r>
              <a:rPr lang="en" sz="1200" b="1" i="0" u="none" strike="noStrike" cap="none" dirty="0">
                <a:solidFill>
                  <a:srgbClr val="000000"/>
                </a:solidFill>
                <a:latin typeface="Rubik"/>
                <a:ea typeface="Rubik"/>
                <a:cs typeface="Rubik"/>
                <a:sym typeface="Rubik"/>
              </a:rPr>
              <a:t>Problem Statement</a:t>
            </a:r>
          </a:p>
          <a:p>
            <a:pPr marL="0" marR="0" lvl="0" indent="0" algn="just" rtl="0">
              <a:lnSpc>
                <a:spcPct val="150000"/>
              </a:lnSpc>
              <a:spcBef>
                <a:spcPts val="0"/>
              </a:spcBef>
              <a:spcAft>
                <a:spcPts val="0"/>
              </a:spcAft>
              <a:buClr>
                <a:schemeClr val="dk1"/>
              </a:buClr>
              <a:buSzPts val="1100"/>
              <a:buFont typeface="Arial"/>
              <a:buNone/>
            </a:pPr>
            <a:r>
              <a:rPr lang="en-US" sz="1200" b="0" i="0" u="none" strike="noStrike" cap="none" dirty="0">
                <a:solidFill>
                  <a:srgbClr val="000000"/>
                </a:solidFill>
                <a:latin typeface="Rubik"/>
                <a:ea typeface="Rubik"/>
                <a:cs typeface="Rubik"/>
                <a:sym typeface="Rubik"/>
              </a:rPr>
              <a:t>Many </a:t>
            </a:r>
            <a:r>
              <a:rPr lang="en-US" sz="1200" b="0" i="0" u="none" strike="noStrike" cap="none" dirty="0" err="1">
                <a:solidFill>
                  <a:srgbClr val="000000"/>
                </a:solidFill>
                <a:latin typeface="Rubik"/>
                <a:ea typeface="Rubik"/>
                <a:cs typeface="Rubik"/>
                <a:sym typeface="Rubik"/>
              </a:rPr>
              <a:t>IdeaBox</a:t>
            </a:r>
            <a:r>
              <a:rPr lang="en-US" sz="1200" b="0" i="0" u="none" strike="noStrike" cap="none" dirty="0">
                <a:solidFill>
                  <a:srgbClr val="000000"/>
                </a:solidFill>
                <a:latin typeface="Rubik"/>
                <a:ea typeface="Rubik"/>
                <a:cs typeface="Rubik"/>
                <a:sym typeface="Rubik"/>
              </a:rPr>
              <a:t> users abandon their journey after receiving notifications, resulting in low conversion to the final stage of publishing ideas on the investor dashboard. The goal is to increase the number of users completing the submission process by addressing pain points through data analysis, surveys, and usability testing.</a:t>
            </a:r>
            <a:endParaRPr sz="1200" b="0" i="0" u="none" strike="noStrike" cap="none" dirty="0">
              <a:solidFill>
                <a:srgbClr val="000000"/>
              </a:solidFill>
              <a:latin typeface="Rubik"/>
              <a:ea typeface="Rubik"/>
              <a:cs typeface="Rubik"/>
              <a:sym typeface="Rubik"/>
            </a:endParaRPr>
          </a:p>
        </p:txBody>
      </p:sp>
      <p:sp>
        <p:nvSpPr>
          <p:cNvPr id="112" name="Google Shape;112;p18"/>
          <p:cNvSpPr txBox="1"/>
          <p:nvPr/>
        </p:nvSpPr>
        <p:spPr>
          <a:xfrm>
            <a:off x="340500" y="452038"/>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i="0" u="none" strike="noStrike" cap="none">
                <a:solidFill>
                  <a:srgbClr val="000000"/>
                </a:solidFill>
                <a:latin typeface="Rubik"/>
                <a:ea typeface="Rubik"/>
                <a:cs typeface="Rubik"/>
                <a:sym typeface="Rubik"/>
              </a:rPr>
              <a:t>Project </a:t>
            </a:r>
            <a:r>
              <a:rPr lang="en" sz="3000" b="1" i="0" u="none" strike="noStrike" cap="none">
                <a:solidFill>
                  <a:schemeClr val="accent5"/>
                </a:solidFill>
                <a:latin typeface="Rubik"/>
                <a:ea typeface="Rubik"/>
                <a:cs typeface="Rubik"/>
                <a:sym typeface="Rubik"/>
              </a:rPr>
              <a:t>Portfolio</a:t>
            </a:r>
            <a:endParaRPr sz="3000" b="1" i="0" u="none" strike="noStrike" cap="none">
              <a:solidFill>
                <a:schemeClr val="accent5"/>
              </a:solidFill>
              <a:latin typeface="Rubik"/>
              <a:ea typeface="Rubik"/>
              <a:cs typeface="Rubik"/>
              <a:sym typeface="Rubi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8"/>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0" name="Google Shape;110;p18"/>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11" name="Google Shape;111;p18"/>
          <p:cNvSpPr txBox="1"/>
          <p:nvPr/>
        </p:nvSpPr>
        <p:spPr>
          <a:xfrm>
            <a:off x="340500" y="1726390"/>
            <a:ext cx="8340300" cy="1292631"/>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 sz="1200" b="1" i="0" u="none" strike="noStrike" cap="none" dirty="0">
                <a:solidFill>
                  <a:srgbClr val="000000"/>
                </a:solidFill>
                <a:latin typeface="Rubik"/>
                <a:ea typeface="Rubik"/>
                <a:cs typeface="Rubik"/>
                <a:sym typeface="Rubik"/>
              </a:rPr>
              <a:t>Available Data</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User Activity (Jan–Mar 2022): Total, new, and returning users.</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Funnel Data: User progression through eight stages of idea submission.</a:t>
            </a:r>
          </a:p>
          <a:p>
            <a:pPr marL="171450" marR="0" lvl="0" indent="-171450" algn="just" rtl="0">
              <a:lnSpc>
                <a:spcPct val="150000"/>
              </a:lnSpc>
              <a:spcBef>
                <a:spcPts val="0"/>
              </a:spcBef>
              <a:spcAft>
                <a:spcPts val="0"/>
              </a:spcAft>
              <a:buClr>
                <a:schemeClr val="dk1"/>
              </a:buClr>
              <a:buSzPts val="11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Demographics (Mar 2022): Age, gender, geography, interests, and session duration from Google Analytics.</a:t>
            </a:r>
            <a:endParaRPr lang="en" sz="1200" i="0" u="none" strike="noStrike" cap="none" dirty="0">
              <a:solidFill>
                <a:srgbClr val="000000"/>
              </a:solidFill>
              <a:latin typeface="Rubik"/>
              <a:ea typeface="Rubik"/>
              <a:cs typeface="Rubik"/>
              <a:sym typeface="Rubik"/>
            </a:endParaRPr>
          </a:p>
        </p:txBody>
      </p:sp>
      <p:sp>
        <p:nvSpPr>
          <p:cNvPr id="112" name="Google Shape;112;p18"/>
          <p:cNvSpPr txBox="1"/>
          <p:nvPr/>
        </p:nvSpPr>
        <p:spPr>
          <a:xfrm>
            <a:off x="340500" y="452038"/>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i="0" u="none" strike="noStrike" cap="none">
                <a:solidFill>
                  <a:srgbClr val="000000"/>
                </a:solidFill>
                <a:latin typeface="Rubik"/>
                <a:ea typeface="Rubik"/>
                <a:cs typeface="Rubik"/>
                <a:sym typeface="Rubik"/>
              </a:rPr>
              <a:t>Project </a:t>
            </a:r>
            <a:r>
              <a:rPr lang="en" sz="3000" b="1" i="0" u="none" strike="noStrike" cap="none">
                <a:solidFill>
                  <a:schemeClr val="accent5"/>
                </a:solidFill>
                <a:latin typeface="Rubik"/>
                <a:ea typeface="Rubik"/>
                <a:cs typeface="Rubik"/>
                <a:sym typeface="Rubik"/>
              </a:rPr>
              <a:t>Portfolio</a:t>
            </a:r>
            <a:endParaRPr sz="3000" b="1" i="0" u="none" strike="noStrike" cap="none">
              <a:solidFill>
                <a:schemeClr val="accent5"/>
              </a:solidFill>
              <a:latin typeface="Rubik"/>
              <a:ea typeface="Rubik"/>
              <a:cs typeface="Rubik"/>
              <a:sym typeface="Rubik"/>
            </a:endParaRPr>
          </a:p>
        </p:txBody>
      </p:sp>
    </p:spTree>
    <p:extLst>
      <p:ext uri="{BB962C8B-B14F-4D97-AF65-F5344CB8AC3E}">
        <p14:creationId xmlns:p14="http://schemas.microsoft.com/office/powerpoint/2010/main" val="3022705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25844" y="1509936"/>
            <a:ext cx="8463000" cy="2123628"/>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i="0" u="none" strike="noStrike" cap="none" dirty="0">
                <a:solidFill>
                  <a:srgbClr val="000000"/>
                </a:solidFill>
                <a:latin typeface="Rubik"/>
                <a:ea typeface="Rubik"/>
                <a:cs typeface="Rubik"/>
                <a:sym typeface="Rubik"/>
              </a:rPr>
              <a:t>Strategy </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To strengthen the background and identify bottlenecks, I analyzed the provided Excel dataset focusing on:</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Month-to-Month User Growth: To assess platform adoption trends.</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User Type Analysis: To understand the proportion of new vs. returning users.</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Funnel Analysis: To pinpoint the stage with the largest drop-off.</a:t>
            </a:r>
          </a:p>
          <a:p>
            <a:pPr marL="171450" indent="-171450">
              <a:lnSpc>
                <a:spcPct val="150000"/>
              </a:lnSpc>
              <a:buClr>
                <a:schemeClr val="dk1"/>
              </a:buClr>
              <a:buSzPts val="1400"/>
              <a:buFont typeface="Arial" panose="020B0604020202020204" pitchFamily="34" charset="0"/>
              <a:buChar char="•"/>
            </a:pPr>
            <a:endParaRPr lang="en-US" sz="1200" dirty="0">
              <a:latin typeface="Rubik"/>
              <a:ea typeface="Rubik"/>
              <a:cs typeface="Rubik"/>
              <a:sym typeface="Rubik"/>
            </a:endParaRPr>
          </a:p>
          <a:p>
            <a:pPr>
              <a:lnSpc>
                <a:spcPct val="150000"/>
              </a:lnSpc>
              <a:buClr>
                <a:schemeClr val="dk1"/>
              </a:buClr>
              <a:buSzPts val="1400"/>
            </a:pPr>
            <a:endParaRPr lang="en" sz="1200" i="0" u="none" strike="noStrike" cap="none" dirty="0">
              <a:solidFill>
                <a:srgbClr val="000000"/>
              </a:solidFill>
              <a:latin typeface="Rubik"/>
              <a:ea typeface="Rubik"/>
              <a:cs typeface="Rubik"/>
              <a:sym typeface="Rubi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37382" y="1184639"/>
            <a:ext cx="8463000" cy="2954625"/>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dirty="0">
                <a:latin typeface="Rubik"/>
                <a:ea typeface="Rubik"/>
                <a:cs typeface="Rubik"/>
                <a:sym typeface="Rubik"/>
              </a:rPr>
              <a:t>Results and Explanation</a:t>
            </a:r>
            <a:endParaRPr lang="en" sz="1200" b="1"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u="none" strike="noStrike" cap="none" dirty="0">
                <a:solidFill>
                  <a:srgbClr val="000000"/>
                </a:solidFill>
                <a:latin typeface="Rubik"/>
                <a:ea typeface="Rubik"/>
                <a:cs typeface="Rubik"/>
                <a:sym typeface="Rubik"/>
              </a:rPr>
              <a:t>a. Month-to-Month User Growth</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Total users: January (143,274), February (154,321), March (167,864).</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Growth rates:</a:t>
            </a:r>
          </a:p>
          <a:p>
            <a:pPr lvl="2">
              <a:lnSpc>
                <a:spcPct val="150000"/>
              </a:lnSpc>
              <a:buClr>
                <a:schemeClr val="dk1"/>
              </a:buClr>
              <a:buSzPts val="1400"/>
            </a:pPr>
            <a:r>
              <a:rPr lang="en-US" sz="1200" dirty="0">
                <a:latin typeface="Rubik"/>
                <a:ea typeface="Rubik"/>
                <a:cs typeface="Rubik"/>
                <a:sym typeface="Rubik"/>
              </a:rPr>
              <a:t>	1) </a:t>
            </a:r>
            <a:r>
              <a:rPr lang="en-US" sz="1200" i="0" u="none" strike="noStrike" cap="none" dirty="0">
                <a:solidFill>
                  <a:srgbClr val="000000"/>
                </a:solidFill>
                <a:latin typeface="Rubik"/>
                <a:ea typeface="Rubik"/>
                <a:cs typeface="Rubik"/>
                <a:sym typeface="Rubik"/>
              </a:rPr>
              <a:t>Jan to Feb: (154,321 - 143,274) / 143,274 × 100 = 7.71%</a:t>
            </a:r>
          </a:p>
          <a:p>
            <a:pPr lvl="2">
              <a:lnSpc>
                <a:spcPct val="150000"/>
              </a:lnSpc>
              <a:buClr>
                <a:schemeClr val="dk1"/>
              </a:buClr>
              <a:buSzPts val="1400"/>
            </a:pPr>
            <a:r>
              <a:rPr lang="en-US" sz="1200" dirty="0">
                <a:latin typeface="Rubik"/>
                <a:ea typeface="Rubik"/>
                <a:cs typeface="Rubik"/>
                <a:sym typeface="Rubik"/>
              </a:rPr>
              <a:t>	2) </a:t>
            </a:r>
            <a:r>
              <a:rPr lang="en-US" sz="1200" i="0" u="none" strike="noStrike" cap="none" dirty="0">
                <a:solidFill>
                  <a:srgbClr val="000000"/>
                </a:solidFill>
                <a:latin typeface="Rubik"/>
                <a:ea typeface="Rubik"/>
                <a:cs typeface="Rubik"/>
                <a:sym typeface="Rubik"/>
              </a:rPr>
              <a:t>Feb to Mar: (167,864 - 154,321) / 154,321 × 100 = 8.77%</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endParaRPr lang="en-US" sz="1200" b="1" dirty="0">
              <a:latin typeface="Rubik"/>
              <a:ea typeface="Rubik"/>
              <a:cs typeface="Rubik"/>
              <a:sym typeface="Rubik"/>
            </a:endParaRP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The 7–8% monthly growth indicates strong user acquisition, but conversion within the submission funnel needs improvement to capitalize on this trend.</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654700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pic>
        <p:nvPicPr>
          <p:cNvPr id="5" name="Picture 4">
            <a:extLst>
              <a:ext uri="{FF2B5EF4-FFF2-40B4-BE49-F238E27FC236}">
                <a16:creationId xmlns:a16="http://schemas.microsoft.com/office/drawing/2014/main" id="{34C2D7CA-E168-4FE3-92CD-02B6EA21CAD5}"/>
              </a:ext>
            </a:extLst>
          </p:cNvPr>
          <p:cNvPicPr>
            <a:picLocks noChangeAspect="1"/>
          </p:cNvPicPr>
          <p:nvPr/>
        </p:nvPicPr>
        <p:blipFill>
          <a:blip r:embed="rId5"/>
          <a:stretch>
            <a:fillRect/>
          </a:stretch>
        </p:blipFill>
        <p:spPr>
          <a:xfrm>
            <a:off x="1734407" y="1208107"/>
            <a:ext cx="5675185" cy="3675424"/>
          </a:xfrm>
          <a:prstGeom prst="rect">
            <a:avLst/>
          </a:prstGeom>
        </p:spPr>
      </p:pic>
    </p:spTree>
    <p:extLst>
      <p:ext uri="{BB962C8B-B14F-4D97-AF65-F5344CB8AC3E}">
        <p14:creationId xmlns:p14="http://schemas.microsoft.com/office/powerpoint/2010/main" val="2821258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37382" y="1172447"/>
            <a:ext cx="8463000" cy="2677626"/>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dirty="0">
                <a:latin typeface="Rubik"/>
                <a:ea typeface="Rubik"/>
                <a:cs typeface="Rubik"/>
                <a:sym typeface="Rubik"/>
              </a:rPr>
              <a:t>Results and Explanation</a:t>
            </a:r>
            <a:endParaRPr lang="en" sz="1200" b="1"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u="none" strike="noStrike" cap="none" dirty="0">
                <a:solidFill>
                  <a:srgbClr val="000000"/>
                </a:solidFill>
                <a:latin typeface="Rubik"/>
                <a:ea typeface="Rubik"/>
                <a:cs typeface="Rubik"/>
                <a:sym typeface="Rubik"/>
              </a:rPr>
              <a:t>b. User Type Analysis</a:t>
            </a:r>
          </a:p>
          <a:p>
            <a:pPr marL="171450" indent="-171450">
              <a:lnSpc>
                <a:spcPct val="150000"/>
              </a:lnSpc>
              <a:buClr>
                <a:schemeClr val="dk1"/>
              </a:buClr>
              <a:buSzPts val="1400"/>
              <a:buFont typeface="Arial" panose="020B0604020202020204" pitchFamily="34" charset="0"/>
              <a:buChar char="•"/>
            </a:pPr>
            <a:r>
              <a:rPr lang="en-US" sz="1200" u="none" strike="noStrike" cap="none" dirty="0">
                <a:solidFill>
                  <a:srgbClr val="000000"/>
                </a:solidFill>
                <a:latin typeface="Rubik"/>
                <a:ea typeface="Rubik"/>
                <a:cs typeface="Rubik"/>
                <a:sym typeface="Rubik"/>
              </a:rPr>
              <a:t>March 2022:</a:t>
            </a:r>
          </a:p>
          <a:p>
            <a:pPr>
              <a:lnSpc>
                <a:spcPct val="150000"/>
              </a:lnSpc>
              <a:buClr>
                <a:schemeClr val="dk1"/>
              </a:buClr>
              <a:buSzPts val="1400"/>
            </a:pPr>
            <a:r>
              <a:rPr lang="en-US" sz="1200" dirty="0">
                <a:latin typeface="Rubik"/>
                <a:ea typeface="Rubik"/>
                <a:cs typeface="Rubik"/>
                <a:sym typeface="Rubik"/>
              </a:rPr>
              <a:t>	1) </a:t>
            </a:r>
            <a:r>
              <a:rPr lang="en-US" sz="1200" u="none" strike="noStrike" cap="none" dirty="0">
                <a:solidFill>
                  <a:srgbClr val="000000"/>
                </a:solidFill>
                <a:latin typeface="Rubik"/>
                <a:ea typeface="Rubik"/>
                <a:cs typeface="Rubik"/>
                <a:sym typeface="Rubik"/>
              </a:rPr>
              <a:t>New Users: 124,528 (74.2%)</a:t>
            </a:r>
          </a:p>
          <a:p>
            <a:pPr>
              <a:lnSpc>
                <a:spcPct val="150000"/>
              </a:lnSpc>
              <a:buClr>
                <a:schemeClr val="dk1"/>
              </a:buClr>
              <a:buSzPts val="1400"/>
            </a:pPr>
            <a:r>
              <a:rPr lang="en-US" sz="1200" dirty="0">
                <a:latin typeface="Rubik"/>
                <a:ea typeface="Rubik"/>
                <a:cs typeface="Rubik"/>
                <a:sym typeface="Rubik"/>
              </a:rPr>
              <a:t>	2) </a:t>
            </a:r>
            <a:r>
              <a:rPr lang="en-US" sz="1200" u="none" strike="noStrike" cap="none" dirty="0">
                <a:solidFill>
                  <a:srgbClr val="000000"/>
                </a:solidFill>
                <a:latin typeface="Rubik"/>
                <a:ea typeface="Rubik"/>
                <a:cs typeface="Rubik"/>
                <a:sym typeface="Rubik"/>
              </a:rPr>
              <a:t>Returning Users: 43,336 (25.8%)</a:t>
            </a:r>
          </a:p>
          <a:p>
            <a:pPr>
              <a:lnSpc>
                <a:spcPct val="150000"/>
              </a:lnSpc>
              <a:buClr>
                <a:schemeClr val="dk1"/>
              </a:buClr>
              <a:buSzPts val="1400"/>
            </a:pPr>
            <a:endParaRPr lang="en-US" sz="120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u="none" strike="noStrike" cap="none" dirty="0">
                <a:solidFill>
                  <a:srgbClr val="000000"/>
                </a:solidFill>
                <a:latin typeface="Rubik"/>
                <a:ea typeface="Rubik"/>
                <a:cs typeface="Rubik"/>
                <a:sym typeface="Rubik"/>
              </a:rPr>
              <a:t>Explanation</a:t>
            </a:r>
            <a:endParaRPr lang="en-US" sz="1200" b="1" dirty="0">
              <a:latin typeface="Rubik"/>
              <a:ea typeface="Rubik"/>
              <a:cs typeface="Rubik"/>
              <a:sym typeface="Rubik"/>
            </a:endParaRP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The high proportion of new users (74.2%) reflects effective acquisition but highlights the need for retention strategies to increase returning users, who may be more likely to complete submissions.</a:t>
            </a:r>
            <a:r>
              <a:rPr lang="en-US" sz="1200" i="0" u="none" strike="noStrike" cap="none" dirty="0">
                <a:solidFill>
                  <a:srgbClr val="000000"/>
                </a:solidFill>
                <a:latin typeface="Rubik"/>
                <a:ea typeface="Rubik"/>
                <a:cs typeface="Rubik"/>
                <a:sym typeface="Rubik"/>
              </a:rPr>
              <a:t>.</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374422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pic>
        <p:nvPicPr>
          <p:cNvPr id="3" name="Picture 2">
            <a:extLst>
              <a:ext uri="{FF2B5EF4-FFF2-40B4-BE49-F238E27FC236}">
                <a16:creationId xmlns:a16="http://schemas.microsoft.com/office/drawing/2014/main" id="{D72B19CC-03EA-46F4-8AEC-BDE11C044BE9}"/>
              </a:ext>
            </a:extLst>
          </p:cNvPr>
          <p:cNvPicPr>
            <a:picLocks noChangeAspect="1"/>
          </p:cNvPicPr>
          <p:nvPr/>
        </p:nvPicPr>
        <p:blipFill>
          <a:blip r:embed="rId5"/>
          <a:stretch>
            <a:fillRect/>
          </a:stretch>
        </p:blipFill>
        <p:spPr>
          <a:xfrm>
            <a:off x="1844777" y="1052338"/>
            <a:ext cx="5854280" cy="3791411"/>
          </a:xfrm>
          <a:prstGeom prst="rect">
            <a:avLst/>
          </a:prstGeom>
        </p:spPr>
      </p:pic>
    </p:spTree>
    <p:extLst>
      <p:ext uri="{BB962C8B-B14F-4D97-AF65-F5344CB8AC3E}">
        <p14:creationId xmlns:p14="http://schemas.microsoft.com/office/powerpoint/2010/main" val="215657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50228" y="1066838"/>
            <a:ext cx="8463000" cy="406262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dirty="0">
                <a:latin typeface="Rubik"/>
                <a:ea typeface="Rubik"/>
                <a:cs typeface="Rubik"/>
                <a:sym typeface="Rubik"/>
              </a:rPr>
              <a:t>Results and Explanation</a:t>
            </a:r>
            <a:endParaRPr lang="en" sz="1200" b="1"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u="none" strike="noStrike" cap="none" dirty="0">
                <a:solidFill>
                  <a:srgbClr val="000000"/>
                </a:solidFill>
                <a:latin typeface="Rubik"/>
                <a:ea typeface="Rubik"/>
                <a:cs typeface="Rubik"/>
                <a:sym typeface="Rubik"/>
              </a:rPr>
              <a:t>c. Funnel Analysis</a:t>
            </a:r>
          </a:p>
          <a:p>
            <a:pPr marL="171450" indent="-171450">
              <a:lnSpc>
                <a:spcPct val="150000"/>
              </a:lnSpc>
              <a:buClr>
                <a:schemeClr val="dk1"/>
              </a:buClr>
              <a:buSzPts val="1400"/>
              <a:buFont typeface="Arial" panose="020B0604020202020204" pitchFamily="34" charset="0"/>
              <a:buChar char="•"/>
            </a:pPr>
            <a:r>
              <a:rPr lang="en-US" sz="1200" u="none" strike="noStrike" cap="none" dirty="0">
                <a:solidFill>
                  <a:srgbClr val="000000"/>
                </a:solidFill>
                <a:latin typeface="Rubik"/>
                <a:ea typeface="Rubik"/>
                <a:cs typeface="Rubik"/>
                <a:sym typeface="Rubik"/>
              </a:rPr>
              <a:t>March 2022 funnel:</a:t>
            </a:r>
          </a:p>
          <a:p>
            <a:pPr>
              <a:lnSpc>
                <a:spcPct val="150000"/>
              </a:lnSpc>
              <a:buClr>
                <a:schemeClr val="dk1"/>
              </a:buClr>
              <a:buSzPts val="1400"/>
            </a:pPr>
            <a:r>
              <a:rPr lang="en-US" sz="1200" dirty="0">
                <a:latin typeface="Rubik"/>
                <a:ea typeface="Rubik"/>
                <a:cs typeface="Rubik"/>
                <a:sym typeface="Rubik"/>
              </a:rPr>
              <a:t>	1) </a:t>
            </a:r>
            <a:r>
              <a:rPr lang="en-US" sz="1200" u="none" strike="noStrike" cap="none" dirty="0">
                <a:solidFill>
                  <a:srgbClr val="000000"/>
                </a:solidFill>
                <a:latin typeface="Rubik"/>
                <a:ea typeface="Rubik"/>
                <a:cs typeface="Rubik"/>
                <a:sym typeface="Rubik"/>
              </a:rPr>
              <a:t>Part 1 (Choose Submit Idea): 167,864</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2) Part 2 (Input Data): 156,342 (6.8%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3) Part 3 (Input Prototype): 154,442 (1.2%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4) Part 4 (Receive Notification): 123,423 (20.1%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5) Part 5 (Open Email Confirmation): 54,231 (56.0%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6) Part 6 (Terms and Conditions): 54,221 (0.02%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7) Part 7 (Preview Idea): 54,110 (0.2% drop)</a:t>
            </a: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	8) Part 8 (Publish Idea): 53,210 (1.7% drop, 68.3% drop from Part 1)</a:t>
            </a:r>
          </a:p>
          <a:p>
            <a:pPr>
              <a:lnSpc>
                <a:spcPct val="150000"/>
              </a:lnSpc>
              <a:buClr>
                <a:schemeClr val="dk1"/>
              </a:buClr>
              <a:buSzPts val="1400"/>
            </a:pPr>
            <a:r>
              <a:rPr lang="en-US" sz="1200" b="1" u="none" strike="noStrike" cap="none" dirty="0">
                <a:solidFill>
                  <a:srgbClr val="000000"/>
                </a:solidFill>
                <a:latin typeface="Rubik"/>
                <a:ea typeface="Rubik"/>
                <a:cs typeface="Rubik"/>
                <a:sym typeface="Rubik"/>
              </a:rPr>
              <a:t>Explanation</a:t>
            </a:r>
            <a:endParaRPr lang="en-US" sz="1200" b="1" dirty="0">
              <a:latin typeface="Rubik"/>
              <a:ea typeface="Rubik"/>
              <a:cs typeface="Rubik"/>
              <a:sym typeface="Rubik"/>
            </a:endParaRPr>
          </a:p>
          <a:p>
            <a:pPr>
              <a:lnSpc>
                <a:spcPct val="150000"/>
              </a:lnSpc>
              <a:buClr>
                <a:schemeClr val="dk1"/>
              </a:buClr>
              <a:buSzPts val="1400"/>
            </a:pPr>
            <a:r>
              <a:rPr lang="en-US" sz="1200" u="none" strike="noStrike" cap="none" dirty="0">
                <a:solidFill>
                  <a:srgbClr val="000000"/>
                </a:solidFill>
                <a:latin typeface="Rubik"/>
                <a:ea typeface="Rubik"/>
                <a:cs typeface="Rubik"/>
                <a:sym typeface="Rubik"/>
              </a:rPr>
              <a:t>The largest drop-off (56%) occurs between Part 4 and Part 5, suggesting users are confused about checking their email or find the notification unclear.</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322034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pic>
        <p:nvPicPr>
          <p:cNvPr id="3" name="Picture 2">
            <a:extLst>
              <a:ext uri="{FF2B5EF4-FFF2-40B4-BE49-F238E27FC236}">
                <a16:creationId xmlns:a16="http://schemas.microsoft.com/office/drawing/2014/main" id="{6DC7E070-EA20-48A3-A99E-F18B552A3A50}"/>
              </a:ext>
            </a:extLst>
          </p:cNvPr>
          <p:cNvPicPr>
            <a:picLocks noChangeAspect="1"/>
          </p:cNvPicPr>
          <p:nvPr/>
        </p:nvPicPr>
        <p:blipFill>
          <a:blip r:embed="rId5"/>
          <a:stretch>
            <a:fillRect/>
          </a:stretch>
        </p:blipFill>
        <p:spPr>
          <a:xfrm>
            <a:off x="1463040" y="1108742"/>
            <a:ext cx="5943409" cy="3849133"/>
          </a:xfrm>
          <a:prstGeom prst="rect">
            <a:avLst/>
          </a:prstGeom>
        </p:spPr>
      </p:pic>
    </p:spTree>
    <p:extLst>
      <p:ext uri="{BB962C8B-B14F-4D97-AF65-F5344CB8AC3E}">
        <p14:creationId xmlns:p14="http://schemas.microsoft.com/office/powerpoint/2010/main" val="2430889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50228" y="1232937"/>
            <a:ext cx="8463000" cy="2677626"/>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dirty="0">
                <a:latin typeface="Rubik"/>
                <a:ea typeface="Rubik"/>
                <a:cs typeface="Rubik"/>
                <a:sym typeface="Rubik"/>
              </a:rPr>
              <a:t>Demographic Insights</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Age (Mar 2022): 18–24 (40%), 25–34 (36%), 35–44 (13%), 45–54 (8%), &gt;54 (3%)</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Gender: Male (53%), Female (47%)</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Geography: Jakarta (24%), Surabaya (18%), Bandung (15%)</a:t>
            </a:r>
          </a:p>
          <a:p>
            <a:pPr marL="171450" indent="-171450">
              <a:lnSpc>
                <a:spcPct val="150000"/>
              </a:lnSpc>
              <a:buClr>
                <a:schemeClr val="dk1"/>
              </a:buClr>
              <a:buSzPts val="1400"/>
              <a:buFont typeface="Arial" panose="020B0604020202020204" pitchFamily="34" charset="0"/>
              <a:buChar char="•"/>
            </a:pPr>
            <a:r>
              <a:rPr lang="en-US" sz="1200" i="0" u="none" strike="noStrike" cap="none" dirty="0">
                <a:solidFill>
                  <a:srgbClr val="000000"/>
                </a:solidFill>
                <a:latin typeface="Rubik"/>
                <a:ea typeface="Rubik"/>
                <a:cs typeface="Rubik"/>
                <a:sym typeface="Rubik"/>
              </a:rPr>
              <a:t>Session Duration: 61–180s (34%), 181–600s (26%)</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Young adults (18–34, 76%) dominate, with balanced gender distribution. Moderate session durations suggest engagement but potential interface complexity.</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1435502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pic>
        <p:nvPicPr>
          <p:cNvPr id="3" name="Picture 2">
            <a:extLst>
              <a:ext uri="{FF2B5EF4-FFF2-40B4-BE49-F238E27FC236}">
                <a16:creationId xmlns:a16="http://schemas.microsoft.com/office/drawing/2014/main" id="{CC15521C-CD8C-4315-8134-84E62A486F5F}"/>
              </a:ext>
            </a:extLst>
          </p:cNvPr>
          <p:cNvPicPr>
            <a:picLocks noChangeAspect="1"/>
          </p:cNvPicPr>
          <p:nvPr/>
        </p:nvPicPr>
        <p:blipFill>
          <a:blip r:embed="rId5"/>
          <a:stretch>
            <a:fillRect/>
          </a:stretch>
        </p:blipFill>
        <p:spPr>
          <a:xfrm>
            <a:off x="1840992" y="1029782"/>
            <a:ext cx="6065329" cy="3928093"/>
          </a:xfrm>
          <a:prstGeom prst="rect">
            <a:avLst/>
          </a:prstGeom>
        </p:spPr>
      </p:pic>
    </p:spTree>
    <p:extLst>
      <p:ext uri="{BB962C8B-B14F-4D97-AF65-F5344CB8AC3E}">
        <p14:creationId xmlns:p14="http://schemas.microsoft.com/office/powerpoint/2010/main" val="3727084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19" name="Google Shape;119;p1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0" name="Google Shape;120;p1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a:pPr>
            <a:r>
              <a:rPr lang="en" sz="2700" b="1">
                <a:latin typeface="Rubik"/>
                <a:ea typeface="Rubik"/>
                <a:cs typeface="Rubik"/>
                <a:sym typeface="Rubik"/>
              </a:rPr>
              <a:t>Data </a:t>
            </a:r>
            <a:r>
              <a:rPr lang="en" sz="2700" b="1">
                <a:solidFill>
                  <a:schemeClr val="accent5"/>
                </a:solidFill>
                <a:latin typeface="Rubik"/>
                <a:ea typeface="Rubik"/>
                <a:cs typeface="Rubik"/>
                <a:sym typeface="Rubik"/>
              </a:rPr>
              <a:t>Analysis</a:t>
            </a:r>
            <a:endParaRPr sz="2700" b="1">
              <a:solidFill>
                <a:schemeClr val="accent5"/>
              </a:solidFill>
              <a:latin typeface="Rubik"/>
              <a:ea typeface="Rubik"/>
              <a:cs typeface="Rubik"/>
              <a:sym typeface="Rubik"/>
            </a:endParaRPr>
          </a:p>
        </p:txBody>
      </p:sp>
      <p:sp>
        <p:nvSpPr>
          <p:cNvPr id="121" name="Google Shape;121;p19"/>
          <p:cNvSpPr txBox="1"/>
          <p:nvPr/>
        </p:nvSpPr>
        <p:spPr>
          <a:xfrm>
            <a:off x="450228" y="1037865"/>
            <a:ext cx="8463000" cy="1015632"/>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dirty="0">
                <a:latin typeface="Rubik"/>
                <a:ea typeface="Rubik"/>
                <a:cs typeface="Rubik"/>
                <a:sym typeface="Rubik"/>
              </a:rPr>
              <a:t>Session Duration Distribution</a:t>
            </a:r>
            <a:endParaRPr lang="en" sz="1200" dirty="0">
              <a:latin typeface="Rubik"/>
              <a:ea typeface="Rubik"/>
              <a:cs typeface="Rubik"/>
              <a:sym typeface="Rubik"/>
            </a:endParaRPr>
          </a:p>
          <a:p>
            <a:pPr>
              <a:lnSpc>
                <a:spcPct val="150000"/>
              </a:lnSpc>
              <a:buClr>
                <a:schemeClr val="dk1"/>
              </a:buClr>
              <a:buSzPts val="1400"/>
            </a:pPr>
            <a:r>
              <a:rPr lang="en-US" sz="1200" dirty="0">
                <a:latin typeface="Rubik"/>
                <a:ea typeface="Rubik"/>
                <a:cs typeface="Rubik"/>
                <a:sym typeface="Rubik"/>
              </a:rPr>
              <a:t>This diagram shows session duration to assess engagement. The high percentage of short sessions (61–180s, 34%) suggests users may find the process complex, contributing to drop-off.</a:t>
            </a:r>
            <a:endParaRPr lang="en" sz="1200" dirty="0">
              <a:latin typeface="Rubik"/>
              <a:ea typeface="Rubik"/>
              <a:cs typeface="Rubik"/>
              <a:sym typeface="Rubik"/>
            </a:endParaRPr>
          </a:p>
        </p:txBody>
      </p:sp>
      <p:pic>
        <p:nvPicPr>
          <p:cNvPr id="3" name="Picture 2">
            <a:extLst>
              <a:ext uri="{FF2B5EF4-FFF2-40B4-BE49-F238E27FC236}">
                <a16:creationId xmlns:a16="http://schemas.microsoft.com/office/drawing/2014/main" id="{1D103A13-52DD-45BA-A824-7CF674CB9B99}"/>
              </a:ext>
            </a:extLst>
          </p:cNvPr>
          <p:cNvPicPr>
            <a:picLocks noChangeAspect="1"/>
          </p:cNvPicPr>
          <p:nvPr/>
        </p:nvPicPr>
        <p:blipFill>
          <a:blip r:embed="rId5"/>
          <a:stretch>
            <a:fillRect/>
          </a:stretch>
        </p:blipFill>
        <p:spPr>
          <a:xfrm>
            <a:off x="2490311" y="2069200"/>
            <a:ext cx="4504616" cy="2917327"/>
          </a:xfrm>
          <a:prstGeom prst="rect">
            <a:avLst/>
          </a:prstGeom>
        </p:spPr>
      </p:pic>
    </p:spTree>
    <p:extLst>
      <p:ext uri="{BB962C8B-B14F-4D97-AF65-F5344CB8AC3E}">
        <p14:creationId xmlns:p14="http://schemas.microsoft.com/office/powerpoint/2010/main" val="4060237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0"/>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p20"/>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p20"/>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Research </a:t>
            </a:r>
            <a:r>
              <a:rPr lang="en" sz="2700" b="1">
                <a:solidFill>
                  <a:schemeClr val="accent5"/>
                </a:solidFill>
                <a:latin typeface="Rubik"/>
                <a:ea typeface="Rubik"/>
                <a:cs typeface="Rubik"/>
                <a:sym typeface="Rubik"/>
              </a:rPr>
              <a:t>Plan</a:t>
            </a:r>
            <a:endParaRPr sz="2700" b="1">
              <a:solidFill>
                <a:schemeClr val="accent5"/>
              </a:solidFill>
              <a:latin typeface="Rubik"/>
              <a:ea typeface="Rubik"/>
              <a:cs typeface="Rubik"/>
              <a:sym typeface="Rubik"/>
            </a:endParaRPr>
          </a:p>
        </p:txBody>
      </p:sp>
      <p:sp>
        <p:nvSpPr>
          <p:cNvPr id="129" name="Google Shape;129;p20"/>
          <p:cNvSpPr txBox="1"/>
          <p:nvPr/>
        </p:nvSpPr>
        <p:spPr>
          <a:xfrm>
            <a:off x="340500" y="1238426"/>
            <a:ext cx="8463000" cy="3508623"/>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SzPts val="5000"/>
            </a:pPr>
            <a:r>
              <a:rPr lang="en" sz="1200" b="1" dirty="0">
                <a:latin typeface="Rubik"/>
                <a:ea typeface="Rubik"/>
                <a:cs typeface="Rubik"/>
                <a:sym typeface="Rubik"/>
              </a:rPr>
              <a:t>Strategy</a:t>
            </a:r>
          </a:p>
          <a:p>
            <a:pPr>
              <a:lnSpc>
                <a:spcPct val="150000"/>
              </a:lnSpc>
              <a:buSzPts val="5000"/>
            </a:pPr>
            <a:r>
              <a:rPr lang="en-US" sz="1200" dirty="0">
                <a:latin typeface="Rubik"/>
                <a:ea typeface="Rubik"/>
                <a:cs typeface="Rubik"/>
                <a:sym typeface="Rubik"/>
              </a:rPr>
              <a:t>To address the 56% drop-off between Part 4 and Part 5, I designed a research plan using surveys and usability testing (UT) to identify barriers and improve conversion to the investor dashboard.</a:t>
            </a:r>
            <a:endParaRPr lang="en" sz="1200" dirty="0">
              <a:latin typeface="Rubik"/>
              <a:ea typeface="Rubik"/>
              <a:cs typeface="Rubik"/>
              <a:sym typeface="Rubik"/>
            </a:endParaRPr>
          </a:p>
          <a:p>
            <a:pPr>
              <a:lnSpc>
                <a:spcPct val="150000"/>
              </a:lnSpc>
              <a:buSzPts val="5000"/>
            </a:pPr>
            <a:endParaRPr lang="en" sz="1200" dirty="0">
              <a:latin typeface="Rubik"/>
              <a:ea typeface="Rubik"/>
              <a:cs typeface="Rubik"/>
              <a:sym typeface="Rubik"/>
            </a:endParaRPr>
          </a:p>
          <a:p>
            <a:pPr>
              <a:lnSpc>
                <a:spcPct val="150000"/>
              </a:lnSpc>
              <a:buSzPts val="5000"/>
            </a:pPr>
            <a:r>
              <a:rPr lang="en" sz="1200" b="1" dirty="0">
                <a:latin typeface="Rubik"/>
                <a:ea typeface="Rubik"/>
                <a:cs typeface="Rubik"/>
                <a:sym typeface="Rubik"/>
              </a:rPr>
              <a:t>Result and Explanation</a:t>
            </a:r>
          </a:p>
          <a:p>
            <a:pPr>
              <a:lnSpc>
                <a:spcPct val="150000"/>
              </a:lnSpc>
              <a:buSzPts val="5000"/>
            </a:pPr>
            <a:r>
              <a:rPr lang="en" sz="1200" b="1" dirty="0">
                <a:latin typeface="Rubik"/>
                <a:ea typeface="Rubik"/>
                <a:cs typeface="Rubik"/>
                <a:sym typeface="Rubik"/>
              </a:rPr>
              <a:t>a. Background</a:t>
            </a:r>
          </a:p>
          <a:p>
            <a:pPr>
              <a:lnSpc>
                <a:spcPct val="150000"/>
              </a:lnSpc>
              <a:buSzPts val="5000"/>
            </a:pPr>
            <a:r>
              <a:rPr lang="en-US" sz="1200" dirty="0">
                <a:latin typeface="Rubik"/>
                <a:ea typeface="Rubik"/>
                <a:cs typeface="Rubik"/>
                <a:sym typeface="Rubik"/>
              </a:rPr>
              <a:t>The 56% drop-off between receiving notifications and opening email confirmations indicates users are confused about next steps or unaware of the need to check their email.</a:t>
            </a:r>
            <a:endParaRPr lang="en" sz="1200" dirty="0">
              <a:latin typeface="Rubik"/>
              <a:ea typeface="Rubik"/>
              <a:cs typeface="Rubik"/>
              <a:sym typeface="Rubik"/>
            </a:endParaRPr>
          </a:p>
          <a:p>
            <a:pPr marL="0" marR="0" lvl="0" indent="0" algn="l" rtl="0">
              <a:lnSpc>
                <a:spcPct val="150000"/>
              </a:lnSpc>
              <a:spcBef>
                <a:spcPts val="0"/>
              </a:spcBef>
              <a:spcAft>
                <a:spcPts val="0"/>
              </a:spcAft>
              <a:buClr>
                <a:srgbClr val="000000"/>
              </a:buClr>
              <a:buSzPts val="5000"/>
              <a:buFont typeface="Arial"/>
              <a:buNone/>
            </a:pPr>
            <a:endParaRPr lang="en-US" sz="1200" dirty="0">
              <a:solidFill>
                <a:schemeClr val="dk1"/>
              </a:solidFill>
              <a:latin typeface="Rubik"/>
              <a:ea typeface="Rubik"/>
              <a:cs typeface="Rubik"/>
              <a:sym typeface="Rubik"/>
            </a:endParaRPr>
          </a:p>
          <a:p>
            <a:pPr marL="0" marR="0" lvl="0" indent="0" algn="l" rtl="0">
              <a:lnSpc>
                <a:spcPct val="150000"/>
              </a:lnSpc>
              <a:spcBef>
                <a:spcPts val="0"/>
              </a:spcBef>
              <a:spcAft>
                <a:spcPts val="0"/>
              </a:spcAft>
              <a:buClr>
                <a:srgbClr val="000000"/>
              </a:buClr>
              <a:buSzPts val="5000"/>
              <a:buFont typeface="Arial"/>
              <a:buNone/>
            </a:pPr>
            <a:r>
              <a:rPr lang="en-US" sz="1200" b="1" dirty="0">
                <a:solidFill>
                  <a:schemeClr val="dk1"/>
                </a:solidFill>
                <a:latin typeface="Rubik"/>
                <a:ea typeface="Rubik"/>
                <a:cs typeface="Rubik"/>
                <a:sym typeface="Rubik"/>
              </a:rPr>
              <a:t>b. Business Objective</a:t>
            </a:r>
          </a:p>
          <a:p>
            <a:pPr marL="0" marR="0" lvl="0" indent="0" algn="l" rtl="0">
              <a:lnSpc>
                <a:spcPct val="150000"/>
              </a:lnSpc>
              <a:spcBef>
                <a:spcPts val="0"/>
              </a:spcBef>
              <a:spcAft>
                <a:spcPts val="0"/>
              </a:spcAft>
              <a:buClr>
                <a:srgbClr val="000000"/>
              </a:buClr>
              <a:buSzPts val="5000"/>
              <a:buFont typeface="Arial"/>
              <a:buNone/>
            </a:pPr>
            <a:r>
              <a:rPr lang="en-US" sz="1200" dirty="0">
                <a:solidFill>
                  <a:schemeClr val="dk1"/>
                </a:solidFill>
                <a:latin typeface="Rubik"/>
                <a:ea typeface="Rubik"/>
                <a:cs typeface="Rubik"/>
                <a:sym typeface="Rubik"/>
              </a:rPr>
              <a:t>Increase the percentage of users completing the idea submission journey to publish on the investor dashboard by 20% within six months.</a:t>
            </a:r>
            <a:endParaRPr sz="1200" dirty="0">
              <a:solidFill>
                <a:schemeClr val="dk1"/>
              </a:solidFill>
              <a:latin typeface="Rubik"/>
              <a:ea typeface="Rubik"/>
              <a:cs typeface="Rubik"/>
              <a:sym typeface="Rubi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0"/>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p20"/>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p20"/>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Research </a:t>
            </a:r>
            <a:r>
              <a:rPr lang="en" sz="2700" b="1">
                <a:solidFill>
                  <a:schemeClr val="accent5"/>
                </a:solidFill>
                <a:latin typeface="Rubik"/>
                <a:ea typeface="Rubik"/>
                <a:cs typeface="Rubik"/>
                <a:sym typeface="Rubik"/>
              </a:rPr>
              <a:t>Plan</a:t>
            </a:r>
            <a:endParaRPr sz="2700" b="1">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E7716DAE-A377-4493-A66C-30A7CE09C713}"/>
              </a:ext>
            </a:extLst>
          </p:cNvPr>
          <p:cNvSpPr txBox="1"/>
          <p:nvPr/>
        </p:nvSpPr>
        <p:spPr>
          <a:xfrm>
            <a:off x="340500" y="1205109"/>
            <a:ext cx="8463000" cy="3785621"/>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dirty="0">
                <a:latin typeface="Rubik"/>
                <a:ea typeface="Rubik"/>
                <a:cs typeface="Rubik"/>
                <a:sym typeface="Rubik"/>
              </a:rPr>
              <a:t>c. Support Metrics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Conversion rate from Part 4 to Part 8 (current: 43.1%, target: 51.7%).</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Single Ease Question (SEQ) score post-UT (target: average ≥5 on 1–7 scale).</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Time spent on email confirmation and subsequent steps (target: &lt;5 minutes).</a:t>
            </a:r>
          </a:p>
          <a:p>
            <a:pPr>
              <a:lnSpc>
                <a:spcPct val="150000"/>
              </a:lnSpc>
              <a:buClr>
                <a:schemeClr val="dk1"/>
              </a:buClr>
              <a:buSzPts val="1400"/>
            </a:pPr>
            <a:endParaRPr lang="en-US" sz="1200" b="1" dirty="0">
              <a:latin typeface="Rubik"/>
              <a:ea typeface="Rubik"/>
              <a:cs typeface="Rubik"/>
              <a:sym typeface="Rubik"/>
            </a:endParaRPr>
          </a:p>
          <a:p>
            <a:pPr>
              <a:lnSpc>
                <a:spcPct val="150000"/>
              </a:lnSpc>
              <a:buClr>
                <a:schemeClr val="dk1"/>
              </a:buClr>
              <a:buSzPts val="1400"/>
            </a:pPr>
            <a:r>
              <a:rPr lang="en-US" sz="1200" b="1" dirty="0">
                <a:latin typeface="Rubik"/>
                <a:ea typeface="Rubik"/>
                <a:cs typeface="Rubik"/>
                <a:sym typeface="Rubik"/>
              </a:rPr>
              <a:t>d. Stakeholder Mapping</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Primary: Product Manager, UX/UI Designers, Developers.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Secondary: Marketing Team, Investors.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Users: Idea submitters (new and returning).</a:t>
            </a:r>
          </a:p>
          <a:p>
            <a:pPr marL="171450" indent="-171450">
              <a:lnSpc>
                <a:spcPct val="150000"/>
              </a:lnSpc>
              <a:buClr>
                <a:schemeClr val="dk1"/>
              </a:buClr>
              <a:buSzPts val="1400"/>
              <a:buFont typeface="Arial" panose="020B0604020202020204" pitchFamily="34" charset="0"/>
              <a:buChar char="•"/>
            </a:pPr>
            <a:endParaRPr lang="en-US" sz="1200" dirty="0">
              <a:latin typeface="Rubik"/>
              <a:ea typeface="Rubik"/>
              <a:cs typeface="Rubik"/>
              <a:sym typeface="Rubik"/>
            </a:endParaRPr>
          </a:p>
          <a:p>
            <a:pPr>
              <a:lnSpc>
                <a:spcPct val="150000"/>
              </a:lnSpc>
              <a:buClr>
                <a:schemeClr val="dk1"/>
              </a:buClr>
              <a:buSzPts val="1400"/>
            </a:pPr>
            <a:r>
              <a:rPr lang="en-US" sz="1200" b="1" dirty="0">
                <a:latin typeface="Rubik"/>
                <a:ea typeface="Rubik"/>
                <a:cs typeface="Rubik"/>
                <a:sym typeface="Rubik"/>
              </a:rPr>
              <a:t>e. Methods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Survey: To collect qualitative data on user perceptions and barriers.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Usability Testing (UT): To observe real-time interactions and pinpoint pain points.</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184665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0"/>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p20"/>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p20"/>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Research </a:t>
            </a:r>
            <a:r>
              <a:rPr lang="en" sz="2700" b="1">
                <a:solidFill>
                  <a:schemeClr val="accent5"/>
                </a:solidFill>
                <a:latin typeface="Rubik"/>
                <a:ea typeface="Rubik"/>
                <a:cs typeface="Rubik"/>
                <a:sym typeface="Rubik"/>
              </a:rPr>
              <a:t>Plan</a:t>
            </a:r>
            <a:endParaRPr sz="2700" b="1">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E7716DAE-A377-4493-A66C-30A7CE09C713}"/>
              </a:ext>
            </a:extLst>
          </p:cNvPr>
          <p:cNvSpPr txBox="1"/>
          <p:nvPr/>
        </p:nvSpPr>
        <p:spPr>
          <a:xfrm>
            <a:off x="340500" y="1819772"/>
            <a:ext cx="8463000" cy="156963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dirty="0">
                <a:latin typeface="Rubik"/>
                <a:ea typeface="Rubik"/>
                <a:cs typeface="Rubik"/>
                <a:sym typeface="Rubik"/>
              </a:rPr>
              <a:t>f. Research Schedule</a:t>
            </a:r>
            <a:endParaRPr lang="en-US" sz="1200" dirty="0">
              <a:latin typeface="Rubik"/>
              <a:ea typeface="Rubik"/>
              <a:cs typeface="Rubik"/>
              <a:sym typeface="Rubik"/>
            </a:endParaRP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Week 1: Data analysis, survey design.</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Week 2: Survey distribution, collection.</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Week 3: Usability testing sessions.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Week 4: Analysis, recommendations.</a:t>
            </a:r>
            <a:endParaRPr lang="en" sz="1200" i="0" u="none" strike="noStrike" cap="none" dirty="0">
              <a:solidFill>
                <a:srgbClr val="000000"/>
              </a:solidFill>
              <a:latin typeface="Rubik"/>
              <a:ea typeface="Rubik"/>
              <a:cs typeface="Rubik"/>
              <a:sym typeface="Rubik"/>
            </a:endParaRPr>
          </a:p>
        </p:txBody>
      </p:sp>
      <p:pic>
        <p:nvPicPr>
          <p:cNvPr id="3" name="Picture 2">
            <a:extLst>
              <a:ext uri="{FF2B5EF4-FFF2-40B4-BE49-F238E27FC236}">
                <a16:creationId xmlns:a16="http://schemas.microsoft.com/office/drawing/2014/main" id="{DECF5D43-14E6-4439-8E95-6E805B61205C}"/>
              </a:ext>
            </a:extLst>
          </p:cNvPr>
          <p:cNvPicPr>
            <a:picLocks noChangeAspect="1"/>
          </p:cNvPicPr>
          <p:nvPr/>
        </p:nvPicPr>
        <p:blipFill>
          <a:blip r:embed="rId5"/>
          <a:stretch>
            <a:fillRect/>
          </a:stretch>
        </p:blipFill>
        <p:spPr>
          <a:xfrm>
            <a:off x="3753421" y="1084316"/>
            <a:ext cx="5220330" cy="3380845"/>
          </a:xfrm>
          <a:prstGeom prst="rect">
            <a:avLst/>
          </a:prstGeom>
        </p:spPr>
      </p:pic>
    </p:spTree>
    <p:extLst>
      <p:ext uri="{BB962C8B-B14F-4D97-AF65-F5344CB8AC3E}">
        <p14:creationId xmlns:p14="http://schemas.microsoft.com/office/powerpoint/2010/main" val="675250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0"/>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7" name="Google Shape;127;p20"/>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8" name="Google Shape;128;p20"/>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2"/>
            </a:pPr>
            <a:r>
              <a:rPr lang="en" sz="2700" b="1">
                <a:latin typeface="Rubik"/>
                <a:ea typeface="Rubik"/>
                <a:cs typeface="Rubik"/>
                <a:sym typeface="Rubik"/>
              </a:rPr>
              <a:t>Research </a:t>
            </a:r>
            <a:r>
              <a:rPr lang="en" sz="2700" b="1">
                <a:solidFill>
                  <a:schemeClr val="accent5"/>
                </a:solidFill>
                <a:latin typeface="Rubik"/>
                <a:ea typeface="Rubik"/>
                <a:cs typeface="Rubik"/>
                <a:sym typeface="Rubik"/>
              </a:rPr>
              <a:t>Plan</a:t>
            </a:r>
            <a:endParaRPr sz="2700" b="1">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E7716DAE-A377-4493-A66C-30A7CE09C713}"/>
              </a:ext>
            </a:extLst>
          </p:cNvPr>
          <p:cNvSpPr txBox="1"/>
          <p:nvPr/>
        </p:nvSpPr>
        <p:spPr>
          <a:xfrm>
            <a:off x="340500" y="1178963"/>
            <a:ext cx="8463000" cy="3785621"/>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dirty="0">
                <a:latin typeface="Rubik"/>
                <a:ea typeface="Rubik"/>
                <a:cs typeface="Rubik"/>
                <a:sym typeface="Rubik"/>
              </a:rPr>
              <a:t>g. Research Questions</a:t>
            </a:r>
            <a:endParaRPr lang="en-US" sz="1200" dirty="0">
              <a:latin typeface="Rubik"/>
              <a:ea typeface="Rubik"/>
              <a:cs typeface="Rubik"/>
              <a:sym typeface="Rubik"/>
            </a:endParaRP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Why do users abandon after receiving notifications?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What barriers prevent email confirmation completion?</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How can notifications and the interface be optimized?</a:t>
            </a:r>
          </a:p>
          <a:p>
            <a:pPr marL="171450" indent="-171450">
              <a:lnSpc>
                <a:spcPct val="150000"/>
              </a:lnSpc>
              <a:buClr>
                <a:schemeClr val="dk1"/>
              </a:buClr>
              <a:buSzPts val="1400"/>
              <a:buFont typeface="Arial" panose="020B0604020202020204" pitchFamily="34" charset="0"/>
              <a:buChar char="•"/>
            </a:pPr>
            <a:endParaRPr lang="en-US" sz="1200" dirty="0">
              <a:latin typeface="Rubik"/>
              <a:ea typeface="Rubik"/>
              <a:cs typeface="Rubik"/>
              <a:sym typeface="Rubik"/>
            </a:endParaRPr>
          </a:p>
          <a:p>
            <a:pPr>
              <a:lnSpc>
                <a:spcPct val="150000"/>
              </a:lnSpc>
              <a:buClr>
                <a:schemeClr val="dk1"/>
              </a:buClr>
              <a:buSzPts val="1400"/>
            </a:pPr>
            <a:r>
              <a:rPr lang="en-US" sz="1200" b="1" dirty="0">
                <a:latin typeface="Rubik"/>
                <a:ea typeface="Rubik"/>
                <a:cs typeface="Rubik"/>
                <a:sym typeface="Rubik"/>
              </a:rPr>
              <a:t>h. Research Goals</a:t>
            </a:r>
            <a:endParaRPr lang="en-US" sz="1200" dirty="0">
              <a:latin typeface="Rubik"/>
              <a:ea typeface="Rubik"/>
              <a:cs typeface="Rubik"/>
              <a:sym typeface="Rubik"/>
            </a:endParaRP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Identify pain points in the notification and email confirmation process.</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Develop recommendations to streamline the user journey.</a:t>
            </a:r>
          </a:p>
          <a:p>
            <a:pPr marL="171450" indent="-171450">
              <a:lnSpc>
                <a:spcPct val="150000"/>
              </a:lnSpc>
              <a:buClr>
                <a:schemeClr val="dk1"/>
              </a:buClr>
              <a:buSzPts val="1400"/>
              <a:buFont typeface="Arial" panose="020B0604020202020204" pitchFamily="34" charset="0"/>
              <a:buChar char="•"/>
            </a:pPr>
            <a:endParaRPr lang="en-US" sz="1200" dirty="0">
              <a:latin typeface="Rubik"/>
              <a:ea typeface="Rubik"/>
              <a:cs typeface="Rubik"/>
              <a:sym typeface="Rubik"/>
            </a:endParaRPr>
          </a:p>
          <a:p>
            <a:pPr>
              <a:lnSpc>
                <a:spcPct val="150000"/>
              </a:lnSpc>
              <a:buClr>
                <a:schemeClr val="dk1"/>
              </a:buClr>
              <a:buSzPts val="1400"/>
            </a:pPr>
            <a:r>
              <a:rPr lang="en-US" sz="1200" b="1" dirty="0" err="1">
                <a:latin typeface="Rubik"/>
                <a:ea typeface="Rubik"/>
                <a:cs typeface="Rubik"/>
                <a:sym typeface="Rubik"/>
              </a:rPr>
              <a:t>i</a:t>
            </a:r>
            <a:r>
              <a:rPr lang="en-US" sz="1200" b="1" dirty="0">
                <a:latin typeface="Rubik"/>
                <a:ea typeface="Rubik"/>
                <a:cs typeface="Rubik"/>
                <a:sym typeface="Rubik"/>
              </a:rPr>
              <a:t>. Participants</a:t>
            </a:r>
          </a:p>
          <a:p>
            <a:pPr marL="171450" indent="-171450">
              <a:lnSpc>
                <a:spcPct val="150000"/>
              </a:lnSpc>
              <a:buClr>
                <a:schemeClr val="dk1"/>
              </a:buClr>
              <a:buSzPts val="1400"/>
              <a:buFont typeface="Arial" panose="020B0604020202020204" pitchFamily="34" charset="0"/>
              <a:buChar char="•"/>
            </a:pPr>
            <a:r>
              <a:rPr lang="en-US" sz="1200" dirty="0" err="1">
                <a:latin typeface="Rubik"/>
                <a:ea typeface="Rubik"/>
                <a:cs typeface="Rubik"/>
                <a:sym typeface="Rubik"/>
              </a:rPr>
              <a:t>IdeaBox</a:t>
            </a:r>
            <a:r>
              <a:rPr lang="en-US" sz="1200" dirty="0">
                <a:latin typeface="Rubik"/>
                <a:ea typeface="Rubik"/>
                <a:cs typeface="Rubik"/>
                <a:sym typeface="Rubik"/>
              </a:rPr>
              <a:t> Users (10): Users who dropped off at Part 4 or 5.</a:t>
            </a:r>
          </a:p>
          <a:p>
            <a:pPr marL="171450" indent="-171450">
              <a:lnSpc>
                <a:spcPct val="150000"/>
              </a:lnSpc>
              <a:buClr>
                <a:schemeClr val="dk1"/>
              </a:buClr>
              <a:buSzPts val="1400"/>
              <a:buFont typeface="Arial" panose="020B0604020202020204" pitchFamily="34" charset="0"/>
              <a:buChar char="•"/>
            </a:pPr>
            <a:r>
              <a:rPr lang="en-US" sz="1200" dirty="0">
                <a:latin typeface="Rubik"/>
                <a:ea typeface="Rubik"/>
                <a:cs typeface="Rubik"/>
                <a:sym typeface="Rubik"/>
              </a:rPr>
              <a:t>Non-Users (5): Registered users who never submitted ideas.</a:t>
            </a:r>
          </a:p>
          <a:p>
            <a:pPr>
              <a:lnSpc>
                <a:spcPct val="150000"/>
              </a:lnSpc>
              <a:buClr>
                <a:schemeClr val="dk1"/>
              </a:buClr>
              <a:buSzPts val="1400"/>
            </a:pPr>
            <a:r>
              <a:rPr lang="en-US" sz="1200" b="1" dirty="0">
                <a:latin typeface="Rubik"/>
                <a:ea typeface="Rubik"/>
                <a:cs typeface="Rubik"/>
                <a:sym typeface="Rubik"/>
              </a:rPr>
              <a:t>Explanation: </a:t>
            </a:r>
            <a:r>
              <a:rPr lang="en-US" sz="1200" dirty="0">
                <a:latin typeface="Rubik"/>
                <a:ea typeface="Rubik"/>
                <a:cs typeface="Rubik"/>
                <a:sym typeface="Rubik"/>
              </a:rPr>
              <a:t>Participants target young adults (18–34, 76% of users) to ensure relevant insights.</a:t>
            </a:r>
          </a:p>
        </p:txBody>
      </p:sp>
    </p:spTree>
    <p:extLst>
      <p:ext uri="{BB962C8B-B14F-4D97-AF65-F5344CB8AC3E}">
        <p14:creationId xmlns:p14="http://schemas.microsoft.com/office/powerpoint/2010/main" val="1123184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5" name="Google Shape;135;p21"/>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6" name="Google Shape;136;p21"/>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3"/>
            </a:pPr>
            <a:r>
              <a:rPr lang="en" sz="2700" b="1">
                <a:latin typeface="Rubik"/>
                <a:ea typeface="Rubik"/>
                <a:cs typeface="Rubik"/>
                <a:sym typeface="Rubik"/>
              </a:rPr>
              <a:t>Screening </a:t>
            </a:r>
            <a:r>
              <a:rPr lang="en" sz="2700" b="1">
                <a:solidFill>
                  <a:schemeClr val="accent5"/>
                </a:solidFill>
                <a:latin typeface="Rubik"/>
                <a:ea typeface="Rubik"/>
                <a:cs typeface="Rubik"/>
                <a:sym typeface="Rubik"/>
              </a:rPr>
              <a:t>Questions</a:t>
            </a:r>
            <a:endParaRPr sz="2700" b="1">
              <a:solidFill>
                <a:schemeClr val="accent5"/>
              </a:solidFill>
              <a:latin typeface="Rubik"/>
              <a:ea typeface="Rubik"/>
              <a:cs typeface="Rubik"/>
              <a:sym typeface="Rubik"/>
            </a:endParaRPr>
          </a:p>
        </p:txBody>
      </p:sp>
      <p:sp>
        <p:nvSpPr>
          <p:cNvPr id="7" name="Google Shape;121;p19">
            <a:extLst>
              <a:ext uri="{FF2B5EF4-FFF2-40B4-BE49-F238E27FC236}">
                <a16:creationId xmlns:a16="http://schemas.microsoft.com/office/drawing/2014/main" id="{1BE07592-AF70-484E-9B11-D81CA210920B}"/>
              </a:ext>
            </a:extLst>
          </p:cNvPr>
          <p:cNvSpPr txBox="1"/>
          <p:nvPr/>
        </p:nvSpPr>
        <p:spPr>
          <a:xfrm>
            <a:off x="340500" y="1504376"/>
            <a:ext cx="8463000" cy="2123628"/>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i="0" u="none" strike="noStrike" cap="none" dirty="0">
                <a:solidFill>
                  <a:srgbClr val="000000"/>
                </a:solidFill>
                <a:latin typeface="Rubik"/>
                <a:ea typeface="Rubik"/>
                <a:cs typeface="Rubik"/>
                <a:sym typeface="Rubik"/>
              </a:rPr>
              <a:t>Strategy </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Screening questions select participants for UT, targeting </a:t>
            </a:r>
            <a:r>
              <a:rPr lang="en-US" sz="1200" i="0" u="none" strike="noStrike" cap="none" dirty="0" err="1">
                <a:solidFill>
                  <a:srgbClr val="000000"/>
                </a:solidFill>
                <a:latin typeface="Rubik"/>
                <a:ea typeface="Rubik"/>
                <a:cs typeface="Rubik"/>
                <a:sym typeface="Rubik"/>
              </a:rPr>
              <a:t>IdeaBox</a:t>
            </a:r>
            <a:r>
              <a:rPr lang="en-US" sz="1200" i="0" u="none" strike="noStrike" cap="none" dirty="0">
                <a:solidFill>
                  <a:srgbClr val="000000"/>
                </a:solidFill>
                <a:latin typeface="Rubik"/>
                <a:ea typeface="Rubik"/>
                <a:cs typeface="Rubik"/>
                <a:sym typeface="Rubik"/>
              </a:rPr>
              <a:t> users and non-users, focusing on demographics, behavior, and interview willingness.</a:t>
            </a:r>
          </a:p>
          <a:p>
            <a:pPr>
              <a:lnSpc>
                <a:spcPct val="150000"/>
              </a:lnSpc>
              <a:buClr>
                <a:schemeClr val="dk1"/>
              </a:buClr>
              <a:buSzPts val="1400"/>
            </a:pPr>
            <a:endParaRPr lang="en-US" sz="1200" dirty="0">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Questions target the 18–34 demographic, assess drop-off stages (especially Part 4–5), and confirm UT participation. The open-ended question provides insights into barriers like notification clarity.</a:t>
            </a:r>
            <a:endParaRPr lang="en" sz="1200" i="0" u="none" strike="noStrike" cap="none" dirty="0">
              <a:solidFill>
                <a:srgbClr val="000000"/>
              </a:solidFill>
              <a:latin typeface="Rubik"/>
              <a:ea typeface="Rubik"/>
              <a:cs typeface="Rubik"/>
              <a:sym typeface="Rubik"/>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5" name="Google Shape;135;p21"/>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6" name="Google Shape;136;p21"/>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3"/>
            </a:pPr>
            <a:r>
              <a:rPr lang="en" sz="2700" b="1">
                <a:latin typeface="Rubik"/>
                <a:ea typeface="Rubik"/>
                <a:cs typeface="Rubik"/>
                <a:sym typeface="Rubik"/>
              </a:rPr>
              <a:t>Screening </a:t>
            </a:r>
            <a:r>
              <a:rPr lang="en" sz="2700" b="1">
                <a:solidFill>
                  <a:schemeClr val="accent5"/>
                </a:solidFill>
                <a:latin typeface="Rubik"/>
                <a:ea typeface="Rubik"/>
                <a:cs typeface="Rubik"/>
                <a:sym typeface="Rubik"/>
              </a:rPr>
              <a:t>Questions</a:t>
            </a:r>
            <a:endParaRPr sz="2700" b="1">
              <a:solidFill>
                <a:schemeClr val="accent5"/>
              </a:solidFill>
              <a:latin typeface="Rubik"/>
              <a:ea typeface="Rubik"/>
              <a:cs typeface="Rubik"/>
              <a:sym typeface="Rubik"/>
            </a:endParaRPr>
          </a:p>
        </p:txBody>
      </p:sp>
      <p:pic>
        <p:nvPicPr>
          <p:cNvPr id="5" name="Picture 4">
            <a:extLst>
              <a:ext uri="{FF2B5EF4-FFF2-40B4-BE49-F238E27FC236}">
                <a16:creationId xmlns:a16="http://schemas.microsoft.com/office/drawing/2014/main" id="{6C429AF4-0734-4A0B-97CE-467D2096E78C}"/>
              </a:ext>
            </a:extLst>
          </p:cNvPr>
          <p:cNvPicPr>
            <a:picLocks noChangeAspect="1"/>
          </p:cNvPicPr>
          <p:nvPr/>
        </p:nvPicPr>
        <p:blipFill>
          <a:blip r:embed="rId5"/>
          <a:stretch>
            <a:fillRect/>
          </a:stretch>
        </p:blipFill>
        <p:spPr>
          <a:xfrm>
            <a:off x="1938047" y="1078689"/>
            <a:ext cx="5379553" cy="3879186"/>
          </a:xfrm>
          <a:prstGeom prst="rect">
            <a:avLst/>
          </a:prstGeom>
        </p:spPr>
      </p:pic>
    </p:spTree>
    <p:extLst>
      <p:ext uri="{BB962C8B-B14F-4D97-AF65-F5344CB8AC3E}">
        <p14:creationId xmlns:p14="http://schemas.microsoft.com/office/powerpoint/2010/main" val="1685064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5" name="Google Shape;135;p21"/>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6" name="Google Shape;136;p21"/>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3"/>
            </a:pPr>
            <a:r>
              <a:rPr lang="en" sz="2700" b="1">
                <a:latin typeface="Rubik"/>
                <a:ea typeface="Rubik"/>
                <a:cs typeface="Rubik"/>
                <a:sym typeface="Rubik"/>
              </a:rPr>
              <a:t>Screening </a:t>
            </a:r>
            <a:r>
              <a:rPr lang="en" sz="2700" b="1">
                <a:solidFill>
                  <a:schemeClr val="accent5"/>
                </a:solidFill>
                <a:latin typeface="Rubik"/>
                <a:ea typeface="Rubik"/>
                <a:cs typeface="Rubik"/>
                <a:sym typeface="Rubik"/>
              </a:rPr>
              <a:t>Questions</a:t>
            </a:r>
            <a:endParaRPr sz="2700" b="1">
              <a:solidFill>
                <a:schemeClr val="accent5"/>
              </a:solidFill>
              <a:latin typeface="Rubik"/>
              <a:ea typeface="Rubik"/>
              <a:cs typeface="Rubik"/>
              <a:sym typeface="Rubik"/>
            </a:endParaRPr>
          </a:p>
        </p:txBody>
      </p:sp>
      <p:pic>
        <p:nvPicPr>
          <p:cNvPr id="4" name="Picture 3">
            <a:extLst>
              <a:ext uri="{FF2B5EF4-FFF2-40B4-BE49-F238E27FC236}">
                <a16:creationId xmlns:a16="http://schemas.microsoft.com/office/drawing/2014/main" id="{EE8F1255-0C48-47AF-A86D-22697977F573}"/>
              </a:ext>
            </a:extLst>
          </p:cNvPr>
          <p:cNvPicPr>
            <a:picLocks noChangeAspect="1"/>
          </p:cNvPicPr>
          <p:nvPr/>
        </p:nvPicPr>
        <p:blipFill>
          <a:blip r:embed="rId5"/>
          <a:stretch>
            <a:fillRect/>
          </a:stretch>
        </p:blipFill>
        <p:spPr>
          <a:xfrm>
            <a:off x="1921397" y="1100110"/>
            <a:ext cx="5979831" cy="3872722"/>
          </a:xfrm>
          <a:prstGeom prst="rect">
            <a:avLst/>
          </a:prstGeom>
        </p:spPr>
      </p:pic>
    </p:spTree>
    <p:extLst>
      <p:ext uri="{BB962C8B-B14F-4D97-AF65-F5344CB8AC3E}">
        <p14:creationId xmlns:p14="http://schemas.microsoft.com/office/powerpoint/2010/main" val="4216641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p2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p22"/>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Task </a:t>
            </a:r>
            <a:r>
              <a:rPr lang="en" sz="2700" b="1">
                <a:solidFill>
                  <a:schemeClr val="accent5"/>
                </a:solidFill>
                <a:latin typeface="Rubik"/>
                <a:ea typeface="Rubik"/>
                <a:cs typeface="Rubik"/>
                <a:sym typeface="Rubik"/>
              </a:rPr>
              <a:t>UT</a:t>
            </a:r>
            <a:endParaRPr sz="2700" b="1">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5FCFA9EC-0780-4FBD-AE4F-0D83E8B891BE}"/>
              </a:ext>
            </a:extLst>
          </p:cNvPr>
          <p:cNvSpPr txBox="1"/>
          <p:nvPr/>
        </p:nvSpPr>
        <p:spPr>
          <a:xfrm>
            <a:off x="340500" y="1052338"/>
            <a:ext cx="8463000" cy="2123628"/>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i="0" u="none" strike="noStrike" cap="none" dirty="0">
                <a:solidFill>
                  <a:srgbClr val="000000"/>
                </a:solidFill>
                <a:latin typeface="Rubik"/>
                <a:ea typeface="Rubik"/>
                <a:cs typeface="Rubik"/>
                <a:sym typeface="Rubik"/>
              </a:rPr>
              <a:t>Strategy </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UT tasks simulate the submission process, focusing on the 56% drop-off between Part 4 and Part 5. The SEQ scale (1–7) is visualized as a doughnut diagram with hypothetical data to reflect anticipated usability outcomes.</a:t>
            </a:r>
          </a:p>
          <a:p>
            <a:pPr>
              <a:lnSpc>
                <a:spcPct val="150000"/>
              </a:lnSpc>
              <a:buClr>
                <a:schemeClr val="dk1"/>
              </a:buClr>
              <a:buSzPts val="1400"/>
            </a:pPr>
            <a:endParaRPr lang="en-US" sz="1200" dirty="0">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Results and Explanation</a:t>
            </a: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Scenario: </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You are an innovator seeking to submit a business idea on </a:t>
            </a:r>
            <a:r>
              <a:rPr lang="en-US" sz="1200" i="0" u="none" strike="noStrike" cap="none" dirty="0" err="1">
                <a:solidFill>
                  <a:srgbClr val="000000"/>
                </a:solidFill>
                <a:latin typeface="Rubik"/>
                <a:ea typeface="Rubik"/>
                <a:cs typeface="Rubik"/>
                <a:sym typeface="Rubik"/>
              </a:rPr>
              <a:t>IdeaBox</a:t>
            </a:r>
            <a:r>
              <a:rPr lang="en-US" sz="1200" i="0" u="none" strike="noStrike" cap="none" dirty="0">
                <a:solidFill>
                  <a:srgbClr val="000000"/>
                </a:solidFill>
                <a:latin typeface="Rubik"/>
                <a:ea typeface="Rubik"/>
                <a:cs typeface="Rubik"/>
                <a:sym typeface="Rubik"/>
              </a:rPr>
              <a:t> to attract investors and realize your idea.</a:t>
            </a:r>
            <a:endParaRPr lang="en" sz="1200" i="0" u="none" strike="noStrike" cap="none" dirty="0">
              <a:solidFill>
                <a:srgbClr val="000000"/>
              </a:solidFill>
              <a:latin typeface="Rubik"/>
              <a:ea typeface="Rubik"/>
              <a:cs typeface="Rubik"/>
              <a:sym typeface="Rubik"/>
            </a:endParaRPr>
          </a:p>
        </p:txBody>
      </p:sp>
      <p:pic>
        <p:nvPicPr>
          <p:cNvPr id="3" name="Picture 2">
            <a:extLst>
              <a:ext uri="{FF2B5EF4-FFF2-40B4-BE49-F238E27FC236}">
                <a16:creationId xmlns:a16="http://schemas.microsoft.com/office/drawing/2014/main" id="{8E8E82D4-24EA-401C-905B-A649367166FD}"/>
              </a:ext>
            </a:extLst>
          </p:cNvPr>
          <p:cNvPicPr>
            <a:picLocks noChangeAspect="1"/>
          </p:cNvPicPr>
          <p:nvPr/>
        </p:nvPicPr>
        <p:blipFill>
          <a:blip r:embed="rId5"/>
          <a:stretch>
            <a:fillRect/>
          </a:stretch>
        </p:blipFill>
        <p:spPr>
          <a:xfrm>
            <a:off x="2157075" y="3357776"/>
            <a:ext cx="4829849" cy="133368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p2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p22"/>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Task </a:t>
            </a:r>
            <a:r>
              <a:rPr lang="en" sz="2700" b="1">
                <a:solidFill>
                  <a:schemeClr val="accent5"/>
                </a:solidFill>
                <a:latin typeface="Rubik"/>
                <a:ea typeface="Rubik"/>
                <a:cs typeface="Rubik"/>
                <a:sym typeface="Rubik"/>
              </a:rPr>
              <a:t>UT</a:t>
            </a:r>
            <a:endParaRPr sz="2700" b="1">
              <a:solidFill>
                <a:schemeClr val="accent5"/>
              </a:solidFill>
              <a:latin typeface="Rubik"/>
              <a:ea typeface="Rubik"/>
              <a:cs typeface="Rubik"/>
              <a:sym typeface="Rubik"/>
            </a:endParaRPr>
          </a:p>
        </p:txBody>
      </p:sp>
      <p:sp>
        <p:nvSpPr>
          <p:cNvPr id="7" name="Google Shape;121;p19">
            <a:extLst>
              <a:ext uri="{FF2B5EF4-FFF2-40B4-BE49-F238E27FC236}">
                <a16:creationId xmlns:a16="http://schemas.microsoft.com/office/drawing/2014/main" id="{15C31509-D6A2-48A4-99DE-60321FF127E6}"/>
              </a:ext>
            </a:extLst>
          </p:cNvPr>
          <p:cNvSpPr txBox="1"/>
          <p:nvPr/>
        </p:nvSpPr>
        <p:spPr>
          <a:xfrm>
            <a:off x="340500" y="1178963"/>
            <a:ext cx="8463000" cy="2954625"/>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Post-UT Questions:</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Describe what you did to complete each task.</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What did you like about the process?</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What did you find difficult or frustrating?</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Rate the ease of completing the tasks on a scale of 1–7 (SEQ: 1 = Very Difficult, 7 = Very Easy).</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What improvements would make the process a 7?</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Tasks focus on Part 4–5 to investigate the drop-off. The SEQ diagram uses hypothetical data based on anticipated UT outcomes, reflecting challenges at Part 4–5 (lower scores) and easier tasks like Part 1 and 5 (higher scores).</a:t>
            </a:r>
          </a:p>
        </p:txBody>
      </p:sp>
    </p:spTree>
    <p:extLst>
      <p:ext uri="{BB962C8B-B14F-4D97-AF65-F5344CB8AC3E}">
        <p14:creationId xmlns:p14="http://schemas.microsoft.com/office/powerpoint/2010/main" val="2954585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p2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p22"/>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Task </a:t>
            </a:r>
            <a:r>
              <a:rPr lang="en" sz="2700" b="1">
                <a:solidFill>
                  <a:schemeClr val="accent5"/>
                </a:solidFill>
                <a:latin typeface="Rubik"/>
                <a:ea typeface="Rubik"/>
                <a:cs typeface="Rubik"/>
                <a:sym typeface="Rubik"/>
              </a:rPr>
              <a:t>UT</a:t>
            </a:r>
            <a:endParaRPr sz="2700" b="1">
              <a:solidFill>
                <a:schemeClr val="accent5"/>
              </a:solidFill>
              <a:latin typeface="Rubik"/>
              <a:ea typeface="Rubik"/>
              <a:cs typeface="Rubik"/>
              <a:sym typeface="Rubik"/>
            </a:endParaRPr>
          </a:p>
        </p:txBody>
      </p:sp>
      <p:sp>
        <p:nvSpPr>
          <p:cNvPr id="7" name="Google Shape;121;p19">
            <a:extLst>
              <a:ext uri="{FF2B5EF4-FFF2-40B4-BE49-F238E27FC236}">
                <a16:creationId xmlns:a16="http://schemas.microsoft.com/office/drawing/2014/main" id="{15C31509-D6A2-48A4-99DE-60321FF127E6}"/>
              </a:ext>
            </a:extLst>
          </p:cNvPr>
          <p:cNvSpPr txBox="1"/>
          <p:nvPr/>
        </p:nvSpPr>
        <p:spPr>
          <a:xfrm>
            <a:off x="340500" y="1178963"/>
            <a:ext cx="8463000" cy="2677626"/>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SEQ Scale Diagram:</a:t>
            </a:r>
          </a:p>
          <a:p>
            <a:pPr marL="171450" indent="-171450">
              <a:lnSpc>
                <a:spcPct val="150000"/>
              </a:lnSpc>
              <a:buClr>
                <a:schemeClr val="dk1"/>
              </a:buClr>
              <a:buSzPts val="1400"/>
              <a:buFont typeface="Arial" panose="020B0604020202020204" pitchFamily="34" charset="0"/>
              <a:buChar char="•"/>
            </a:pPr>
            <a:r>
              <a:rPr lang="en-US" sz="1200" b="1" i="0" u="none" strike="noStrike" cap="none" dirty="0">
                <a:solidFill>
                  <a:srgbClr val="000000"/>
                </a:solidFill>
                <a:latin typeface="Rubik"/>
                <a:ea typeface="Rubik"/>
                <a:cs typeface="Rubik"/>
                <a:sym typeface="Rubik"/>
              </a:rPr>
              <a:t>Data Source:</a:t>
            </a:r>
            <a:r>
              <a:rPr lang="en-US" sz="1200" i="0" u="none" strike="noStrike" cap="none" dirty="0">
                <a:solidFill>
                  <a:srgbClr val="000000"/>
                </a:solidFill>
                <a:latin typeface="Rubik"/>
                <a:ea typeface="Rubik"/>
                <a:cs typeface="Rubik"/>
                <a:sym typeface="Rubik"/>
              </a:rPr>
              <a:t> Hypothetical SEQ scores from 15 participants (10 </a:t>
            </a:r>
            <a:r>
              <a:rPr lang="en-US" sz="1200" i="0" u="none" strike="noStrike" cap="none" dirty="0" err="1">
                <a:solidFill>
                  <a:srgbClr val="000000"/>
                </a:solidFill>
                <a:latin typeface="Rubik"/>
                <a:ea typeface="Rubik"/>
                <a:cs typeface="Rubik"/>
                <a:sym typeface="Rubik"/>
              </a:rPr>
              <a:t>IdeaBox</a:t>
            </a:r>
            <a:r>
              <a:rPr lang="en-US" sz="1200" i="0" u="none" strike="noStrike" cap="none" dirty="0">
                <a:solidFill>
                  <a:srgbClr val="000000"/>
                </a:solidFill>
                <a:latin typeface="Rubik"/>
                <a:ea typeface="Rubik"/>
                <a:cs typeface="Rubik"/>
                <a:sym typeface="Rubik"/>
              </a:rPr>
              <a:t> users, 5 non-users), assuming challenges with notification/email confirmation (Task 3) result in lower scores, while navigation and publishing are rated higher.</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marL="171450" indent="-171450">
              <a:lnSpc>
                <a:spcPct val="150000"/>
              </a:lnSpc>
              <a:buClr>
                <a:schemeClr val="dk1"/>
              </a:buClr>
              <a:buSzPts val="1400"/>
              <a:buFont typeface="Arial" panose="020B0604020202020204" pitchFamily="34" charset="0"/>
              <a:buChar char="•"/>
            </a:pPr>
            <a:r>
              <a:rPr lang="en-US" sz="1200" b="1" i="0" u="none" strike="noStrike" cap="none" dirty="0">
                <a:solidFill>
                  <a:srgbClr val="000000"/>
                </a:solidFill>
                <a:latin typeface="Rubik"/>
                <a:ea typeface="Rubik"/>
                <a:cs typeface="Rubik"/>
                <a:sym typeface="Rubik"/>
              </a:rPr>
              <a:t>Scores (average counts):</a:t>
            </a:r>
            <a:r>
              <a:rPr lang="en-US" sz="1200" i="0" u="none" strike="noStrike" cap="none" dirty="0">
                <a:solidFill>
                  <a:srgbClr val="000000"/>
                </a:solidFill>
                <a:latin typeface="Rubik"/>
                <a:ea typeface="Rubik"/>
                <a:cs typeface="Rubik"/>
                <a:sym typeface="Rubik"/>
              </a:rPr>
              <a:t> 1 (1 user), 2 (2 users), 3 (4 users), 4 (3 users), 5 (3 users), 6 (1 user), 7 (1 user).</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marL="171450" indent="-171450">
              <a:lnSpc>
                <a:spcPct val="150000"/>
              </a:lnSpc>
              <a:buClr>
                <a:schemeClr val="dk1"/>
              </a:buClr>
              <a:buSzPts val="1400"/>
              <a:buFont typeface="Arial" panose="020B0604020202020204" pitchFamily="34" charset="0"/>
              <a:buChar char="•"/>
            </a:pPr>
            <a:r>
              <a:rPr lang="en-US" sz="1200" b="1" i="0" u="none" strike="noStrike" cap="none" dirty="0">
                <a:solidFill>
                  <a:srgbClr val="000000"/>
                </a:solidFill>
                <a:latin typeface="Rubik"/>
                <a:ea typeface="Rubik"/>
                <a:cs typeface="Rubik"/>
                <a:sym typeface="Rubik"/>
              </a:rPr>
              <a:t>Explanation: </a:t>
            </a:r>
            <a:r>
              <a:rPr lang="en-US" sz="1200" i="0" u="none" strike="noStrike" cap="none" dirty="0">
                <a:solidFill>
                  <a:srgbClr val="000000"/>
                </a:solidFill>
                <a:latin typeface="Rubik"/>
                <a:ea typeface="Rubik"/>
                <a:cs typeface="Rubik"/>
                <a:sym typeface="Rubik"/>
              </a:rPr>
              <a:t>The distribution peaks at 3–4, indicating moderate difficulty, particularly for Task 3, aligning with the 56% drop-off. Higher scores (6–7) reflect easier tasks like navigation and publishing.</a:t>
            </a:r>
          </a:p>
        </p:txBody>
      </p:sp>
    </p:spTree>
    <p:extLst>
      <p:ext uri="{BB962C8B-B14F-4D97-AF65-F5344CB8AC3E}">
        <p14:creationId xmlns:p14="http://schemas.microsoft.com/office/powerpoint/2010/main" val="2286941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p2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p22"/>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Task </a:t>
            </a:r>
            <a:r>
              <a:rPr lang="en" sz="2700" b="1">
                <a:solidFill>
                  <a:schemeClr val="accent5"/>
                </a:solidFill>
                <a:latin typeface="Rubik"/>
                <a:ea typeface="Rubik"/>
                <a:cs typeface="Rubik"/>
                <a:sym typeface="Rubik"/>
              </a:rPr>
              <a:t>UT</a:t>
            </a:r>
            <a:endParaRPr sz="2700" b="1">
              <a:solidFill>
                <a:schemeClr val="accent5"/>
              </a:solidFill>
              <a:latin typeface="Rubik"/>
              <a:ea typeface="Rubik"/>
              <a:cs typeface="Rubik"/>
              <a:sym typeface="Rubik"/>
            </a:endParaRPr>
          </a:p>
        </p:txBody>
      </p:sp>
      <p:pic>
        <p:nvPicPr>
          <p:cNvPr id="3" name="Picture 2">
            <a:extLst>
              <a:ext uri="{FF2B5EF4-FFF2-40B4-BE49-F238E27FC236}">
                <a16:creationId xmlns:a16="http://schemas.microsoft.com/office/drawing/2014/main" id="{98457963-7E73-456A-BC6A-9E21210CF558}"/>
              </a:ext>
            </a:extLst>
          </p:cNvPr>
          <p:cNvPicPr>
            <a:picLocks noChangeAspect="1"/>
          </p:cNvPicPr>
          <p:nvPr/>
        </p:nvPicPr>
        <p:blipFill>
          <a:blip r:embed="rId5"/>
          <a:stretch>
            <a:fillRect/>
          </a:stretch>
        </p:blipFill>
        <p:spPr>
          <a:xfrm>
            <a:off x="1812049" y="1052338"/>
            <a:ext cx="6035586" cy="3908830"/>
          </a:xfrm>
          <a:prstGeom prst="rect">
            <a:avLst/>
          </a:prstGeom>
        </p:spPr>
      </p:pic>
    </p:spTree>
    <p:extLst>
      <p:ext uri="{BB962C8B-B14F-4D97-AF65-F5344CB8AC3E}">
        <p14:creationId xmlns:p14="http://schemas.microsoft.com/office/powerpoint/2010/main" val="4159757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3" name="Google Shape;143;p2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4" name="Google Shape;144;p22"/>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457200" marR="0" lvl="0" indent="-400050" algn="l" rtl="0">
              <a:lnSpc>
                <a:spcPct val="100000"/>
              </a:lnSpc>
              <a:spcBef>
                <a:spcPts val="0"/>
              </a:spcBef>
              <a:spcAft>
                <a:spcPts val="0"/>
              </a:spcAft>
              <a:buClr>
                <a:srgbClr val="000000"/>
              </a:buClr>
              <a:buSzPts val="2700"/>
              <a:buFont typeface="Rubik"/>
              <a:buAutoNum type="arabicPeriod" startAt="4"/>
            </a:pPr>
            <a:r>
              <a:rPr lang="en" sz="2700" b="1">
                <a:latin typeface="Rubik"/>
                <a:ea typeface="Rubik"/>
                <a:cs typeface="Rubik"/>
                <a:sym typeface="Rubik"/>
              </a:rPr>
              <a:t>Task </a:t>
            </a:r>
            <a:r>
              <a:rPr lang="en" sz="2700" b="1">
                <a:solidFill>
                  <a:schemeClr val="accent5"/>
                </a:solidFill>
                <a:latin typeface="Rubik"/>
                <a:ea typeface="Rubik"/>
                <a:cs typeface="Rubik"/>
                <a:sym typeface="Rubik"/>
              </a:rPr>
              <a:t>UT</a:t>
            </a:r>
            <a:endParaRPr sz="2700" b="1">
              <a:solidFill>
                <a:schemeClr val="accent5"/>
              </a:solidFill>
              <a:latin typeface="Rubik"/>
              <a:ea typeface="Rubik"/>
              <a:cs typeface="Rubik"/>
              <a:sym typeface="Rubik"/>
            </a:endParaRPr>
          </a:p>
        </p:txBody>
      </p:sp>
      <p:sp>
        <p:nvSpPr>
          <p:cNvPr id="8" name="Google Shape;121;p19">
            <a:extLst>
              <a:ext uri="{FF2B5EF4-FFF2-40B4-BE49-F238E27FC236}">
                <a16:creationId xmlns:a16="http://schemas.microsoft.com/office/drawing/2014/main" id="{B59917BD-FA35-412F-A01F-FCD98EFD7CF3}"/>
              </a:ext>
            </a:extLst>
          </p:cNvPr>
          <p:cNvSpPr txBox="1"/>
          <p:nvPr/>
        </p:nvSpPr>
        <p:spPr>
          <a:xfrm>
            <a:off x="340500" y="1178963"/>
            <a:ext cx="2645768" cy="2400627"/>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Task Completion Difficulty</a:t>
            </a: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 </a:t>
            </a:r>
            <a:r>
              <a:rPr lang="en-US" sz="1200" i="0" u="none" strike="noStrike" cap="none" dirty="0">
                <a:solidFill>
                  <a:srgbClr val="000000"/>
                </a:solidFill>
                <a:latin typeface="Rubik"/>
                <a:ea typeface="Rubik"/>
                <a:cs typeface="Rubik"/>
                <a:sym typeface="Rubik"/>
              </a:rPr>
              <a:t>This diagram ranks UT tasks by anticipated SEQ scores (hypothetical averages), highlighting Task 3 (notification/email) as the most difficult, aligning with the funnel drop-off</a:t>
            </a:r>
            <a:r>
              <a:rPr lang="en-US" sz="1200" b="1" i="0" u="none" strike="noStrike" cap="none" dirty="0">
                <a:solidFill>
                  <a:srgbClr val="000000"/>
                </a:solidFill>
                <a:latin typeface="Rubik"/>
                <a:ea typeface="Rubik"/>
                <a:cs typeface="Rubik"/>
                <a:sym typeface="Rubik"/>
              </a:rPr>
              <a:t>.</a:t>
            </a:r>
            <a:endParaRPr lang="en-US" sz="1200" i="0" u="none" strike="noStrike" cap="none" dirty="0">
              <a:solidFill>
                <a:srgbClr val="000000"/>
              </a:solidFill>
              <a:latin typeface="Rubik"/>
              <a:ea typeface="Rubik"/>
              <a:cs typeface="Rubik"/>
              <a:sym typeface="Rubik"/>
            </a:endParaRPr>
          </a:p>
        </p:txBody>
      </p:sp>
      <p:pic>
        <p:nvPicPr>
          <p:cNvPr id="4" name="Picture 3">
            <a:extLst>
              <a:ext uri="{FF2B5EF4-FFF2-40B4-BE49-F238E27FC236}">
                <a16:creationId xmlns:a16="http://schemas.microsoft.com/office/drawing/2014/main" id="{349CF931-50BD-47D0-B241-3509CF2B909D}"/>
              </a:ext>
            </a:extLst>
          </p:cNvPr>
          <p:cNvPicPr>
            <a:picLocks noChangeAspect="1"/>
          </p:cNvPicPr>
          <p:nvPr/>
        </p:nvPicPr>
        <p:blipFill>
          <a:blip r:embed="rId5"/>
          <a:stretch>
            <a:fillRect/>
          </a:stretch>
        </p:blipFill>
        <p:spPr>
          <a:xfrm>
            <a:off x="3009418" y="993338"/>
            <a:ext cx="5817232" cy="3767418"/>
          </a:xfrm>
          <a:prstGeom prst="rect">
            <a:avLst/>
          </a:prstGeom>
        </p:spPr>
      </p:pic>
    </p:spTree>
    <p:extLst>
      <p:ext uri="{BB962C8B-B14F-4D97-AF65-F5344CB8AC3E}">
        <p14:creationId xmlns:p14="http://schemas.microsoft.com/office/powerpoint/2010/main" val="2007694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1" name="Google Shape;151;p2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52" name="Google Shape;152;p23"/>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57150" marR="0" lvl="0" algn="l" rtl="0">
              <a:lnSpc>
                <a:spcPct val="100000"/>
              </a:lnSpc>
              <a:spcBef>
                <a:spcPts val="0"/>
              </a:spcBef>
              <a:spcAft>
                <a:spcPts val="0"/>
              </a:spcAft>
              <a:buClr>
                <a:srgbClr val="000000"/>
              </a:buClr>
              <a:buSzPts val="2700"/>
            </a:pPr>
            <a:r>
              <a:rPr lang="en" sz="2700" b="1" dirty="0">
                <a:latin typeface="Rubik"/>
                <a:ea typeface="Rubik"/>
                <a:cs typeface="Rubik"/>
                <a:sym typeface="Rubik"/>
              </a:rPr>
              <a:t>5. Insights &amp; </a:t>
            </a:r>
            <a:r>
              <a:rPr lang="en" sz="2700" b="1" dirty="0">
                <a:solidFill>
                  <a:schemeClr val="accent5"/>
                </a:solidFill>
                <a:latin typeface="Rubik"/>
                <a:ea typeface="Rubik"/>
                <a:cs typeface="Rubik"/>
                <a:sym typeface="Rubik"/>
              </a:rPr>
              <a:t>Recommendations</a:t>
            </a:r>
            <a:endParaRPr sz="2700" b="1" dirty="0">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4FD7A7E3-0BA5-4205-984A-CA7443966810}"/>
              </a:ext>
            </a:extLst>
          </p:cNvPr>
          <p:cNvSpPr txBox="1"/>
          <p:nvPr/>
        </p:nvSpPr>
        <p:spPr>
          <a:xfrm>
            <a:off x="340500" y="1052338"/>
            <a:ext cx="8463000" cy="156963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 sz="1200" b="1" i="0" u="none" strike="noStrike" cap="none" dirty="0">
                <a:solidFill>
                  <a:srgbClr val="000000"/>
                </a:solidFill>
                <a:latin typeface="Rubik"/>
                <a:ea typeface="Rubik"/>
                <a:cs typeface="Rubik"/>
                <a:sym typeface="Rubik"/>
              </a:rPr>
              <a:t>Strategy </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Using an empathy map, I mapped anticipated insights from survey and UT data to understand user pain points and propose recommendations to address the drop-off.</a:t>
            </a:r>
          </a:p>
          <a:p>
            <a:pPr>
              <a:lnSpc>
                <a:spcPct val="150000"/>
              </a:lnSpc>
              <a:buClr>
                <a:schemeClr val="dk1"/>
              </a:buClr>
              <a:buSzPts val="1400"/>
            </a:pPr>
            <a:endParaRPr lang="en-US" sz="1200" dirty="0">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Results and Explanation</a:t>
            </a:r>
            <a:endParaRPr lang="en" sz="1200" b="1" i="0" u="none" strike="noStrike" cap="none" dirty="0">
              <a:solidFill>
                <a:srgbClr val="000000"/>
              </a:solidFill>
              <a:latin typeface="Rubik"/>
              <a:ea typeface="Rubik"/>
              <a:cs typeface="Rubik"/>
              <a:sym typeface="Rubik"/>
            </a:endParaRPr>
          </a:p>
        </p:txBody>
      </p:sp>
      <p:pic>
        <p:nvPicPr>
          <p:cNvPr id="3" name="Picture 2">
            <a:extLst>
              <a:ext uri="{FF2B5EF4-FFF2-40B4-BE49-F238E27FC236}">
                <a16:creationId xmlns:a16="http://schemas.microsoft.com/office/drawing/2014/main" id="{6D67F650-D36B-4065-9D78-6FC8E2FDD105}"/>
              </a:ext>
            </a:extLst>
          </p:cNvPr>
          <p:cNvPicPr>
            <a:picLocks noChangeAspect="1"/>
          </p:cNvPicPr>
          <p:nvPr/>
        </p:nvPicPr>
        <p:blipFill>
          <a:blip r:embed="rId5"/>
          <a:stretch>
            <a:fillRect/>
          </a:stretch>
        </p:blipFill>
        <p:spPr>
          <a:xfrm>
            <a:off x="1154144" y="2792158"/>
            <a:ext cx="7020905" cy="161947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1" name="Google Shape;151;p2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52" name="Google Shape;152;p23"/>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57150" marR="0" lvl="0" algn="l" rtl="0">
              <a:lnSpc>
                <a:spcPct val="100000"/>
              </a:lnSpc>
              <a:spcBef>
                <a:spcPts val="0"/>
              </a:spcBef>
              <a:spcAft>
                <a:spcPts val="0"/>
              </a:spcAft>
              <a:buClr>
                <a:srgbClr val="000000"/>
              </a:buClr>
              <a:buSzPts val="2700"/>
            </a:pPr>
            <a:r>
              <a:rPr lang="en" sz="2700" b="1" dirty="0">
                <a:latin typeface="Rubik"/>
                <a:ea typeface="Rubik"/>
                <a:cs typeface="Rubik"/>
                <a:sym typeface="Rubik"/>
              </a:rPr>
              <a:t>5. Insights &amp; </a:t>
            </a:r>
            <a:r>
              <a:rPr lang="en" sz="2700" b="1" dirty="0">
                <a:solidFill>
                  <a:schemeClr val="accent5"/>
                </a:solidFill>
                <a:latin typeface="Rubik"/>
                <a:ea typeface="Rubik"/>
                <a:cs typeface="Rubik"/>
                <a:sym typeface="Rubik"/>
              </a:rPr>
              <a:t>Recommendations</a:t>
            </a:r>
            <a:endParaRPr sz="2700" b="1" dirty="0">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4FD7A7E3-0BA5-4205-984A-CA7443966810}"/>
              </a:ext>
            </a:extLst>
          </p:cNvPr>
          <p:cNvSpPr txBox="1"/>
          <p:nvPr/>
        </p:nvSpPr>
        <p:spPr>
          <a:xfrm>
            <a:off x="340500" y="1052338"/>
            <a:ext cx="8463000" cy="3508623"/>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Recommendations:</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Simplify the Process: Reduce required input fields in the terms and conditions stage or provide detailed guidance on acceptable file formats (e.g., PDF, JPG).</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Clear Notifications: Include explicit instructions, e.g., "Check your email to continue your submission."</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Enhanced Email Communication: Add a prominent call-to-action button in confirmation emails.</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Progress Indicators: Implement a progress bar to show the user’s position in the journey.</a:t>
            </a:r>
          </a:p>
          <a:p>
            <a:pPr marL="228600" indent="-228600">
              <a:lnSpc>
                <a:spcPct val="150000"/>
              </a:lnSpc>
              <a:buClr>
                <a:schemeClr val="dk1"/>
              </a:buClr>
              <a:buSzPts val="1400"/>
              <a:buFont typeface="+mj-lt"/>
              <a:buAutoNum type="arabicPeriod"/>
            </a:pPr>
            <a:r>
              <a:rPr lang="en-US" sz="1200" i="0" u="none" strike="noStrike" cap="none" dirty="0">
                <a:solidFill>
                  <a:srgbClr val="000000"/>
                </a:solidFill>
                <a:latin typeface="Rubik"/>
                <a:ea typeface="Rubik"/>
                <a:cs typeface="Rubik"/>
                <a:sym typeface="Rubik"/>
              </a:rPr>
              <a:t>Onboarding Guide: Introduce a short video or tooltips to explain the submission process.</a:t>
            </a:r>
          </a:p>
          <a:p>
            <a:pPr>
              <a:lnSpc>
                <a:spcPct val="150000"/>
              </a:lnSpc>
              <a:buClr>
                <a:schemeClr val="dk1"/>
              </a:buClr>
              <a:buSzPts val="1400"/>
            </a:pPr>
            <a:endParaRPr lang="en-US" sz="1200" i="0" u="none" strike="noStrike" cap="none" dirty="0">
              <a:solidFill>
                <a:srgbClr val="000000"/>
              </a:solidFill>
              <a:latin typeface="Rubik"/>
              <a:ea typeface="Rubik"/>
              <a:cs typeface="Rubik"/>
              <a:sym typeface="Rubik"/>
            </a:endParaRP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p>
          <a:p>
            <a:pPr>
              <a:lnSpc>
                <a:spcPct val="150000"/>
              </a:lnSpc>
              <a:buClr>
                <a:schemeClr val="dk1"/>
              </a:buClr>
              <a:buSzPts val="1400"/>
            </a:pPr>
            <a:r>
              <a:rPr lang="en-US" sz="1200" i="0" u="none" strike="noStrike" cap="none" dirty="0">
                <a:solidFill>
                  <a:srgbClr val="000000"/>
                </a:solidFill>
                <a:latin typeface="Rubik"/>
                <a:ea typeface="Rubik"/>
                <a:cs typeface="Rubik"/>
                <a:sym typeface="Rubik"/>
              </a:rPr>
              <a:t>Insights confirm user confusion and frustration, aligning with the 56% drop-off at Part 5 and the SEQ diagram’s lower scores for Task 3. Recommendations address these by simplifying inputs, enhancing clarity, and guiding users.</a:t>
            </a:r>
            <a:endParaRPr lang="en" sz="1200" i="0" u="none" strike="noStrike" cap="none" dirty="0">
              <a:solidFill>
                <a:srgbClr val="000000"/>
              </a:solidFill>
              <a:latin typeface="Rubik"/>
              <a:ea typeface="Rubik"/>
              <a:cs typeface="Rubik"/>
              <a:sym typeface="Rubik"/>
            </a:endParaRPr>
          </a:p>
        </p:txBody>
      </p:sp>
    </p:spTree>
    <p:extLst>
      <p:ext uri="{BB962C8B-B14F-4D97-AF65-F5344CB8AC3E}">
        <p14:creationId xmlns:p14="http://schemas.microsoft.com/office/powerpoint/2010/main" val="253468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1" name="Google Shape;151;p2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52" name="Google Shape;152;p23"/>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57150" marR="0" lvl="0" algn="l" rtl="0">
              <a:lnSpc>
                <a:spcPct val="100000"/>
              </a:lnSpc>
              <a:spcBef>
                <a:spcPts val="0"/>
              </a:spcBef>
              <a:spcAft>
                <a:spcPts val="0"/>
              </a:spcAft>
              <a:buClr>
                <a:srgbClr val="000000"/>
              </a:buClr>
              <a:buSzPts val="2700"/>
            </a:pPr>
            <a:r>
              <a:rPr lang="en" sz="2700" b="1" dirty="0">
                <a:latin typeface="Rubik"/>
                <a:ea typeface="Rubik"/>
                <a:cs typeface="Rubik"/>
                <a:sym typeface="Rubik"/>
              </a:rPr>
              <a:t>5. Insights &amp; </a:t>
            </a:r>
            <a:r>
              <a:rPr lang="en" sz="2700" b="1" dirty="0">
                <a:solidFill>
                  <a:schemeClr val="accent5"/>
                </a:solidFill>
                <a:latin typeface="Rubik"/>
                <a:ea typeface="Rubik"/>
                <a:cs typeface="Rubik"/>
                <a:sym typeface="Rubik"/>
              </a:rPr>
              <a:t>Recommendations</a:t>
            </a:r>
            <a:endParaRPr sz="2700" b="1" dirty="0">
              <a:solidFill>
                <a:schemeClr val="accent5"/>
              </a:solidFill>
              <a:latin typeface="Rubik"/>
              <a:ea typeface="Rubik"/>
              <a:cs typeface="Rubik"/>
              <a:sym typeface="Rubik"/>
            </a:endParaRPr>
          </a:p>
        </p:txBody>
      </p:sp>
      <p:pic>
        <p:nvPicPr>
          <p:cNvPr id="3" name="Picture 2">
            <a:extLst>
              <a:ext uri="{FF2B5EF4-FFF2-40B4-BE49-F238E27FC236}">
                <a16:creationId xmlns:a16="http://schemas.microsoft.com/office/drawing/2014/main" id="{F640135A-2132-4B6B-B3E7-95FD13A5A785}"/>
              </a:ext>
            </a:extLst>
          </p:cNvPr>
          <p:cNvPicPr>
            <a:picLocks noChangeAspect="1"/>
          </p:cNvPicPr>
          <p:nvPr/>
        </p:nvPicPr>
        <p:blipFill>
          <a:blip r:embed="rId5"/>
          <a:stretch>
            <a:fillRect/>
          </a:stretch>
        </p:blipFill>
        <p:spPr>
          <a:xfrm>
            <a:off x="1921396" y="1137626"/>
            <a:ext cx="5898808" cy="3820249"/>
          </a:xfrm>
          <a:prstGeom prst="rect">
            <a:avLst/>
          </a:prstGeom>
        </p:spPr>
      </p:pic>
    </p:spTree>
    <p:extLst>
      <p:ext uri="{BB962C8B-B14F-4D97-AF65-F5344CB8AC3E}">
        <p14:creationId xmlns:p14="http://schemas.microsoft.com/office/powerpoint/2010/main" val="553391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1" name="Google Shape;151;p2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52" name="Google Shape;152;p23"/>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57150" marR="0" lvl="0" algn="l" rtl="0">
              <a:lnSpc>
                <a:spcPct val="100000"/>
              </a:lnSpc>
              <a:spcBef>
                <a:spcPts val="0"/>
              </a:spcBef>
              <a:spcAft>
                <a:spcPts val="0"/>
              </a:spcAft>
              <a:buClr>
                <a:srgbClr val="000000"/>
              </a:buClr>
              <a:buSzPts val="2700"/>
            </a:pPr>
            <a:r>
              <a:rPr lang="en" sz="2700" b="1" dirty="0">
                <a:latin typeface="Rubik"/>
                <a:ea typeface="Rubik"/>
                <a:cs typeface="Rubik"/>
                <a:sym typeface="Rubik"/>
              </a:rPr>
              <a:t>5. Insights &amp; </a:t>
            </a:r>
            <a:r>
              <a:rPr lang="en" sz="2700" b="1" dirty="0">
                <a:solidFill>
                  <a:schemeClr val="accent5"/>
                </a:solidFill>
                <a:latin typeface="Rubik"/>
                <a:ea typeface="Rubik"/>
                <a:cs typeface="Rubik"/>
                <a:sym typeface="Rubik"/>
              </a:rPr>
              <a:t>Recommendations</a:t>
            </a:r>
            <a:endParaRPr sz="2700" b="1" dirty="0">
              <a:solidFill>
                <a:schemeClr val="accent5"/>
              </a:solidFill>
              <a:latin typeface="Rubik"/>
              <a:ea typeface="Rubik"/>
              <a:cs typeface="Rubik"/>
              <a:sym typeface="Rubik"/>
            </a:endParaRPr>
          </a:p>
        </p:txBody>
      </p:sp>
      <p:sp>
        <p:nvSpPr>
          <p:cNvPr id="6" name="Google Shape;121;p19">
            <a:extLst>
              <a:ext uri="{FF2B5EF4-FFF2-40B4-BE49-F238E27FC236}">
                <a16:creationId xmlns:a16="http://schemas.microsoft.com/office/drawing/2014/main" id="{4FD7A7E3-0BA5-4205-984A-CA7443966810}"/>
              </a:ext>
            </a:extLst>
          </p:cNvPr>
          <p:cNvSpPr txBox="1"/>
          <p:nvPr/>
        </p:nvSpPr>
        <p:spPr>
          <a:xfrm>
            <a:off x="340500" y="1052338"/>
            <a:ext cx="3679584" cy="156963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Insight Distribution</a:t>
            </a:r>
          </a:p>
          <a:p>
            <a:pPr>
              <a:lnSpc>
                <a:spcPct val="150000"/>
              </a:lnSpc>
              <a:buClr>
                <a:schemeClr val="dk1"/>
              </a:buClr>
              <a:buSzPts val="1400"/>
            </a:pPr>
            <a:r>
              <a:rPr lang="en-US" sz="1200" b="1" i="0" u="none" strike="noStrike" cap="none" dirty="0">
                <a:solidFill>
                  <a:srgbClr val="000000"/>
                </a:solidFill>
                <a:latin typeface="Rubik"/>
                <a:ea typeface="Rubik"/>
                <a:cs typeface="Rubik"/>
                <a:sym typeface="Rubik"/>
              </a:rPr>
              <a:t>Explanation:</a:t>
            </a:r>
            <a:r>
              <a:rPr lang="en-US" sz="1200" i="0" u="none" strike="noStrike" cap="none" dirty="0">
                <a:solidFill>
                  <a:srgbClr val="000000"/>
                </a:solidFill>
                <a:latin typeface="Rubik"/>
                <a:ea typeface="Rubik"/>
                <a:cs typeface="Rubik"/>
                <a:sym typeface="Rubik"/>
              </a:rPr>
              <a:t> This diagram visualizes the distribution of insights across empathy map categories, emphasizing “Think and Feel” and “Say and Do” as dominant pain points.</a:t>
            </a:r>
            <a:endParaRPr lang="en" sz="1200" i="0" u="none" strike="noStrike" cap="none" dirty="0">
              <a:solidFill>
                <a:srgbClr val="000000"/>
              </a:solidFill>
              <a:latin typeface="Rubik"/>
              <a:ea typeface="Rubik"/>
              <a:cs typeface="Rubik"/>
              <a:sym typeface="Rubik"/>
            </a:endParaRPr>
          </a:p>
        </p:txBody>
      </p:sp>
      <p:pic>
        <p:nvPicPr>
          <p:cNvPr id="3" name="Picture 2">
            <a:extLst>
              <a:ext uri="{FF2B5EF4-FFF2-40B4-BE49-F238E27FC236}">
                <a16:creationId xmlns:a16="http://schemas.microsoft.com/office/drawing/2014/main" id="{0E7CEEC7-4ECA-4D06-B562-772552951554}"/>
              </a:ext>
            </a:extLst>
          </p:cNvPr>
          <p:cNvPicPr>
            <a:picLocks noChangeAspect="1"/>
          </p:cNvPicPr>
          <p:nvPr/>
        </p:nvPicPr>
        <p:blipFill>
          <a:blip r:embed="rId5"/>
          <a:stretch>
            <a:fillRect/>
          </a:stretch>
        </p:blipFill>
        <p:spPr>
          <a:xfrm>
            <a:off x="3837353" y="1130658"/>
            <a:ext cx="5070322" cy="3283696"/>
          </a:xfrm>
          <a:prstGeom prst="rect">
            <a:avLst/>
          </a:prstGeom>
        </p:spPr>
      </p:pic>
    </p:spTree>
    <p:extLst>
      <p:ext uri="{BB962C8B-B14F-4D97-AF65-F5344CB8AC3E}">
        <p14:creationId xmlns:p14="http://schemas.microsoft.com/office/powerpoint/2010/main" val="3046308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157"/>
        <p:cNvGrpSpPr/>
        <p:nvPr/>
      </p:nvGrpSpPr>
      <p:grpSpPr>
        <a:xfrm>
          <a:off x="0" y="0"/>
          <a:ext cx="0" cy="0"/>
          <a:chOff x="0" y="0"/>
          <a:chExt cx="0" cy="0"/>
        </a:xfrm>
      </p:grpSpPr>
      <p:pic>
        <p:nvPicPr>
          <p:cNvPr id="158" name="Google Shape;158;p24"/>
          <p:cNvPicPr preferRelativeResize="0"/>
          <p:nvPr/>
        </p:nvPicPr>
        <p:blipFill>
          <a:blip r:embed="rId3">
            <a:alphaModFix amt="10000"/>
          </a:blip>
          <a:stretch>
            <a:fillRect/>
          </a:stretch>
        </p:blipFill>
        <p:spPr>
          <a:xfrm>
            <a:off x="0" y="0"/>
            <a:ext cx="9144001" cy="5143501"/>
          </a:xfrm>
          <a:prstGeom prst="rect">
            <a:avLst/>
          </a:prstGeom>
          <a:noFill/>
          <a:ln>
            <a:noFill/>
          </a:ln>
        </p:spPr>
      </p:pic>
      <p:pic>
        <p:nvPicPr>
          <p:cNvPr id="159" name="Google Shape;159;p24"/>
          <p:cNvPicPr preferRelativeResize="0"/>
          <p:nvPr/>
        </p:nvPicPr>
        <p:blipFill rotWithShape="1">
          <a:blip r:embed="rId4">
            <a:alphaModFix/>
          </a:blip>
          <a:srcRect/>
          <a:stretch/>
        </p:blipFill>
        <p:spPr>
          <a:xfrm>
            <a:off x="2895425" y="4262625"/>
            <a:ext cx="1399901" cy="541300"/>
          </a:xfrm>
          <a:prstGeom prst="rect">
            <a:avLst/>
          </a:prstGeom>
          <a:noFill/>
          <a:ln>
            <a:noFill/>
          </a:ln>
        </p:spPr>
      </p:pic>
      <p:sp>
        <p:nvSpPr>
          <p:cNvPr id="160" name="Google Shape;160;p24"/>
          <p:cNvSpPr txBox="1"/>
          <p:nvPr/>
        </p:nvSpPr>
        <p:spPr>
          <a:xfrm>
            <a:off x="2376000" y="1939850"/>
            <a:ext cx="4392000" cy="877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4500" b="1">
                <a:solidFill>
                  <a:schemeClr val="lt1"/>
                </a:solidFill>
                <a:latin typeface="Rubik"/>
                <a:ea typeface="Rubik"/>
                <a:cs typeface="Rubik"/>
                <a:sym typeface="Rubik"/>
              </a:rPr>
              <a:t>Thank You</a:t>
            </a:r>
            <a:endParaRPr sz="2000">
              <a:solidFill>
                <a:schemeClr val="lt1"/>
              </a:solidFill>
              <a:latin typeface="Rubik"/>
              <a:ea typeface="Rubik"/>
              <a:cs typeface="Rubik"/>
              <a:sym typeface="Rubik"/>
            </a:endParaRPr>
          </a:p>
        </p:txBody>
      </p:sp>
      <p:sp>
        <p:nvSpPr>
          <p:cNvPr id="161" name="Google Shape;161;p24"/>
          <p:cNvSpPr txBox="1"/>
          <p:nvPr/>
        </p:nvSpPr>
        <p:spPr>
          <a:xfrm>
            <a:off x="4314750" y="4248575"/>
            <a:ext cx="457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ubik SemiBold"/>
                <a:ea typeface="Rubik SemiBold"/>
                <a:cs typeface="Rubik SemiBold"/>
                <a:sym typeface="Rubik SemiBold"/>
              </a:rPr>
              <a:t>X</a:t>
            </a:r>
            <a:endParaRPr sz="3000">
              <a:solidFill>
                <a:schemeClr val="lt1"/>
              </a:solidFill>
              <a:latin typeface="Rubik SemiBold"/>
              <a:ea typeface="Rubik SemiBold"/>
              <a:cs typeface="Rubik SemiBold"/>
              <a:sym typeface="Rubik SemiBold"/>
            </a:endParaRPr>
          </a:p>
        </p:txBody>
      </p:sp>
      <p:sp>
        <p:nvSpPr>
          <p:cNvPr id="162" name="Google Shape;162;p24"/>
          <p:cNvSpPr/>
          <p:nvPr/>
        </p:nvSpPr>
        <p:spPr>
          <a:xfrm>
            <a:off x="4871775" y="4301225"/>
            <a:ext cx="1538100" cy="5412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ubik Medium"/>
                <a:ea typeface="Rubik Medium"/>
                <a:cs typeface="Rubik Medium"/>
                <a:sym typeface="Rubik Medium"/>
              </a:rPr>
              <a:t>Logo Company</a:t>
            </a:r>
            <a:endParaRPr>
              <a:solidFill>
                <a:schemeClr val="lt1"/>
              </a:solidFill>
              <a:latin typeface="Rubik Medium"/>
              <a:ea typeface="Rubik Medium"/>
              <a:cs typeface="Rubik Medium"/>
              <a:sym typeface="Rubik Medium"/>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1995</Words>
  <Application>Microsoft Office PowerPoint</Application>
  <PresentationFormat>On-screen Show (16:9)</PresentationFormat>
  <Paragraphs>185</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Rubik Medium</vt:lpstr>
      <vt:lpstr>Arial</vt:lpstr>
      <vt:lpstr>Rubik SemiBold</vt:lpstr>
      <vt:lpstr>Rubik Light</vt:lpstr>
      <vt:lpstr>Rubik</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graceyosephine63@gmail.com</cp:lastModifiedBy>
  <cp:revision>3</cp:revision>
  <dcterms:modified xsi:type="dcterms:W3CDTF">2025-05-30T19:14:15Z</dcterms:modified>
</cp:coreProperties>
</file>